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7971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69680" y="-2103120"/>
            <a:ext cx="5486400" cy="5486400"/>
          </a:xfrm>
          <a:prstGeom prst="ellipse">
            <a:avLst/>
          </a:prstGeom>
          <a:solidFill>
            <a:srgbClr val="2631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2377440" y="4206240"/>
            <a:ext cx="5029200" cy="5029200"/>
          </a:xfrm>
          <a:prstGeom prst="ellipse">
            <a:avLst/>
          </a:prstGeom>
          <a:solidFill>
            <a:srgbClr val="2631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LIGHTNING TALK 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+ Problem Statement — Capstone Project Proposals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34440" y="43616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Income Prediction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4800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demographic &amp; employment data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43400" y="4343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937760" y="43616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Sales Prediction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4800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· reviews, pricing &amp; marketing 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0" y="4343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641080" y="43616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Modeling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41080" y="4800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financial &amp; credit data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Hussain Yousif   ·   Data Science Bootcamp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Adult Income Prediction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whether an individual earns more than $50K per year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7510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865376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258568"/>
            <a:ext cx="3904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an individual earns more than $50K per year based on demographic and employment-related features such as age, education, occupation, and working hours.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118104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3008376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3378428"/>
            <a:ext cx="3904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 learning classification model to identify the factors affecting income level and predict whether a person belongs to the high-income group.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4042" y="4850320"/>
            <a:ext cx="6862572" cy="1065226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5450" y="4864608"/>
            <a:ext cx="3758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5185" y="5143156"/>
            <a:ext cx="444761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in: workclass, occupation, native.country</a:t>
            </a:r>
            <a:endParaRPr lang="en-US" sz="1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using mode imputation.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133502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Findings</a:t>
            </a:r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0895C0-711A-D56A-AE72-2E377BA97356}"/>
              </a:ext>
            </a:extLst>
          </p:cNvPr>
          <p:cNvGrpSpPr/>
          <p:nvPr/>
        </p:nvGrpSpPr>
        <p:grpSpPr>
          <a:xfrm>
            <a:off x="4892040" y="1646854"/>
            <a:ext cx="7088466" cy="1068354"/>
            <a:chOff x="4892040" y="2148840"/>
            <a:chExt cx="6803136" cy="891418"/>
          </a:xfrm>
        </p:grpSpPr>
        <p:sp>
          <p:nvSpPr>
            <p:cNvPr id="16" name="Shape 14"/>
            <p:cNvSpPr/>
            <p:nvPr/>
          </p:nvSpPr>
          <p:spPr>
            <a:xfrm>
              <a:off x="4892040" y="2148840"/>
              <a:ext cx="1627632" cy="891418"/>
            </a:xfrm>
            <a:prstGeom prst="roundRect">
              <a:avLst>
                <a:gd name="adj" fmla="val 5926"/>
              </a:avLst>
            </a:prstGeom>
            <a:solidFill>
              <a:srgbClr val="F4F6FC"/>
            </a:solidFill>
            <a:ln/>
            <a:effectLst>
              <a:outerShdw blurRad="76200" dist="25400" dir="5400000" algn="bl" rotWithShape="0">
                <a:srgbClr val="1B1F3B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4892040" y="2217506"/>
              <a:ext cx="1627632" cy="411740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Binary</a:t>
              </a:r>
              <a:endParaRPr lang="en-US" sz="1500" dirty="0"/>
            </a:p>
            <a:p>
              <a:pPr marL="0" indent="0" algn="ctr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Classification</a:t>
              </a:r>
              <a:endParaRPr lang="en-US" sz="15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968440" y="2618153"/>
              <a:ext cx="1481328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problem type</a:t>
              </a:r>
              <a:endParaRPr lang="en-US" sz="14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601968" y="2148841"/>
              <a:ext cx="1627632" cy="891417"/>
            </a:xfrm>
            <a:prstGeom prst="roundRect">
              <a:avLst>
                <a:gd name="adj" fmla="val 5926"/>
              </a:avLst>
            </a:prstGeom>
            <a:solidFill>
              <a:srgbClr val="F4F6FC"/>
            </a:solidFill>
            <a:ln/>
            <a:effectLst>
              <a:outerShdw blurRad="76200" dist="25400" dir="5400000" algn="bl" rotWithShape="0">
                <a:srgbClr val="1B1F3B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6601968" y="2324116"/>
              <a:ext cx="1627632" cy="231975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income</a:t>
              </a:r>
              <a:endParaRPr lang="en-US" sz="17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657806" y="2612903"/>
              <a:ext cx="1481328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target ( ≤50K / &gt;50K )</a:t>
              </a:r>
              <a:endParaRPr lang="en-US" sz="14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8311896" y="2148840"/>
              <a:ext cx="1627632" cy="891418"/>
            </a:xfrm>
            <a:prstGeom prst="roundRect">
              <a:avLst>
                <a:gd name="adj" fmla="val 5926"/>
              </a:avLst>
            </a:prstGeom>
            <a:solidFill>
              <a:srgbClr val="F4F6FC"/>
            </a:solidFill>
            <a:ln/>
            <a:effectLst>
              <a:outerShdw blurRad="76200" dist="25400" dir="5400000" algn="bl" rotWithShape="0">
                <a:srgbClr val="1B1F3B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8332204" y="2288681"/>
              <a:ext cx="1627632" cy="301419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6</a:t>
              </a:r>
              <a:endParaRPr lang="en-US" sz="20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8405356" y="2595674"/>
              <a:ext cx="1481328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numerical features</a:t>
              </a:r>
              <a:endParaRPr lang="en-US" sz="14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10021824" y="2148840"/>
              <a:ext cx="1673352" cy="891418"/>
            </a:xfrm>
            <a:prstGeom prst="roundRect">
              <a:avLst>
                <a:gd name="adj" fmla="val 5926"/>
              </a:avLst>
            </a:prstGeom>
            <a:solidFill>
              <a:srgbClr val="F4F6FC"/>
            </a:solidFill>
            <a:ln/>
            <a:effectLst>
              <a:outerShdw blurRad="76200" dist="25400" dir="5400000" algn="bl" rotWithShape="0">
                <a:srgbClr val="1B1F3B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10021824" y="2300816"/>
              <a:ext cx="1673352" cy="312555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6B4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9</a:t>
              </a:r>
              <a:endParaRPr lang="en-US" sz="2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10094976" y="2529541"/>
              <a:ext cx="1527048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categorical features</a:t>
              </a:r>
              <a:endParaRPr lang="en-US" sz="14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7E81327-FA70-F9FB-44B6-EB797410F1F2}"/>
              </a:ext>
            </a:extLst>
          </p:cNvPr>
          <p:cNvGrpSpPr/>
          <p:nvPr/>
        </p:nvGrpSpPr>
        <p:grpSpPr>
          <a:xfrm>
            <a:off x="5041714" y="2783297"/>
            <a:ext cx="6862572" cy="2647779"/>
            <a:chOff x="4860036" y="3313549"/>
            <a:chExt cx="6862572" cy="2647779"/>
          </a:xfrm>
        </p:grpSpPr>
        <p:sp>
          <p:nvSpPr>
            <p:cNvPr id="28" name="Shape 26"/>
            <p:cNvSpPr/>
            <p:nvPr/>
          </p:nvSpPr>
          <p:spPr>
            <a:xfrm>
              <a:off x="4860036" y="3313549"/>
              <a:ext cx="3246120" cy="1975959"/>
            </a:xfrm>
            <a:prstGeom prst="roundRect">
              <a:avLst>
                <a:gd name="adj" fmla="val 2712"/>
              </a:avLst>
            </a:prstGeom>
            <a:solidFill>
              <a:srgbClr val="F4F6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5093208" y="3490147"/>
              <a:ext cx="2843784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Target Classes</a:t>
              </a:r>
              <a:endParaRPr lang="en-US" sz="16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5093208" y="3959352"/>
              <a:ext cx="2843784" cy="1330157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≤ 50K   —   lower income group</a:t>
              </a:r>
              <a:endParaRPr lang="en-US" sz="12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&gt; 50K   —   higher income group</a:t>
              </a:r>
              <a:endParaRPr lang="en-US" sz="12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Both classes are represented in the data; class balance should be checked before modeling.</a:t>
              </a:r>
              <a:endParaRPr lang="en-US" sz="12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8339328" y="3313550"/>
              <a:ext cx="3383280" cy="1975959"/>
            </a:xfrm>
            <a:prstGeom prst="roundRect">
              <a:avLst>
                <a:gd name="adj" fmla="val 2712"/>
              </a:avLst>
            </a:prstGeom>
            <a:solidFill>
              <a:srgbClr val="F4F6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8455328" y="3484548"/>
              <a:ext cx="2980944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Outliers</a:t>
              </a:r>
              <a:endParaRPr lang="en-US" sz="16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8476488" y="3830776"/>
              <a:ext cx="2980944" cy="213055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10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Detected mainly in:</a:t>
              </a:r>
              <a:endParaRPr lang="en-US" sz="1100" dirty="0"/>
            </a:p>
            <a:p>
              <a:pPr>
                <a:lnSpc>
                  <a:spcPct val="120000"/>
                </a:lnSpc>
              </a:pPr>
              <a:r>
                <a:rPr lang="en-US" sz="110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</a:t>
              </a:r>
              <a:r>
                <a:rPr lang="en-US" sz="1100" dirty="0" err="1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fnlwgt</a:t>
              </a:r>
              <a:r>
                <a:rPr lang="en-US" sz="110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(</a:t>
              </a:r>
              <a:r>
                <a:rPr lang="en-US" sz="1100" dirty="0"/>
                <a:t>Final Weight</a:t>
              </a:r>
              <a:r>
                <a:rPr lang="en-US" sz="110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)</a:t>
              </a:r>
              <a:endParaRPr lang="en-US" sz="11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10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capital.gain</a:t>
              </a:r>
              <a:endParaRPr lang="en-US" sz="1100" dirty="0"/>
            </a:p>
            <a:p>
              <a:pPr marL="0" indent="0">
                <a:lnSpc>
                  <a:spcPct val="120000"/>
                </a:lnSpc>
                <a:buNone/>
              </a:pPr>
              <a:endParaRPr lang="en-US" sz="11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10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Kept because they represent real population variations, not data errors.</a:t>
              </a:r>
              <a:endParaRPr lang="en-US" sz="1100" dirty="0"/>
            </a:p>
          </p:txBody>
        </p:sp>
      </p:grpSp>
      <p:sp>
        <p:nvSpPr>
          <p:cNvPr id="34" name="Text 32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problem  ·  Target: income (≤50K / &gt;50K)  ·  Missing categoricals imputed with mode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Product Sales Prediction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what drives product demand and purchasing behavior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7510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865376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121408"/>
            <a:ext cx="3904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platforms need to understand what factors influence product sales and customer purchasing behavior to improve business decisions.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18104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3008376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3264408"/>
            <a:ext cx="3904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product demand using product information such as reviews, ratings, pricing, discounts, and marketing features.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416052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4471416"/>
            <a:ext cx="3758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4782312"/>
            <a:ext cx="375818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columns: filled using median imputation.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buy_box_availability: missing values replaced with "No".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783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Findings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2148840"/>
            <a:ext cx="1627632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2240280"/>
            <a:ext cx="1627632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65192" y="299923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type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01968" y="2148840"/>
            <a:ext cx="1627632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01968" y="2240280"/>
            <a:ext cx="1627632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purchased_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last_month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299923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311896" y="2148840"/>
            <a:ext cx="1627632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11896" y="2240280"/>
            <a:ext cx="1627632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385048" y="299923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021824" y="2148840"/>
            <a:ext cx="1673352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21824" y="2240280"/>
            <a:ext cx="1673352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094976" y="2999232"/>
            <a:ext cx="15270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92040" y="3520440"/>
            <a:ext cx="3246120" cy="2697480"/>
          </a:xfrm>
          <a:prstGeom prst="roundRect">
            <a:avLst>
              <a:gd name="adj" fmla="val 271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93208" y="3648456"/>
            <a:ext cx="2843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93208" y="3959352"/>
            <a:ext cx="2843784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purchased_last_month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number of products purchased during the previous month — a continuous count used to model demand.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75320" y="3520440"/>
            <a:ext cx="3383280" cy="2697480"/>
          </a:xfrm>
          <a:prstGeom prst="roundRect">
            <a:avLst>
              <a:gd name="adj" fmla="val 271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476488" y="3648456"/>
            <a:ext cx="2980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76488" y="3959352"/>
            <a:ext cx="2980944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mainly in: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total_reviews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purchased_last_month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because they represent highly popular products rather than errors.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problem  ·  Target: purchased_last_month  ·  Numerical missing values imputed with median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1831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Risk Modeling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37896" y="12618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Loan Approval Decisions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7510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865376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121408"/>
            <a:ext cx="3904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institutions need accurate methods to evaluate loan applications while reducing credit risk and improving lending decisions.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18104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3008376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3264408"/>
            <a:ext cx="3904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machine learning model that predicts whether a loan application will be approved or rejected using financial and credit-related information.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4160520" cy="1042416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4471416"/>
            <a:ext cx="3758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4782312"/>
            <a:ext cx="375818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found in the dataset — the data is complete and ready for modeling.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783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Findings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2148840"/>
            <a:ext cx="1627632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2240280"/>
            <a:ext cx="1627632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65192" y="299923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type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01968" y="2148840"/>
            <a:ext cx="1627632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01968" y="2240280"/>
            <a:ext cx="1627632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loan_status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75120" y="299923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311896" y="2148840"/>
            <a:ext cx="1627632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11896" y="2240280"/>
            <a:ext cx="1627632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385048" y="299923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021824" y="2148840"/>
            <a:ext cx="1673352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21824" y="2240280"/>
            <a:ext cx="1673352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094976" y="2999232"/>
            <a:ext cx="15270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92040" y="3520440"/>
            <a:ext cx="3246120" cy="1664208"/>
          </a:xfrm>
          <a:prstGeom prst="roundRect">
            <a:avLst>
              <a:gd name="adj" fmla="val 271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93208" y="3648456"/>
            <a:ext cx="2843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93208" y="3959352"/>
            <a:ext cx="2843784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=  Approved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=  Rejected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outcomes are present in the data, supporting a standard binary classification setup.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75320" y="3520440"/>
            <a:ext cx="3383280" cy="2057400"/>
          </a:xfrm>
          <a:prstGeom prst="roundRect">
            <a:avLst>
              <a:gd name="adj" fmla="val 271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476488" y="3648456"/>
            <a:ext cx="2980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76488" y="3959352"/>
            <a:ext cx="2980944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mainly in: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annual_income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savings_assets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current_debt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loan_amount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because they represent realistic financial cases.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problem  ·  Target: loan_status (1 = Approved / 0 = Rejected)  ·  No missing values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567</Words>
  <Application>Microsoft Office PowerPoint</Application>
  <PresentationFormat>Widescreen</PresentationFormat>
  <Paragraphs>111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 Hussain</cp:lastModifiedBy>
  <cp:revision>2</cp:revision>
  <dcterms:created xsi:type="dcterms:W3CDTF">2026-08-06T06:51:58Z</dcterms:created>
  <dcterms:modified xsi:type="dcterms:W3CDTF">2026-08-06T10:19:01Z</dcterms:modified>
</cp:coreProperties>
</file>