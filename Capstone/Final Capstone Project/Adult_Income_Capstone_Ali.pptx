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3" r:id="rId7"/>
    <p:sldId id="264" r:id="rId8"/>
    <p:sldId id="265" r:id="rId9"/>
    <p:sldId id="266" r:id="rId10"/>
    <p:sldId id="267" r:id="rId11"/>
    <p:sldId id="268" r:id="rId12"/>
    <p:sldId id="270" r:id="rId13"/>
    <p:sldId id="271" r:id="rId14"/>
    <p:sldId id="274" r:id="rId15"/>
    <p:sldId id="275" r:id="rId16"/>
    <p:sldId id="276"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7059" autoAdjust="0"/>
  </p:normalViewPr>
  <p:slideViewPr>
    <p:cSldViewPr snapToGrid="0" snapToObjects="1">
      <p:cViewPr varScale="1">
        <p:scale>
          <a:sx n="72" d="100"/>
          <a:sy n="72" d="100"/>
        </p:scale>
        <p:origin x="107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6349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capstone is a binary classification project on the UCI Adult census dataset: predicting whether a person earns more than fifty thousand dollars a year from demographic and employment attributes. I built six models, tuned each one, and selected a final model on cross-validation ROC-AUC.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Financial </a:t>
            </a:r>
            <a:r>
              <a:rPr lang="en-US" dirty="0" err="1"/>
              <a:t>organisations</a:t>
            </a:r>
            <a:r>
              <a:rPr lang="en-US" dirty="0"/>
              <a:t> need to focus their limited marketing efforts on people who are more likely to need premium products. Using information such as age, education, job, and employment status helps identify people who may have higher incomes.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32,561 records and 14 attributes, each describing one person from the census. The target is imbalanced: about three quarters earn at or below fifty thousand. That imbalance is the reason accuracy alone cannot be trusted here.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most important cleaning decision. The nulls check said the data was complete, but missing values are stored as question marks. When I compared those rows against the rest, they were clearly older, working fewer hours, and earning above fifty thousand at less than half the rate. Because the missingness is informative, I kept it as an explicit Unknown category instead of dropping rows or imputing the mode. I also removed 24 exact duplicate rows.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BH" dirty="0"/>
              <a:t>وجدنا انه المتزجين ازيد</a:t>
            </a:r>
            <a:br>
              <a:rPr lang="ar-BH" dirty="0"/>
            </a:br>
            <a:r>
              <a:rPr lang="ar-BH" dirty="0"/>
              <a:t>لكن هني سؤال ... ممكن لانهم اكبر سن عادة ؟</a:t>
            </a:r>
          </a:p>
          <a:p>
            <a:r>
              <a:rPr lang="ar-BH" dirty="0"/>
              <a:t>النقطة الثانية تجاوب</a:t>
            </a:r>
            <a:endParaRPr lang="en-US" dirty="0"/>
          </a:p>
          <a:p>
            <a:endParaRPr lang="en-US" dirty="0"/>
          </a:p>
          <a:p>
            <a:r>
              <a:rPr lang="en-US" sz="1200" dirty="0">
                <a:solidFill>
                  <a:srgbClr val="1A2233"/>
                </a:solidFill>
                <a:latin typeface="Calibri" pitchFamily="34" charset="0"/>
                <a:ea typeface="Calibri" pitchFamily="34" charset="-122"/>
                <a:cs typeface="Calibri" pitchFamily="34" charset="-120"/>
              </a:rPr>
              <a:t>Interchangeable </a:t>
            </a:r>
            <a:r>
              <a:rPr lang="ar-BH" sz="1200" dirty="0">
                <a:solidFill>
                  <a:srgbClr val="1A2233"/>
                </a:solidFill>
                <a:latin typeface="Calibri" pitchFamily="34" charset="0"/>
                <a:ea typeface="Calibri" pitchFamily="34" charset="-122"/>
                <a:cs typeface="Calibri" pitchFamily="34" charset="-120"/>
              </a:rPr>
              <a:t>غير قابلين للتبادل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Encoding happens before the split and scaling happens after, and that difference is deliberate. One-hot encoding computes no statistics, so it cannot leak, and doing it once guarantees both sets have identical columns — which matters because some categories have only seven records. Scaling does learn from the data, so it sits inside a Pipeline and is refitted on each training fold. I tuned everything on ROC-AUC because it measures ranking quality independently of where the threshold sits.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err="1"/>
              <a:t>ال</a:t>
            </a:r>
            <a:r>
              <a:rPr lang="en-US" dirty="0"/>
              <a:t>ـ </a:t>
            </a:r>
            <a:r>
              <a:rPr lang="en-US" b="1" dirty="0"/>
              <a:t>Majority Class Baseline</a:t>
            </a:r>
            <a:r>
              <a:rPr lang="en-US" dirty="0"/>
              <a:t> </a:t>
            </a:r>
            <a:r>
              <a:rPr lang="en-US" dirty="0" err="1"/>
              <a:t>يوضح</a:t>
            </a:r>
            <a:r>
              <a:rPr lang="en-US" dirty="0"/>
              <a:t> </a:t>
            </a:r>
            <a:r>
              <a:rPr lang="en-US" dirty="0" err="1"/>
              <a:t>مستوى</a:t>
            </a:r>
            <a:r>
              <a:rPr lang="en-US" dirty="0"/>
              <a:t> </a:t>
            </a:r>
            <a:r>
              <a:rPr lang="en-US" dirty="0" err="1"/>
              <a:t>الأداء</a:t>
            </a:r>
            <a:r>
              <a:rPr lang="en-US" dirty="0"/>
              <a:t> </a:t>
            </a:r>
            <a:r>
              <a:rPr lang="en-US" dirty="0" err="1"/>
              <a:t>الأدنى</a:t>
            </a:r>
            <a:r>
              <a:rPr lang="en-US" dirty="0"/>
              <a:t>، </a:t>
            </a:r>
            <a:r>
              <a:rPr lang="en-US" dirty="0" err="1"/>
              <a:t>ويبين</a:t>
            </a:r>
            <a:r>
              <a:rPr lang="en-US" dirty="0"/>
              <a:t> </a:t>
            </a:r>
            <a:r>
              <a:rPr lang="en-US" dirty="0" err="1"/>
              <a:t>تأثير</a:t>
            </a:r>
            <a:r>
              <a:rPr lang="en-US" dirty="0"/>
              <a:t> </a:t>
            </a:r>
            <a:r>
              <a:rPr lang="en-US" dirty="0" err="1"/>
              <a:t>عدم</a:t>
            </a:r>
            <a:r>
              <a:rPr lang="en-US" dirty="0"/>
              <a:t> </a:t>
            </a:r>
            <a:r>
              <a:rPr lang="en-US" dirty="0" err="1"/>
              <a:t>توازن</a:t>
            </a:r>
            <a:r>
              <a:rPr lang="en-US" dirty="0"/>
              <a:t> </a:t>
            </a:r>
            <a:r>
              <a:rPr lang="en-US" dirty="0" err="1"/>
              <a:t>البيانات</a:t>
            </a:r>
            <a:r>
              <a:rPr lang="en-US" dirty="0"/>
              <a:t>. </a:t>
            </a:r>
          </a:p>
          <a:p>
            <a:pPr lvl="0"/>
            <a:r>
              <a:rPr lang="ar-BH" dirty="0"/>
              <a:t>هذا بس بقول عن الكل انهم الفئة الاكبر اقل من 50 الف لذلك بجيب اغلبهم صح بسبب ال</a:t>
            </a:r>
            <a:r>
              <a:rPr lang="en-US" dirty="0"/>
              <a:t>imbalanced</a:t>
            </a:r>
          </a:p>
          <a:p>
            <a:pPr lvl="0"/>
            <a:r>
              <a:rPr lang="en-US" dirty="0" err="1"/>
              <a:t>ال</a:t>
            </a:r>
            <a:r>
              <a:rPr lang="en-US" dirty="0"/>
              <a:t>ـ </a:t>
            </a:r>
            <a:r>
              <a:rPr lang="en-US" b="1" dirty="0"/>
              <a:t>Untuned Logistic Regression</a:t>
            </a:r>
            <a:r>
              <a:rPr lang="en-US" dirty="0"/>
              <a:t> </a:t>
            </a:r>
            <a:r>
              <a:rPr lang="en-US" dirty="0" err="1"/>
              <a:t>يعطيني</a:t>
            </a:r>
            <a:r>
              <a:rPr lang="en-US" dirty="0"/>
              <a:t> </a:t>
            </a:r>
            <a:r>
              <a:rPr lang="en-US" dirty="0" err="1"/>
              <a:t>نقطة</a:t>
            </a:r>
            <a:r>
              <a:rPr lang="en-US" dirty="0"/>
              <a:t> </a:t>
            </a:r>
            <a:r>
              <a:rPr lang="en-US" dirty="0" err="1"/>
              <a:t>مقارنة</a:t>
            </a:r>
            <a:r>
              <a:rPr lang="en-US" dirty="0"/>
              <a:t> </a:t>
            </a:r>
            <a:r>
              <a:rPr lang="en-US" dirty="0" err="1"/>
              <a:t>حقيقية</a:t>
            </a:r>
            <a:r>
              <a:rPr lang="en-US" dirty="0"/>
              <a:t> </a:t>
            </a:r>
            <a:r>
              <a:rPr lang="en-US" dirty="0" err="1"/>
              <a:t>مع</a:t>
            </a:r>
            <a:r>
              <a:rPr lang="en-US" dirty="0"/>
              <a:t> </a:t>
            </a:r>
            <a:r>
              <a:rPr lang="en-US" dirty="0" err="1"/>
              <a:t>مودل</a:t>
            </a:r>
            <a:r>
              <a:rPr lang="en-US" dirty="0"/>
              <a:t> Machine Learning </a:t>
            </a:r>
            <a:r>
              <a:rPr lang="en-US" dirty="0" err="1"/>
              <a:t>قبل</a:t>
            </a:r>
            <a:r>
              <a:rPr lang="en-US" dirty="0"/>
              <a:t> </a:t>
            </a:r>
            <a:r>
              <a:rPr lang="en-US" dirty="0" err="1"/>
              <a:t>عمل</a:t>
            </a:r>
            <a:r>
              <a:rPr lang="en-US" dirty="0"/>
              <a:t> </a:t>
            </a:r>
            <a:r>
              <a:rPr lang="en-US" dirty="0" err="1"/>
              <a:t>أي</a:t>
            </a:r>
            <a:r>
              <a:rPr lang="en-US" dirty="0"/>
              <a:t> </a:t>
            </a:r>
            <a:r>
              <a:rPr lang="en-US" dirty="0" err="1"/>
              <a:t>تحسين</a:t>
            </a:r>
            <a:r>
              <a:rPr lang="en-US" dirty="0"/>
              <a:t> </a:t>
            </a:r>
            <a:r>
              <a:rPr lang="en-US" dirty="0" err="1"/>
              <a:t>أو</a:t>
            </a:r>
            <a:r>
              <a:rPr lang="en-US" dirty="0"/>
              <a:t> Tuning.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Logistic Regression was our first model because it is simple and easy to understand.</a:t>
            </a:r>
            <a:endParaRPr lang="en-US" dirty="0"/>
          </a:p>
          <a:p>
            <a:r>
              <a:rPr lang="en-US" dirty="0"/>
              <a:t>It helps us see which factors are more related to higher income.</a:t>
            </a:r>
          </a:p>
          <a:p>
            <a:r>
              <a:rPr lang="en-US" dirty="0"/>
              <a:t>For example:</a:t>
            </a:r>
          </a:p>
          <a:p>
            <a:pPr lvl="0"/>
            <a:r>
              <a:rPr lang="en-US" b="1" dirty="0"/>
              <a:t>Marital status</a:t>
            </a:r>
            <a:r>
              <a:rPr lang="en-US" dirty="0"/>
              <a:t> </a:t>
            </a:r>
          </a:p>
          <a:p>
            <a:pPr lvl="0"/>
            <a:r>
              <a:rPr lang="en-US" b="1" dirty="0"/>
              <a:t>Education level</a:t>
            </a:r>
            <a:r>
              <a:rPr lang="en-US" dirty="0"/>
              <a:t> </a:t>
            </a:r>
          </a:p>
          <a:p>
            <a:pPr lvl="0"/>
            <a:r>
              <a:rPr lang="en-US" b="1" dirty="0"/>
              <a:t>Capital gain</a:t>
            </a:r>
            <a:endParaRPr lang="en-US" dirty="0"/>
          </a:p>
          <a:p>
            <a:r>
              <a:rPr lang="en-US" dirty="0"/>
              <a:t>were among the strongest factors linked to higher income.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Random Forest combines many Decision Trees instead of relying on just one. This gives more stable predictions and reduces the risk of learning the training data too closely.</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Because it reduces variance. A single tree may learn noise from the training data, while averaging many trees gives a more stable prediction.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t>تم اختيار خوارزمية </a:t>
            </a:r>
            <a:r>
              <a:rPr lang="en-US" dirty="0" err="1"/>
              <a:t>XGBoost</a:t>
            </a:r>
            <a:r>
              <a:rPr lang="en-US" dirty="0"/>
              <a:t> </a:t>
            </a:r>
            <a:r>
              <a:rPr lang="ar-SA" dirty="0"/>
              <a:t>كنموذج نهائي نظرًا لأدائها المتميز. على عكس خوارزمية الغابة العشوائية، تبني </a:t>
            </a:r>
            <a:r>
              <a:rPr lang="en-US" dirty="0" err="1"/>
              <a:t>XGBoost</a:t>
            </a:r>
            <a:r>
              <a:rPr lang="en-US" dirty="0"/>
              <a:t> </a:t>
            </a:r>
            <a:r>
              <a:rPr lang="ar-SA" dirty="0"/>
              <a:t>الأشجار بشكل تسلسلي، حيث تركز كل شجرة جديدة على تصحيح الأخطاء السابقة.</a:t>
            </a:r>
            <a:br>
              <a:rPr lang="en-US" dirty="0"/>
            </a:br>
            <a:r>
              <a:rPr lang="en-US" dirty="0"/>
              <a:t>"</a:t>
            </a:r>
            <a:r>
              <a:rPr lang="en-US" dirty="0" err="1"/>
              <a:t>XGBoost</a:t>
            </a:r>
            <a:r>
              <a:rPr lang="en-US" dirty="0"/>
              <a:t> was selected as the final model because it achieved the best overall performance. Unlike Random Forest, </a:t>
            </a:r>
            <a:r>
              <a:rPr lang="en-US" dirty="0" err="1"/>
              <a:t>XGBoost</a:t>
            </a:r>
            <a:r>
              <a:rPr lang="en-US" dirty="0"/>
              <a:t> builds trees sequentially, where each new tree focuses on correcting previous errors.</a:t>
            </a:r>
          </a:p>
          <a:p>
            <a:endParaRPr lang="en-US" dirty="0"/>
          </a:p>
          <a:p>
            <a:r>
              <a:rPr lang="en-US" dirty="0"/>
              <a:t>Before tuning, it already achieved a ROC-AUC of 0.9215, which was higher than the tuned Random Forest. After </a:t>
            </a:r>
            <a:r>
              <a:rPr lang="en-US" dirty="0" err="1"/>
              <a:t>GridSearchCV</a:t>
            </a:r>
            <a:r>
              <a:rPr lang="en-US" dirty="0"/>
              <a:t>, the performance slightly improved to 0.9229, while the best cross-validation ROC-AUC reached 0.9307.</a:t>
            </a:r>
          </a:p>
          <a:p>
            <a:endParaRPr lang="en-US" dirty="0"/>
          </a:p>
          <a:p>
            <a:r>
              <a:rPr lang="en-US" dirty="0"/>
              <a:t>The most influential features were marital status, education level, and capital gain, which were consistent with the findings from the EDA."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ROC curves show the same result geometrically. XGBoost is above the others across almost the whole range, not just at one cutoff. That matters, because ROC-AUC is threshold independent — so the model comparison is settled before I touch the threshold, and I only need to tune the threshold once, for the selected model.</a:t>
            </a:r>
            <a:endParaRPr lang="ar-BH" dirty="0"/>
          </a:p>
          <a:p>
            <a:r>
              <a:rPr lang="ar-BH" dirty="0"/>
              <a:t>الخط الاسود يعني تخمين عشوائي</a:t>
            </a:r>
          </a:p>
          <a:p>
            <a:endParaRPr lang="ar-BH" dirty="0"/>
          </a:p>
          <a:p>
            <a:r>
              <a:rPr lang="en-US" b="1" dirty="0"/>
              <a:t>) </a:t>
            </a:r>
            <a:r>
              <a:rPr lang="en-US" b="1" dirty="0" err="1"/>
              <a:t>لماذا</a:t>
            </a:r>
            <a:r>
              <a:rPr lang="en-US" b="1" dirty="0"/>
              <a:t> </a:t>
            </a:r>
            <a:r>
              <a:rPr lang="en-US" b="1" dirty="0" err="1"/>
              <a:t>استخدمت</a:t>
            </a:r>
            <a:r>
              <a:rPr lang="en-US" b="1" dirty="0"/>
              <a:t> ROC Curve </a:t>
            </a:r>
            <a:r>
              <a:rPr lang="en-US" b="1" dirty="0" err="1"/>
              <a:t>وليس</a:t>
            </a:r>
            <a:r>
              <a:rPr lang="en-US" b="1" dirty="0"/>
              <a:t> </a:t>
            </a:r>
            <a:r>
              <a:rPr lang="en-US" b="1" dirty="0" err="1"/>
              <a:t>فقط</a:t>
            </a:r>
            <a:r>
              <a:rPr lang="en-US" b="1" dirty="0"/>
              <a:t> </a:t>
            </a:r>
            <a:r>
              <a:rPr lang="en-US" b="1" dirty="0" err="1"/>
              <a:t>جدول</a:t>
            </a:r>
            <a:r>
              <a:rPr lang="en-US" b="1" dirty="0"/>
              <a:t> </a:t>
            </a:r>
            <a:r>
              <a:rPr lang="en-US" b="1" dirty="0" err="1"/>
              <a:t>النتائج</a:t>
            </a:r>
            <a:r>
              <a:rPr lang="en-US" b="1" dirty="0"/>
              <a:t>؟</a:t>
            </a:r>
          </a:p>
          <a:p>
            <a:r>
              <a:rPr lang="en-US" b="1" dirty="0" err="1"/>
              <a:t>الإجابة</a:t>
            </a:r>
            <a:r>
              <a:rPr lang="en-US" b="1" dirty="0"/>
              <a:t>:</a:t>
            </a:r>
            <a:endParaRPr lang="en-US" dirty="0"/>
          </a:p>
          <a:p>
            <a:r>
              <a:rPr lang="en-US" dirty="0" err="1"/>
              <a:t>لأن</a:t>
            </a:r>
            <a:r>
              <a:rPr lang="en-US" dirty="0"/>
              <a:t> ROC Curve </a:t>
            </a:r>
            <a:r>
              <a:rPr lang="en-US" dirty="0" err="1"/>
              <a:t>يوضح</a:t>
            </a:r>
            <a:r>
              <a:rPr lang="en-US" dirty="0"/>
              <a:t> </a:t>
            </a:r>
            <a:r>
              <a:rPr lang="en-US" dirty="0" err="1"/>
              <a:t>أداء</a:t>
            </a:r>
            <a:r>
              <a:rPr lang="en-US" dirty="0"/>
              <a:t> </a:t>
            </a:r>
            <a:r>
              <a:rPr lang="en-US" dirty="0" err="1"/>
              <a:t>المودل</a:t>
            </a:r>
            <a:r>
              <a:rPr lang="en-US" dirty="0"/>
              <a:t> </a:t>
            </a:r>
            <a:r>
              <a:rPr lang="en-US" dirty="0" err="1"/>
              <a:t>عبر</a:t>
            </a:r>
            <a:r>
              <a:rPr lang="en-US" dirty="0"/>
              <a:t> </a:t>
            </a:r>
            <a:r>
              <a:rPr lang="en-US" dirty="0" err="1"/>
              <a:t>جميع</a:t>
            </a:r>
            <a:r>
              <a:rPr lang="en-US" dirty="0"/>
              <a:t> </a:t>
            </a:r>
            <a:r>
              <a:rPr lang="en-US" dirty="0" err="1"/>
              <a:t>الـthresholds</a:t>
            </a:r>
            <a:r>
              <a:rPr lang="en-US" dirty="0"/>
              <a:t>، </a:t>
            </a:r>
            <a:r>
              <a:rPr lang="en-US" dirty="0" err="1"/>
              <a:t>وليس</a:t>
            </a:r>
            <a:r>
              <a:rPr lang="en-US" dirty="0"/>
              <a:t> </a:t>
            </a:r>
            <a:r>
              <a:rPr lang="en-US" dirty="0" err="1"/>
              <a:t>فقط</a:t>
            </a:r>
            <a:r>
              <a:rPr lang="en-US" dirty="0"/>
              <a:t> </a:t>
            </a:r>
            <a:r>
              <a:rPr lang="en-US" dirty="0" err="1"/>
              <a:t>عند</a:t>
            </a:r>
            <a:r>
              <a:rPr lang="en-US" dirty="0"/>
              <a:t> </a:t>
            </a:r>
            <a:r>
              <a:rPr lang="en-US" dirty="0" err="1"/>
              <a:t>قرار</a:t>
            </a:r>
            <a:r>
              <a:rPr lang="en-US" dirty="0"/>
              <a:t> </a:t>
            </a:r>
            <a:r>
              <a:rPr lang="en-US" dirty="0" err="1"/>
              <a:t>واحد</a:t>
            </a:r>
            <a:r>
              <a:rPr lang="en-US" dirty="0"/>
              <a:t> </a:t>
            </a:r>
            <a:r>
              <a:rPr lang="en-US" dirty="0" err="1"/>
              <a:t>مثل</a:t>
            </a:r>
            <a:r>
              <a:rPr lang="en-US" dirty="0"/>
              <a:t> 0.5.</a:t>
            </a:r>
          </a:p>
          <a:p>
            <a:endParaRPr lang="ar-BH" dirty="0"/>
          </a:p>
          <a:p>
            <a:endParaRPr lang="ar-BH" dirty="0"/>
          </a:p>
          <a:p>
            <a:r>
              <a:rPr lang="en-US" b="1" dirty="0"/>
              <a:t>3) </a:t>
            </a:r>
            <a:r>
              <a:rPr lang="en-US" b="1" dirty="0" err="1"/>
              <a:t>إذا</a:t>
            </a:r>
            <a:r>
              <a:rPr lang="en-US" b="1" dirty="0"/>
              <a:t> </a:t>
            </a:r>
            <a:r>
              <a:rPr lang="en-US" b="1" dirty="0" err="1"/>
              <a:t>كان</a:t>
            </a:r>
            <a:r>
              <a:rPr lang="en-US" b="1" dirty="0"/>
              <a:t> </a:t>
            </a:r>
            <a:r>
              <a:rPr lang="en-US" b="1" dirty="0" err="1"/>
              <a:t>XGBoost</a:t>
            </a:r>
            <a:r>
              <a:rPr lang="en-US" b="1" dirty="0"/>
              <a:t> </a:t>
            </a:r>
            <a:r>
              <a:rPr lang="en-US" b="1" dirty="0" err="1"/>
              <a:t>الأفضل</a:t>
            </a:r>
            <a:r>
              <a:rPr lang="en-US" b="1" dirty="0"/>
              <a:t>، </a:t>
            </a:r>
            <a:r>
              <a:rPr lang="en-US" b="1" dirty="0" err="1"/>
              <a:t>لماذا</a:t>
            </a:r>
            <a:r>
              <a:rPr lang="en-US" b="1" dirty="0"/>
              <a:t> </a:t>
            </a:r>
            <a:r>
              <a:rPr lang="en-US" b="1" dirty="0" err="1"/>
              <a:t>نحتاج</a:t>
            </a:r>
            <a:r>
              <a:rPr lang="en-US" b="1" dirty="0"/>
              <a:t> Threshold Optimization؟</a:t>
            </a:r>
          </a:p>
          <a:p>
            <a:r>
              <a:rPr lang="en-US" b="1" dirty="0" err="1"/>
              <a:t>الإجابة</a:t>
            </a:r>
            <a:r>
              <a:rPr lang="en-US" b="1" dirty="0"/>
              <a:t>:</a:t>
            </a:r>
            <a:endParaRPr lang="en-US" dirty="0"/>
          </a:p>
          <a:p>
            <a:r>
              <a:rPr lang="en-US" dirty="0"/>
              <a:t>ROC-AUC </a:t>
            </a:r>
            <a:r>
              <a:rPr lang="en-US" dirty="0" err="1"/>
              <a:t>يختار</a:t>
            </a:r>
            <a:r>
              <a:rPr lang="en-US" dirty="0"/>
              <a:t> </a:t>
            </a:r>
            <a:r>
              <a:rPr lang="en-US" dirty="0" err="1"/>
              <a:t>أفضل</a:t>
            </a:r>
            <a:r>
              <a:rPr lang="en-US" dirty="0"/>
              <a:t> </a:t>
            </a:r>
            <a:r>
              <a:rPr lang="en-US" dirty="0" err="1"/>
              <a:t>مودل</a:t>
            </a:r>
            <a:r>
              <a:rPr lang="en-US" dirty="0"/>
              <a:t> </a:t>
            </a:r>
            <a:r>
              <a:rPr lang="en-US" dirty="0" err="1"/>
              <a:t>من</a:t>
            </a:r>
            <a:r>
              <a:rPr lang="en-US" dirty="0"/>
              <a:t> </a:t>
            </a:r>
            <a:r>
              <a:rPr lang="en-US" dirty="0" err="1"/>
              <a:t>ناحية</a:t>
            </a:r>
            <a:r>
              <a:rPr lang="en-US" dirty="0"/>
              <a:t> </a:t>
            </a:r>
            <a:r>
              <a:rPr lang="en-US" dirty="0" err="1"/>
              <a:t>التمييز</a:t>
            </a:r>
            <a:r>
              <a:rPr lang="en-US" dirty="0"/>
              <a:t> </a:t>
            </a:r>
            <a:r>
              <a:rPr lang="en-US" dirty="0" err="1"/>
              <a:t>بين</a:t>
            </a:r>
            <a:r>
              <a:rPr lang="en-US" dirty="0"/>
              <a:t> </a:t>
            </a:r>
            <a:r>
              <a:rPr lang="en-US" dirty="0" err="1"/>
              <a:t>الفئات</a:t>
            </a:r>
            <a:r>
              <a:rPr lang="en-US" dirty="0"/>
              <a:t>، </a:t>
            </a:r>
            <a:r>
              <a:rPr lang="en-US" dirty="0" err="1"/>
              <a:t>لكن</a:t>
            </a:r>
            <a:r>
              <a:rPr lang="en-US" dirty="0"/>
              <a:t> </a:t>
            </a:r>
            <a:r>
              <a:rPr lang="en-US" dirty="0" err="1"/>
              <a:t>الـThreshold</a:t>
            </a:r>
            <a:r>
              <a:rPr lang="en-US" dirty="0"/>
              <a:t> </a:t>
            </a:r>
            <a:r>
              <a:rPr lang="en-US" dirty="0" err="1"/>
              <a:t>يحدد</a:t>
            </a:r>
            <a:r>
              <a:rPr lang="en-US" dirty="0"/>
              <a:t> </a:t>
            </a:r>
            <a:r>
              <a:rPr lang="en-US" dirty="0" err="1"/>
              <a:t>كيف</a:t>
            </a:r>
            <a:r>
              <a:rPr lang="en-US" dirty="0"/>
              <a:t> </a:t>
            </a:r>
            <a:r>
              <a:rPr lang="en-US" dirty="0" err="1"/>
              <a:t>نحول</a:t>
            </a:r>
            <a:r>
              <a:rPr lang="en-US" dirty="0"/>
              <a:t> </a:t>
            </a:r>
            <a:r>
              <a:rPr lang="en-US" dirty="0" err="1"/>
              <a:t>الاحتمالات</a:t>
            </a:r>
            <a:r>
              <a:rPr lang="en-US" dirty="0"/>
              <a:t> </a:t>
            </a:r>
            <a:r>
              <a:rPr lang="en-US" dirty="0" err="1"/>
              <a:t>إلى</a:t>
            </a:r>
            <a:r>
              <a:rPr lang="en-US" dirty="0"/>
              <a:t> </a:t>
            </a:r>
            <a:r>
              <a:rPr lang="en-US" dirty="0" err="1"/>
              <a:t>قرارات</a:t>
            </a:r>
            <a:r>
              <a:rPr lang="en-US" dirty="0"/>
              <a:t>. </a:t>
            </a:r>
            <a:r>
              <a:rPr lang="en-US" dirty="0" err="1"/>
              <a:t>لذلك</a:t>
            </a:r>
            <a:r>
              <a:rPr lang="en-US" dirty="0"/>
              <a:t> </a:t>
            </a:r>
            <a:r>
              <a:rPr lang="en-US" dirty="0" err="1"/>
              <a:t>بعد</a:t>
            </a:r>
            <a:r>
              <a:rPr lang="en-US" dirty="0"/>
              <a:t> </a:t>
            </a:r>
            <a:r>
              <a:rPr lang="en-US" dirty="0" err="1"/>
              <a:t>اختيار</a:t>
            </a:r>
            <a:r>
              <a:rPr lang="en-US" dirty="0"/>
              <a:t> </a:t>
            </a:r>
            <a:r>
              <a:rPr lang="en-US" dirty="0" err="1"/>
              <a:t>XGBoost</a:t>
            </a:r>
            <a:r>
              <a:rPr lang="en-US" dirty="0"/>
              <a:t> </a:t>
            </a:r>
            <a:r>
              <a:rPr lang="en-US" dirty="0" err="1"/>
              <a:t>قمنا</a:t>
            </a:r>
            <a:r>
              <a:rPr lang="en-US" dirty="0"/>
              <a:t> </a:t>
            </a:r>
            <a:r>
              <a:rPr lang="en-US" dirty="0" err="1"/>
              <a:t>بضبط</a:t>
            </a:r>
            <a:r>
              <a:rPr lang="en-US" dirty="0"/>
              <a:t> Threshold </a:t>
            </a:r>
            <a:r>
              <a:rPr lang="en-US" dirty="0" err="1"/>
              <a:t>لتحقيق</a:t>
            </a:r>
            <a:r>
              <a:rPr lang="en-US" dirty="0"/>
              <a:t> </a:t>
            </a:r>
            <a:r>
              <a:rPr lang="en-US" dirty="0" err="1"/>
              <a:t>هدف</a:t>
            </a:r>
            <a:r>
              <a:rPr lang="en-US" dirty="0"/>
              <a:t> </a:t>
            </a:r>
            <a:r>
              <a:rPr lang="en-US" dirty="0" err="1"/>
              <a:t>العمل</a:t>
            </a:r>
            <a:r>
              <a:rPr lang="en-US" dirty="0"/>
              <a:t> </a:t>
            </a:r>
            <a:r>
              <a:rPr lang="en-US" dirty="0" err="1"/>
              <a:t>وتقليل</a:t>
            </a:r>
            <a:r>
              <a:rPr lang="en-US" dirty="0"/>
              <a:t> False Negatives.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practical takeaways. Marital status and education are the dominant signals. The presence of any capital gain is a strong flag. The cheapest improvement available was not a better algorithm — it was moving the threshold, which found 13 percent more prospects for a third of a point of accuracy. And complexity did not pay: the two most expensive models were the two worst, and tuned logistic regression came within three percent of XGBoost.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limitations. The data is from 1994, so the method transfers but the numbers do not. About six and a half percent of records have identical feature profiles with opposite labels, which is a hard ceiling no algorithm can cross. The SVM tuning compromise is documented. And importantly, the model uses protected attributes — removing sex would not even make it gender-blind, because the relationship column encodes it. That would need legal and ethical review before any real use.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six models, tuned, compared on cross-validation ROC-AUC. XGBoost selected, final test ROC-AUC 0.9229, identifying 1,136 of the 1,568 high earners at the chosen threshold. Marital status, education and capital gain dominate across every model. Thank you —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3F"/>
        </a:solidFill>
        <a:effectLst/>
      </p:bgPr>
    </p:bg>
    <p:spTree>
      <p:nvGrpSpPr>
        <p:cNvPr id="1" name=""/>
        <p:cNvGrpSpPr/>
        <p:nvPr/>
      </p:nvGrpSpPr>
      <p:grpSpPr>
        <a:xfrm>
          <a:off x="0" y="0"/>
          <a:ext cx="0" cy="0"/>
          <a:chOff x="0" y="0"/>
          <a:chExt cx="0" cy="0"/>
        </a:xfrm>
      </p:grpSpPr>
      <p:sp>
        <p:nvSpPr>
          <p:cNvPr id="2" name="Shape 0"/>
          <p:cNvSpPr/>
          <p:nvPr/>
        </p:nvSpPr>
        <p:spPr>
          <a:xfrm>
            <a:off x="-1371600" y="-914400"/>
            <a:ext cx="6858000" cy="8686800"/>
          </a:xfrm>
          <a:prstGeom prst="roundRect">
            <a:avLst>
              <a:gd name="adj" fmla="val 6667"/>
            </a:avLst>
          </a:prstGeom>
          <a:solidFill>
            <a:srgbClr val="1E3A5F"/>
          </a:solidFill>
          <a:ln w="12700">
            <a:solidFill>
              <a:srgbClr val="1E3A5F"/>
            </a:solidFill>
            <a:prstDash val="solid"/>
          </a:ln>
        </p:spPr>
        <p:txBody>
          <a:bodyPr/>
          <a:lstStyle/>
          <a:p>
            <a:endParaRPr lang="en-US"/>
          </a:p>
        </p:txBody>
      </p:sp>
      <p:sp>
        <p:nvSpPr>
          <p:cNvPr id="3" name="Text 1"/>
          <p:cNvSpPr txBox="1"/>
          <p:nvPr/>
        </p:nvSpPr>
        <p:spPr>
          <a:xfrm>
            <a:off x="548640" y="1417320"/>
            <a:ext cx="9144000" cy="274320"/>
          </a:xfrm>
          <a:prstGeom prst="rect">
            <a:avLst/>
          </a:prstGeom>
          <a:noFill/>
          <a:ln/>
        </p:spPr>
        <p:txBody>
          <a:bodyPr wrap="square" lIns="0" tIns="0" rIns="0" bIns="0" rtlCol="0" anchor="ctr"/>
          <a:lstStyle/>
          <a:p>
            <a:pPr marL="0" indent="0">
              <a:buNone/>
            </a:pPr>
            <a:r>
              <a:rPr lang="en-US" sz="1250" b="1" kern="0" spc="200" dirty="0">
                <a:solidFill>
                  <a:srgbClr val="E3B857"/>
                </a:solidFill>
                <a:latin typeface="Calibri" pitchFamily="34" charset="0"/>
                <a:ea typeface="Calibri" pitchFamily="34" charset="-122"/>
                <a:cs typeface="Calibri" pitchFamily="34" charset="-120"/>
              </a:rPr>
              <a:t>DATA SCIENCE CAPSTONE  ·  DSB PT3</a:t>
            </a:r>
            <a:endParaRPr lang="en-US" sz="1250" dirty="0"/>
          </a:p>
        </p:txBody>
      </p:sp>
      <p:sp>
        <p:nvSpPr>
          <p:cNvPr id="4" name="Text 2"/>
          <p:cNvSpPr txBox="1"/>
          <p:nvPr/>
        </p:nvSpPr>
        <p:spPr>
          <a:xfrm>
            <a:off x="548640" y="1874520"/>
            <a:ext cx="10515600" cy="91440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Adult Income Prediction</a:t>
            </a:r>
            <a:endParaRPr lang="en-US" sz="5200" dirty="0"/>
          </a:p>
        </p:txBody>
      </p:sp>
      <p:sp>
        <p:nvSpPr>
          <p:cNvPr id="5" name="Text 3"/>
          <p:cNvSpPr txBox="1"/>
          <p:nvPr/>
        </p:nvSpPr>
        <p:spPr>
          <a:xfrm>
            <a:off x="548640" y="2834640"/>
            <a:ext cx="9601200" cy="457200"/>
          </a:xfrm>
          <a:prstGeom prst="rect">
            <a:avLst/>
          </a:prstGeom>
          <a:noFill/>
          <a:ln/>
        </p:spPr>
        <p:txBody>
          <a:bodyPr wrap="square" lIns="0" tIns="0" rIns="0" bIns="0" rtlCol="0" anchor="ctr"/>
          <a:lstStyle/>
          <a:p>
            <a:pPr marL="0" indent="0">
              <a:buNone/>
            </a:pPr>
            <a:r>
              <a:rPr lang="en-US" sz="1900" dirty="0">
                <a:solidFill>
                  <a:srgbClr val="C6D3E4"/>
                </a:solidFill>
                <a:latin typeface="Calibri" pitchFamily="34" charset="0"/>
                <a:ea typeface="Calibri" pitchFamily="34" charset="-122"/>
                <a:cs typeface="Calibri" pitchFamily="34" charset="-120"/>
              </a:rPr>
              <a:t>Predicting whether an individual earns more than $50,000 per year</a:t>
            </a:r>
            <a:endParaRPr lang="en-US" sz="1900" dirty="0"/>
          </a:p>
        </p:txBody>
      </p:sp>
      <p:sp>
        <p:nvSpPr>
          <p:cNvPr id="6" name="Shape 4"/>
          <p:cNvSpPr/>
          <p:nvPr/>
        </p:nvSpPr>
        <p:spPr>
          <a:xfrm>
            <a:off x="548640" y="3611880"/>
            <a:ext cx="1463040" cy="41148"/>
          </a:xfrm>
          <a:prstGeom prst="rect">
            <a:avLst/>
          </a:prstGeom>
          <a:solidFill>
            <a:srgbClr val="C08A2E"/>
          </a:solidFill>
          <a:ln w="12700">
            <a:solidFill>
              <a:srgbClr val="C08A2E"/>
            </a:solidFill>
            <a:prstDash val="solid"/>
          </a:ln>
        </p:spPr>
        <p:txBody>
          <a:bodyPr/>
          <a:lstStyle/>
          <a:p>
            <a:endParaRPr lang="en-US"/>
          </a:p>
        </p:txBody>
      </p:sp>
      <p:sp>
        <p:nvSpPr>
          <p:cNvPr id="7" name="Text 5"/>
          <p:cNvSpPr txBox="1"/>
          <p:nvPr/>
        </p:nvSpPr>
        <p:spPr>
          <a:xfrm>
            <a:off x="548640" y="3977640"/>
            <a:ext cx="8229600" cy="118872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Ali Hussain Yousif</a:t>
            </a:r>
            <a:endParaRPr lang="en-US" sz="1700" dirty="0"/>
          </a:p>
          <a:p>
            <a:pPr marL="0" indent="0">
              <a:buNone/>
            </a:pPr>
            <a:r>
              <a:rPr lang="en-US" sz="1350" dirty="0">
                <a:solidFill>
                  <a:srgbClr val="AEBDD1"/>
                </a:solidFill>
                <a:latin typeface="Calibri" pitchFamily="34" charset="0"/>
                <a:ea typeface="Calibri" pitchFamily="34" charset="-122"/>
                <a:cs typeface="Calibri" pitchFamily="34" charset="-120"/>
              </a:rPr>
              <a:t>Binary Classification  </a:t>
            </a:r>
            <a:endParaRPr lang="en-US" sz="1700" dirty="0"/>
          </a:p>
          <a:p>
            <a:pPr marL="0" indent="0">
              <a:buNone/>
            </a:pPr>
            <a:r>
              <a:rPr lang="en-US" sz="1250" dirty="0">
                <a:solidFill>
                  <a:srgbClr val="8FA2BA"/>
                </a:solidFill>
                <a:latin typeface="Calibri" pitchFamily="34" charset="0"/>
                <a:ea typeface="Calibri" pitchFamily="34" charset="-122"/>
                <a:cs typeface="Calibri" pitchFamily="34" charset="-120"/>
              </a:rPr>
              <a:t>UCI Adult (Census Income) dataset — 1994 US Census, obtained via Kaggle</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772400" cy="256032"/>
          </a:xfrm>
          <a:prstGeom prst="rect">
            <a:avLst/>
          </a:prstGeom>
          <a:noFill/>
          <a:ln/>
        </p:spPr>
        <p:txBody>
          <a:bodyPr wrap="square" lIns="0" tIns="0" rIns="0" bIns="0" rtlCol="0" anchor="ctr"/>
          <a:lstStyle/>
          <a:p>
            <a:pPr marL="0" indent="0">
              <a:buNone/>
            </a:pPr>
            <a:r>
              <a:rPr lang="en-US" sz="1100" b="1" kern="0" spc="200" dirty="0">
                <a:solidFill>
                  <a:srgbClr val="C08A2E"/>
                </a:solidFill>
                <a:latin typeface="Calibri" pitchFamily="34" charset="0"/>
                <a:ea typeface="Calibri" pitchFamily="34" charset="-122"/>
                <a:cs typeface="Calibri" pitchFamily="34" charset="-120"/>
              </a:rPr>
              <a:t>PROBLEM FRAMING</a:t>
            </a:r>
            <a:endParaRPr lang="en-US" sz="1100" dirty="0"/>
          </a:p>
        </p:txBody>
      </p:sp>
      <p:sp>
        <p:nvSpPr>
          <p:cNvPr id="3" name="Text 1"/>
          <p:cNvSpPr txBox="1"/>
          <p:nvPr/>
        </p:nvSpPr>
        <p:spPr>
          <a:xfrm>
            <a:off x="548640" y="603504"/>
            <a:ext cx="11094415" cy="566928"/>
          </a:xfrm>
          <a:prstGeom prst="rect">
            <a:avLst/>
          </a:prstGeom>
          <a:noFill/>
          <a:ln/>
        </p:spPr>
        <p:txBody>
          <a:bodyPr wrap="square" lIns="0" tIns="0" rIns="0" bIns="0" rtlCol="0" anchor="ctr"/>
          <a:lstStyle/>
          <a:p>
            <a:pPr marL="0" indent="0">
              <a:buNone/>
            </a:pPr>
            <a:r>
              <a:rPr lang="en-US" sz="3000" b="1" dirty="0">
                <a:solidFill>
                  <a:srgbClr val="12233F"/>
                </a:solidFill>
                <a:latin typeface="Cambria" pitchFamily="34" charset="0"/>
                <a:ea typeface="Cambria" pitchFamily="34" charset="-122"/>
                <a:cs typeface="Cambria" pitchFamily="34" charset="-120"/>
              </a:rPr>
              <a:t>Problem statement and aim</a:t>
            </a:r>
            <a:endParaRPr lang="en-US" sz="3000" dirty="0"/>
          </a:p>
        </p:txBody>
      </p:sp>
      <p:sp>
        <p:nvSpPr>
          <p:cNvPr id="4" name="Shape 2"/>
          <p:cNvSpPr/>
          <p:nvPr/>
        </p:nvSpPr>
        <p:spPr>
          <a:xfrm>
            <a:off x="548640" y="1417320"/>
            <a:ext cx="5532120" cy="4282440"/>
          </a:xfrm>
          <a:prstGeom prst="roundRect">
            <a:avLst>
              <a:gd name="adj" fmla="val 3256"/>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5" name="Text 3"/>
          <p:cNvSpPr txBox="1"/>
          <p:nvPr/>
        </p:nvSpPr>
        <p:spPr>
          <a:xfrm>
            <a:off x="2603500" y="1627632"/>
            <a:ext cx="1460500" cy="274320"/>
          </a:xfrm>
          <a:prstGeom prst="rect">
            <a:avLst/>
          </a:prstGeom>
          <a:noFill/>
          <a:ln/>
        </p:spPr>
        <p:txBody>
          <a:bodyPr wrap="square" lIns="0" tIns="0" rIns="0" bIns="0" rtlCol="0" anchor="ctr"/>
          <a:lstStyle/>
          <a:p>
            <a:pPr marL="0" indent="0">
              <a:buNone/>
            </a:pPr>
            <a:r>
              <a:rPr lang="en-US" sz="1400" b="1" kern="0" spc="100" dirty="0">
                <a:solidFill>
                  <a:srgbClr val="C08A2E"/>
                </a:solidFill>
                <a:latin typeface="Calibri" pitchFamily="34" charset="0"/>
                <a:ea typeface="Calibri" pitchFamily="34" charset="-122"/>
                <a:cs typeface="Calibri" pitchFamily="34" charset="-120"/>
              </a:rPr>
              <a:t>THE PROBLEM</a:t>
            </a:r>
            <a:endParaRPr lang="en-US" sz="1400" dirty="0"/>
          </a:p>
        </p:txBody>
      </p:sp>
      <p:sp>
        <p:nvSpPr>
          <p:cNvPr id="6" name="Text 4"/>
          <p:cNvSpPr txBox="1"/>
          <p:nvPr/>
        </p:nvSpPr>
        <p:spPr>
          <a:xfrm>
            <a:off x="822960" y="1938527"/>
            <a:ext cx="4983480" cy="2980945"/>
          </a:xfrm>
          <a:prstGeom prst="rect">
            <a:avLst/>
          </a:prstGeom>
          <a:noFill/>
          <a:ln/>
        </p:spPr>
        <p:txBody>
          <a:bodyPr wrap="square" lIns="0" tIns="0" rIns="0" bIns="0" rtlCol="0" anchor="ctr"/>
          <a:lstStyle/>
          <a:p>
            <a:pPr marL="0" indent="0" algn="ctr">
              <a:buNone/>
            </a:pPr>
            <a:r>
              <a:rPr lang="en-US" sz="2400" dirty="0">
                <a:solidFill>
                  <a:srgbClr val="1A2233"/>
                </a:solidFill>
                <a:latin typeface="Calibri" pitchFamily="34" charset="0"/>
                <a:ea typeface="Calibri" pitchFamily="34" charset="-122"/>
                <a:cs typeface="Calibri" pitchFamily="34" charset="-120"/>
              </a:rPr>
              <a:t>Financial  </a:t>
            </a:r>
            <a:r>
              <a:rPr lang="en-US" sz="2400" dirty="0" err="1">
                <a:solidFill>
                  <a:srgbClr val="1A2233"/>
                </a:solidFill>
                <a:latin typeface="Calibri" pitchFamily="34" charset="0"/>
                <a:ea typeface="Calibri" pitchFamily="34" charset="-122"/>
                <a:cs typeface="Calibri" pitchFamily="34" charset="-120"/>
              </a:rPr>
              <a:t>organisations</a:t>
            </a:r>
            <a:r>
              <a:rPr lang="en-US" sz="2400" dirty="0">
                <a:solidFill>
                  <a:srgbClr val="1A2233"/>
                </a:solidFill>
                <a:latin typeface="Calibri" pitchFamily="34" charset="0"/>
                <a:ea typeface="Calibri" pitchFamily="34" charset="-122"/>
                <a:cs typeface="Calibri" pitchFamily="34" charset="-120"/>
              </a:rPr>
              <a:t> need to direct limited outreach towards the prospects most likely to qualify for premium products. Identifying likely high-income individuals from demographic and employment information supports that decision.</a:t>
            </a:r>
            <a:endParaRPr lang="en-US" sz="2400" dirty="0"/>
          </a:p>
        </p:txBody>
      </p:sp>
      <p:sp>
        <p:nvSpPr>
          <p:cNvPr id="7" name="Shape 5"/>
          <p:cNvSpPr/>
          <p:nvPr/>
        </p:nvSpPr>
        <p:spPr>
          <a:xfrm>
            <a:off x="6355080" y="1417320"/>
            <a:ext cx="5532120" cy="4282440"/>
          </a:xfrm>
          <a:prstGeom prst="roundRect">
            <a:avLst>
              <a:gd name="adj" fmla="val 3256"/>
            </a:avLst>
          </a:prstGeom>
          <a:solidFill>
            <a:srgbClr val="EAF0F6"/>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8" name="Text 6"/>
          <p:cNvSpPr txBox="1"/>
          <p:nvPr/>
        </p:nvSpPr>
        <p:spPr>
          <a:xfrm>
            <a:off x="8752840" y="1627632"/>
            <a:ext cx="736600" cy="274320"/>
          </a:xfrm>
          <a:prstGeom prst="rect">
            <a:avLst/>
          </a:prstGeom>
          <a:noFill/>
          <a:ln/>
        </p:spPr>
        <p:txBody>
          <a:bodyPr wrap="square" lIns="0" tIns="0" rIns="0" bIns="0" rtlCol="0" anchor="ctr"/>
          <a:lstStyle/>
          <a:p>
            <a:pPr marL="0" indent="0">
              <a:buNone/>
            </a:pPr>
            <a:r>
              <a:rPr lang="en-US" sz="1400" b="1" kern="0" spc="100" dirty="0">
                <a:solidFill>
                  <a:srgbClr val="C08A2E"/>
                </a:solidFill>
                <a:latin typeface="Calibri" pitchFamily="34" charset="0"/>
                <a:ea typeface="Calibri" pitchFamily="34" charset="-122"/>
                <a:cs typeface="Calibri" pitchFamily="34" charset="-120"/>
              </a:rPr>
              <a:t>THE AIM</a:t>
            </a:r>
            <a:endParaRPr lang="en-US" sz="1400" dirty="0"/>
          </a:p>
        </p:txBody>
      </p:sp>
      <p:sp>
        <p:nvSpPr>
          <p:cNvPr id="9" name="Text 7"/>
          <p:cNvSpPr txBox="1"/>
          <p:nvPr/>
        </p:nvSpPr>
        <p:spPr>
          <a:xfrm>
            <a:off x="6629400" y="1901952"/>
            <a:ext cx="4983480" cy="2542032"/>
          </a:xfrm>
          <a:prstGeom prst="rect">
            <a:avLst/>
          </a:prstGeom>
          <a:noFill/>
          <a:ln/>
        </p:spPr>
        <p:txBody>
          <a:bodyPr wrap="square" lIns="0" tIns="0" rIns="0" bIns="0" rtlCol="0" anchor="ctr"/>
          <a:lstStyle/>
          <a:p>
            <a:pPr marL="0" indent="0" algn="ctr">
              <a:buNone/>
            </a:pPr>
            <a:r>
              <a:rPr lang="en-US" sz="2400" dirty="0">
                <a:solidFill>
                  <a:srgbClr val="1A2233"/>
                </a:solidFill>
                <a:latin typeface="Calibri" pitchFamily="34" charset="0"/>
                <a:ea typeface="Calibri" pitchFamily="34" charset="-122"/>
                <a:cs typeface="Calibri" pitchFamily="34" charset="-120"/>
              </a:rPr>
              <a:t>Build and compare classification models that predict whether an individual earns more than $50,000 per year, and identify which factors most strongly influence that outcome.</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772400" cy="256032"/>
          </a:xfrm>
          <a:prstGeom prst="rect">
            <a:avLst/>
          </a:prstGeom>
          <a:noFill/>
          <a:ln/>
        </p:spPr>
        <p:txBody>
          <a:bodyPr wrap="square" lIns="0" tIns="0" rIns="0" bIns="0" rtlCol="0" anchor="ctr"/>
          <a:lstStyle/>
          <a:p>
            <a:pPr marL="0" indent="0">
              <a:buNone/>
            </a:pPr>
            <a:r>
              <a:rPr lang="en-US" sz="1100" b="1" kern="0" spc="200" dirty="0">
                <a:solidFill>
                  <a:srgbClr val="C08A2E"/>
                </a:solidFill>
                <a:latin typeface="Calibri" pitchFamily="34" charset="0"/>
                <a:ea typeface="Calibri" pitchFamily="34" charset="-122"/>
                <a:cs typeface="Calibri" pitchFamily="34" charset="-120"/>
              </a:rPr>
              <a:t>DATA SUMMARY</a:t>
            </a:r>
            <a:endParaRPr lang="en-US" sz="1100" dirty="0"/>
          </a:p>
        </p:txBody>
      </p:sp>
      <p:sp>
        <p:nvSpPr>
          <p:cNvPr id="3" name="Text 1"/>
          <p:cNvSpPr txBox="1"/>
          <p:nvPr/>
        </p:nvSpPr>
        <p:spPr>
          <a:xfrm>
            <a:off x="548640" y="542147"/>
            <a:ext cx="11094415" cy="566928"/>
          </a:xfrm>
          <a:prstGeom prst="rect">
            <a:avLst/>
          </a:prstGeom>
          <a:noFill/>
          <a:ln/>
        </p:spPr>
        <p:txBody>
          <a:bodyPr wrap="square" lIns="0" tIns="0" rIns="0" bIns="0" rtlCol="0" anchor="ctr"/>
          <a:lstStyle/>
          <a:p>
            <a:pPr marL="0" indent="0">
              <a:buNone/>
            </a:pPr>
            <a:r>
              <a:rPr lang="en-US" sz="3000" b="1" dirty="0">
                <a:solidFill>
                  <a:srgbClr val="12233F"/>
                </a:solidFill>
                <a:latin typeface="Cambria" pitchFamily="34" charset="0"/>
                <a:ea typeface="Cambria" pitchFamily="34" charset="-122"/>
                <a:cs typeface="Cambria" pitchFamily="34" charset="-120"/>
              </a:rPr>
              <a:t>What the data contains</a:t>
            </a:r>
            <a:endParaRPr lang="en-US" sz="3000" dirty="0"/>
          </a:p>
        </p:txBody>
      </p:sp>
      <p:sp>
        <p:nvSpPr>
          <p:cNvPr id="4" name="Shape 2"/>
          <p:cNvSpPr/>
          <p:nvPr/>
        </p:nvSpPr>
        <p:spPr>
          <a:xfrm>
            <a:off x="336997" y="1222340"/>
            <a:ext cx="2606040" cy="1417320"/>
          </a:xfrm>
          <a:prstGeom prst="roundRect">
            <a:avLst>
              <a:gd name="adj" fmla="val 4516"/>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5" name="Text 3"/>
          <p:cNvSpPr txBox="1"/>
          <p:nvPr/>
        </p:nvSpPr>
        <p:spPr>
          <a:xfrm>
            <a:off x="474157" y="1368644"/>
            <a:ext cx="2331720" cy="658368"/>
          </a:xfrm>
          <a:prstGeom prst="rect">
            <a:avLst/>
          </a:prstGeom>
          <a:noFill/>
          <a:ln/>
        </p:spPr>
        <p:txBody>
          <a:bodyPr wrap="square" lIns="0" tIns="0" rIns="0" bIns="0" rtlCol="0" anchor="ctr"/>
          <a:lstStyle/>
          <a:p>
            <a:pPr marL="0" indent="0" algn="ctr">
              <a:buNone/>
            </a:pPr>
            <a:r>
              <a:rPr lang="en-US" sz="3400" b="1" dirty="0">
                <a:solidFill>
                  <a:srgbClr val="12233F"/>
                </a:solidFill>
                <a:latin typeface="Cambria" pitchFamily="34" charset="0"/>
                <a:ea typeface="Cambria" pitchFamily="34" charset="-122"/>
                <a:cs typeface="Cambria" pitchFamily="34" charset="-120"/>
              </a:rPr>
              <a:t>32,561</a:t>
            </a:r>
            <a:endParaRPr lang="en-US" sz="3400" dirty="0"/>
          </a:p>
        </p:txBody>
      </p:sp>
      <p:sp>
        <p:nvSpPr>
          <p:cNvPr id="6" name="Text 4"/>
          <p:cNvSpPr txBox="1"/>
          <p:nvPr/>
        </p:nvSpPr>
        <p:spPr>
          <a:xfrm>
            <a:off x="474157" y="2008724"/>
            <a:ext cx="2331720" cy="548640"/>
          </a:xfrm>
          <a:prstGeom prst="rect">
            <a:avLst/>
          </a:prstGeom>
          <a:noFill/>
          <a:ln/>
        </p:spPr>
        <p:txBody>
          <a:bodyPr wrap="square" lIns="0" tIns="0" rIns="0" bIns="0" rtlCol="0" anchor="ctr"/>
          <a:lstStyle/>
          <a:p>
            <a:pPr marL="0" indent="0" algn="ctr">
              <a:buNone/>
            </a:pPr>
            <a:r>
              <a:rPr lang="en-US" sz="1150" dirty="0">
                <a:solidFill>
                  <a:srgbClr val="5D6B80"/>
                </a:solidFill>
                <a:latin typeface="Calibri" pitchFamily="34" charset="0"/>
                <a:ea typeface="Calibri" pitchFamily="34" charset="-122"/>
                <a:cs typeface="Calibri" pitchFamily="34" charset="-120"/>
              </a:rPr>
              <a:t>rows before cleaning</a:t>
            </a:r>
            <a:endParaRPr lang="en-US" sz="1150" dirty="0"/>
          </a:p>
        </p:txBody>
      </p:sp>
      <p:sp>
        <p:nvSpPr>
          <p:cNvPr id="7" name="Shape 5"/>
          <p:cNvSpPr/>
          <p:nvPr/>
        </p:nvSpPr>
        <p:spPr>
          <a:xfrm>
            <a:off x="5914837" y="1222340"/>
            <a:ext cx="2606040" cy="1417320"/>
          </a:xfrm>
          <a:prstGeom prst="roundRect">
            <a:avLst>
              <a:gd name="adj" fmla="val 4516"/>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8" name="Text 6"/>
          <p:cNvSpPr txBox="1"/>
          <p:nvPr/>
        </p:nvSpPr>
        <p:spPr>
          <a:xfrm>
            <a:off x="6051997" y="1368644"/>
            <a:ext cx="2331720" cy="658368"/>
          </a:xfrm>
          <a:prstGeom prst="rect">
            <a:avLst/>
          </a:prstGeom>
          <a:noFill/>
          <a:ln/>
        </p:spPr>
        <p:txBody>
          <a:bodyPr wrap="square" lIns="0" tIns="0" rIns="0" bIns="0" rtlCol="0" anchor="ctr"/>
          <a:lstStyle/>
          <a:p>
            <a:pPr marL="0" indent="0" algn="ctr">
              <a:buNone/>
            </a:pPr>
            <a:r>
              <a:rPr lang="en-US" sz="3400" b="1" dirty="0">
                <a:solidFill>
                  <a:srgbClr val="12233F"/>
                </a:solidFill>
                <a:latin typeface="Cambria" pitchFamily="34" charset="0"/>
                <a:ea typeface="Cambria" pitchFamily="34" charset="-122"/>
                <a:cs typeface="Cambria" pitchFamily="34" charset="-120"/>
              </a:rPr>
              <a:t>14</a:t>
            </a:r>
            <a:endParaRPr lang="en-US" sz="3400" dirty="0"/>
          </a:p>
        </p:txBody>
      </p:sp>
      <p:sp>
        <p:nvSpPr>
          <p:cNvPr id="9" name="Text 7"/>
          <p:cNvSpPr txBox="1"/>
          <p:nvPr/>
        </p:nvSpPr>
        <p:spPr>
          <a:xfrm>
            <a:off x="6051997" y="2008724"/>
            <a:ext cx="2331720" cy="548640"/>
          </a:xfrm>
          <a:prstGeom prst="rect">
            <a:avLst/>
          </a:prstGeom>
          <a:noFill/>
          <a:ln/>
        </p:spPr>
        <p:txBody>
          <a:bodyPr wrap="square" lIns="0" tIns="0" rIns="0" bIns="0" rtlCol="0" anchor="ctr"/>
          <a:lstStyle/>
          <a:p>
            <a:pPr marL="0" indent="0" algn="ctr">
              <a:buNone/>
            </a:pPr>
            <a:r>
              <a:rPr lang="en-US" sz="1150" dirty="0">
                <a:solidFill>
                  <a:srgbClr val="5D6B80"/>
                </a:solidFill>
                <a:latin typeface="Calibri" pitchFamily="34" charset="0"/>
                <a:ea typeface="Calibri" pitchFamily="34" charset="-122"/>
                <a:cs typeface="Calibri" pitchFamily="34" charset="-120"/>
              </a:rPr>
              <a:t>attributes per person</a:t>
            </a:r>
            <a:endParaRPr lang="en-US" sz="1150" dirty="0"/>
          </a:p>
        </p:txBody>
      </p:sp>
      <p:sp>
        <p:nvSpPr>
          <p:cNvPr id="10" name="Shape 8"/>
          <p:cNvSpPr/>
          <p:nvPr/>
        </p:nvSpPr>
        <p:spPr>
          <a:xfrm>
            <a:off x="3125917" y="1222340"/>
            <a:ext cx="2606040" cy="1417320"/>
          </a:xfrm>
          <a:prstGeom prst="roundRect">
            <a:avLst>
              <a:gd name="adj" fmla="val 4516"/>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11" name="Text 9"/>
          <p:cNvSpPr txBox="1"/>
          <p:nvPr/>
        </p:nvSpPr>
        <p:spPr>
          <a:xfrm>
            <a:off x="3263077" y="1386932"/>
            <a:ext cx="2331720" cy="658368"/>
          </a:xfrm>
          <a:prstGeom prst="rect">
            <a:avLst/>
          </a:prstGeom>
          <a:noFill/>
          <a:ln/>
        </p:spPr>
        <p:txBody>
          <a:bodyPr wrap="square" lIns="0" tIns="0" rIns="0" bIns="0" rtlCol="0" anchor="ctr"/>
          <a:lstStyle/>
          <a:p>
            <a:pPr marL="0" indent="0" algn="ctr">
              <a:buNone/>
            </a:pPr>
            <a:r>
              <a:rPr lang="en-US" sz="3400" b="1" dirty="0">
                <a:solidFill>
                  <a:srgbClr val="12233F"/>
                </a:solidFill>
                <a:latin typeface="Cambria" pitchFamily="34" charset="0"/>
                <a:ea typeface="Cambria" pitchFamily="34" charset="-122"/>
                <a:cs typeface="Cambria" pitchFamily="34" charset="-120"/>
              </a:rPr>
              <a:t>32,537</a:t>
            </a:r>
            <a:endParaRPr lang="en-US" sz="3400" dirty="0"/>
          </a:p>
        </p:txBody>
      </p:sp>
      <p:sp>
        <p:nvSpPr>
          <p:cNvPr id="12" name="Text 10"/>
          <p:cNvSpPr txBox="1"/>
          <p:nvPr/>
        </p:nvSpPr>
        <p:spPr>
          <a:xfrm>
            <a:off x="3263077" y="2027012"/>
            <a:ext cx="2331720" cy="548640"/>
          </a:xfrm>
          <a:prstGeom prst="rect">
            <a:avLst/>
          </a:prstGeom>
          <a:noFill/>
          <a:ln/>
        </p:spPr>
        <p:txBody>
          <a:bodyPr wrap="square" lIns="0" tIns="0" rIns="0" bIns="0" rtlCol="0" anchor="ctr"/>
          <a:lstStyle/>
          <a:p>
            <a:pPr marL="0" indent="0" algn="ctr">
              <a:buNone/>
            </a:pPr>
            <a:r>
              <a:rPr lang="en-US" sz="1150" dirty="0">
                <a:solidFill>
                  <a:srgbClr val="5D6B80"/>
                </a:solidFill>
                <a:latin typeface="Calibri" pitchFamily="34" charset="0"/>
                <a:ea typeface="Calibri" pitchFamily="34" charset="-122"/>
                <a:cs typeface="Calibri" pitchFamily="34" charset="-120"/>
              </a:rPr>
              <a:t>rows after cleaning</a:t>
            </a:r>
            <a:endParaRPr lang="en-US" sz="1150" dirty="0"/>
          </a:p>
        </p:txBody>
      </p:sp>
      <p:grpSp>
        <p:nvGrpSpPr>
          <p:cNvPr id="25" name="Group 24">
            <a:extLst>
              <a:ext uri="{FF2B5EF4-FFF2-40B4-BE49-F238E27FC236}">
                <a16:creationId xmlns:a16="http://schemas.microsoft.com/office/drawing/2014/main" id="{5B58972A-932F-001A-C7E6-9F2F675E97C4}"/>
              </a:ext>
            </a:extLst>
          </p:cNvPr>
          <p:cNvGrpSpPr/>
          <p:nvPr/>
        </p:nvGrpSpPr>
        <p:grpSpPr>
          <a:xfrm>
            <a:off x="6189157" y="3166475"/>
            <a:ext cx="5532120" cy="3108960"/>
            <a:chOff x="548640" y="3154680"/>
            <a:chExt cx="5532120" cy="3108960"/>
          </a:xfrm>
        </p:grpSpPr>
        <p:sp>
          <p:nvSpPr>
            <p:cNvPr id="16" name="Shape 14"/>
            <p:cNvSpPr/>
            <p:nvPr/>
          </p:nvSpPr>
          <p:spPr>
            <a:xfrm>
              <a:off x="548640" y="3154680"/>
              <a:ext cx="5532120" cy="3108960"/>
            </a:xfrm>
            <a:prstGeom prst="roundRect">
              <a:avLst>
                <a:gd name="adj" fmla="val 2059"/>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17" name="Text 15"/>
            <p:cNvSpPr txBox="1"/>
            <p:nvPr/>
          </p:nvSpPr>
          <p:spPr>
            <a:xfrm>
              <a:off x="822960" y="3364992"/>
              <a:ext cx="5029200" cy="274320"/>
            </a:xfrm>
            <a:prstGeom prst="rect">
              <a:avLst/>
            </a:prstGeom>
            <a:noFill/>
            <a:ln/>
          </p:spPr>
          <p:txBody>
            <a:bodyPr wrap="square" lIns="0" tIns="0" rIns="0" bIns="0" rtlCol="0" anchor="ctr"/>
            <a:lstStyle/>
            <a:p>
              <a:pPr marL="0" indent="0" algn="ctr">
                <a:buNone/>
              </a:pPr>
              <a:r>
                <a:rPr lang="en-US" sz="1200" b="1" kern="0" spc="100" dirty="0">
                  <a:solidFill>
                    <a:srgbClr val="C08A2E"/>
                  </a:solidFill>
                  <a:latin typeface="Calibri" pitchFamily="34" charset="0"/>
                  <a:ea typeface="Calibri" pitchFamily="34" charset="-122"/>
                  <a:cs typeface="Calibri" pitchFamily="34" charset="-120"/>
                </a:rPr>
                <a:t>EACH RECORD REPRESENTS ONE PERSON</a:t>
              </a:r>
              <a:endParaRPr lang="en-US" sz="1200" dirty="0"/>
            </a:p>
          </p:txBody>
        </p:sp>
        <p:sp>
          <p:nvSpPr>
            <p:cNvPr id="18" name="Text 16"/>
            <p:cNvSpPr txBox="1"/>
            <p:nvPr/>
          </p:nvSpPr>
          <p:spPr>
            <a:xfrm>
              <a:off x="822960" y="3643467"/>
              <a:ext cx="4983480" cy="2518341"/>
            </a:xfrm>
            <a:prstGeom prst="rect">
              <a:avLst/>
            </a:prstGeom>
            <a:noFill/>
            <a:ln/>
          </p:spPr>
          <p:txBody>
            <a:bodyPr wrap="square" rtlCol="0" anchor="t"/>
            <a:lstStyle/>
            <a:p>
              <a:pPr marL="342900" indent="-342900">
                <a:spcAft>
                  <a:spcPts val="700"/>
                </a:spcAft>
                <a:buSzPct val="100000"/>
                <a:buChar char="•"/>
              </a:pPr>
              <a:r>
                <a:rPr lang="en-US" sz="1400" dirty="0">
                  <a:solidFill>
                    <a:srgbClr val="1A2233"/>
                  </a:solidFill>
                  <a:latin typeface="Calibri" pitchFamily="34" charset="0"/>
                  <a:ea typeface="Calibri" pitchFamily="34" charset="-122"/>
                  <a:cs typeface="Calibri" pitchFamily="34" charset="-120"/>
                </a:rPr>
                <a:t>Demographic attributes: age, sex, race, marital status, relationship, native country</a:t>
              </a:r>
              <a:endParaRPr lang="en-US" sz="1400" dirty="0"/>
            </a:p>
            <a:p>
              <a:pPr marL="342900" indent="-342900">
                <a:spcAft>
                  <a:spcPts val="700"/>
                </a:spcAft>
                <a:buSzPct val="100000"/>
                <a:buChar char="•"/>
              </a:pPr>
              <a:r>
                <a:rPr lang="en-US" sz="1400" dirty="0">
                  <a:solidFill>
                    <a:srgbClr val="1A2233"/>
                  </a:solidFill>
                  <a:latin typeface="Calibri" pitchFamily="34" charset="0"/>
                  <a:ea typeface="Calibri" pitchFamily="34" charset="-122"/>
                  <a:cs typeface="Calibri" pitchFamily="34" charset="-120"/>
                </a:rPr>
                <a:t>Employment attributes: workclass, occupation, hours per week</a:t>
              </a:r>
              <a:endParaRPr lang="en-US" sz="1400" dirty="0"/>
            </a:p>
            <a:p>
              <a:pPr marL="342900" indent="-342900">
                <a:spcAft>
                  <a:spcPts val="700"/>
                </a:spcAft>
                <a:buSzPct val="100000"/>
                <a:buChar char="•"/>
              </a:pPr>
              <a:r>
                <a:rPr lang="en-US" sz="1400" dirty="0">
                  <a:solidFill>
                    <a:srgbClr val="1A2233"/>
                  </a:solidFill>
                  <a:latin typeface="Calibri" pitchFamily="34" charset="0"/>
                  <a:ea typeface="Calibri" pitchFamily="34" charset="-122"/>
                  <a:cs typeface="Calibri" pitchFamily="34" charset="-120"/>
                </a:rPr>
                <a:t>Financial attributes: capital gain, capital loss</a:t>
              </a:r>
              <a:endParaRPr lang="en-US" sz="1400" dirty="0"/>
            </a:p>
            <a:p>
              <a:pPr marL="342900" indent="-342900">
                <a:spcAft>
                  <a:spcPts val="700"/>
                </a:spcAft>
                <a:buSzPct val="100000"/>
                <a:buChar char="•"/>
              </a:pPr>
              <a:r>
                <a:rPr lang="en-US" sz="1400" dirty="0">
                  <a:solidFill>
                    <a:srgbClr val="1A2233"/>
                  </a:solidFill>
                  <a:latin typeface="Calibri" pitchFamily="34" charset="0"/>
                  <a:ea typeface="Calibri" pitchFamily="34" charset="-122"/>
                  <a:cs typeface="Calibri" pitchFamily="34" charset="-120"/>
                </a:rPr>
                <a:t>Education: education level as text and as an ordered number</a:t>
              </a:r>
              <a:endParaRPr lang="en-US" sz="1400" dirty="0"/>
            </a:p>
            <a:p>
              <a:pPr marL="342900" indent="-342900">
                <a:spcAft>
                  <a:spcPts val="700"/>
                </a:spcAft>
                <a:buSzPct val="100000"/>
                <a:buChar char="•"/>
              </a:pPr>
              <a:r>
                <a:rPr lang="en-US" sz="1400" dirty="0">
                  <a:solidFill>
                    <a:srgbClr val="1A2233"/>
                  </a:solidFill>
                  <a:latin typeface="Calibri" pitchFamily="34" charset="0"/>
                  <a:ea typeface="Calibri" pitchFamily="34" charset="-122"/>
                  <a:cs typeface="Calibri" pitchFamily="34" charset="-120"/>
                </a:rPr>
                <a:t>Target: income recorded as &gt;50K or &lt;=50K</a:t>
              </a:r>
              <a:endParaRPr lang="en-US" sz="1400" dirty="0"/>
            </a:p>
          </p:txBody>
        </p:sp>
      </p:grpSp>
      <p:grpSp>
        <p:nvGrpSpPr>
          <p:cNvPr id="26" name="Group 25">
            <a:extLst>
              <a:ext uri="{FF2B5EF4-FFF2-40B4-BE49-F238E27FC236}">
                <a16:creationId xmlns:a16="http://schemas.microsoft.com/office/drawing/2014/main" id="{FBC4B389-36C9-0F49-5A37-AA2401F9FDCB}"/>
              </a:ext>
            </a:extLst>
          </p:cNvPr>
          <p:cNvGrpSpPr/>
          <p:nvPr/>
        </p:nvGrpSpPr>
        <p:grpSpPr>
          <a:xfrm>
            <a:off x="382717" y="3166475"/>
            <a:ext cx="5349240" cy="3108960"/>
            <a:chOff x="6355080" y="3154680"/>
            <a:chExt cx="5532120" cy="3108960"/>
          </a:xfrm>
        </p:grpSpPr>
        <p:sp>
          <p:nvSpPr>
            <p:cNvPr id="19" name="Shape 17"/>
            <p:cNvSpPr/>
            <p:nvPr/>
          </p:nvSpPr>
          <p:spPr>
            <a:xfrm>
              <a:off x="6355080" y="3154680"/>
              <a:ext cx="5532120" cy="3108960"/>
            </a:xfrm>
            <a:prstGeom prst="roundRect">
              <a:avLst>
                <a:gd name="adj" fmla="val 2059"/>
              </a:avLst>
            </a:prstGeom>
            <a:solidFill>
              <a:srgbClr val="EAF0F6"/>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20" name="Text 18"/>
            <p:cNvSpPr txBox="1"/>
            <p:nvPr/>
          </p:nvSpPr>
          <p:spPr>
            <a:xfrm>
              <a:off x="6656517" y="3364992"/>
              <a:ext cx="2258883" cy="266322"/>
            </a:xfrm>
            <a:prstGeom prst="rect">
              <a:avLst/>
            </a:prstGeom>
            <a:noFill/>
            <a:ln/>
          </p:spPr>
          <p:txBody>
            <a:bodyPr wrap="square" lIns="0" tIns="0" rIns="0" bIns="0" rtlCol="0" anchor="ctr"/>
            <a:lstStyle/>
            <a:p>
              <a:pPr marL="0" indent="0">
                <a:buNone/>
              </a:pPr>
              <a:r>
                <a:rPr lang="en-US" sz="1200" b="1" kern="0" spc="100" dirty="0">
                  <a:solidFill>
                    <a:srgbClr val="C08A2E"/>
                  </a:solidFill>
                  <a:latin typeface="Calibri" pitchFamily="34" charset="0"/>
                  <a:ea typeface="Calibri" pitchFamily="34" charset="-122"/>
                  <a:cs typeface="Calibri" pitchFamily="34" charset="-120"/>
                </a:rPr>
                <a:t>THE TARGET IS IMBALANCED</a:t>
              </a:r>
              <a:endParaRPr lang="en-US" sz="1200" dirty="0"/>
            </a:p>
          </p:txBody>
        </p:sp>
        <p:sp>
          <p:nvSpPr>
            <p:cNvPr id="22" name="Text 19"/>
            <p:cNvSpPr txBox="1"/>
            <p:nvPr/>
          </p:nvSpPr>
          <p:spPr>
            <a:xfrm>
              <a:off x="6683634" y="3669616"/>
              <a:ext cx="2011680" cy="2365171"/>
            </a:xfrm>
            <a:prstGeom prst="rect">
              <a:avLst/>
            </a:prstGeom>
            <a:noFill/>
            <a:ln/>
          </p:spPr>
          <p:txBody>
            <a:bodyPr wrap="square" lIns="0" tIns="0" rIns="0" bIns="0" rtlCol="0" anchor="ctr"/>
            <a:lstStyle/>
            <a:p>
              <a:pPr marL="0" indent="0">
                <a:buNone/>
              </a:pPr>
              <a:r>
                <a:rPr lang="en-US" sz="3600" b="1" dirty="0">
                  <a:solidFill>
                    <a:srgbClr val="12233F"/>
                  </a:solidFill>
                  <a:latin typeface="Cambria" pitchFamily="34" charset="0"/>
                  <a:ea typeface="Cambria" pitchFamily="34" charset="-122"/>
                  <a:cs typeface="Cambria" pitchFamily="34" charset="-120"/>
                </a:rPr>
                <a:t>75.91%</a:t>
              </a:r>
              <a:endParaRPr lang="en-US" sz="3600" dirty="0"/>
            </a:p>
            <a:p>
              <a:pPr marL="0" indent="0">
                <a:buNone/>
              </a:pPr>
              <a:r>
                <a:rPr lang="en-US" sz="2000" dirty="0">
                  <a:solidFill>
                    <a:srgbClr val="5D6B80"/>
                  </a:solidFill>
                  <a:latin typeface="Calibri" pitchFamily="34" charset="0"/>
                  <a:ea typeface="Calibri" pitchFamily="34" charset="-122"/>
                  <a:cs typeface="Calibri" pitchFamily="34" charset="-120"/>
                </a:rPr>
                <a:t>earn &lt;=50K
</a:t>
              </a:r>
              <a:endParaRPr lang="en-US" sz="3600" dirty="0"/>
            </a:p>
            <a:p>
              <a:pPr marL="0" indent="0">
                <a:buNone/>
              </a:pPr>
              <a:r>
                <a:rPr lang="en-US" sz="3600" b="1" dirty="0">
                  <a:solidFill>
                    <a:srgbClr val="C08A2E"/>
                  </a:solidFill>
                  <a:latin typeface="Cambria" pitchFamily="34" charset="0"/>
                  <a:ea typeface="Cambria" pitchFamily="34" charset="-122"/>
                  <a:cs typeface="Cambria" pitchFamily="34" charset="-120"/>
                </a:rPr>
                <a:t>24.09%</a:t>
              </a:r>
              <a:endParaRPr lang="en-US" sz="3600" dirty="0"/>
            </a:p>
            <a:p>
              <a:pPr marL="0" indent="0">
                <a:buNone/>
              </a:pPr>
              <a:r>
                <a:rPr lang="en-US" sz="2000" dirty="0">
                  <a:solidFill>
                    <a:srgbClr val="5D6B80"/>
                  </a:solidFill>
                  <a:latin typeface="Calibri" pitchFamily="34" charset="0"/>
                  <a:ea typeface="Calibri" pitchFamily="34" charset="-122"/>
                  <a:cs typeface="Calibri" pitchFamily="34" charset="-120"/>
                </a:rPr>
                <a:t>earn &gt;50K</a:t>
              </a:r>
              <a:endParaRPr lang="en-US" sz="3600" dirty="0"/>
            </a:p>
          </p:txBody>
        </p:sp>
      </p:grpSp>
      <p:sp>
        <p:nvSpPr>
          <p:cNvPr id="24" name="Arrow: Right 23">
            <a:extLst>
              <a:ext uri="{FF2B5EF4-FFF2-40B4-BE49-F238E27FC236}">
                <a16:creationId xmlns:a16="http://schemas.microsoft.com/office/drawing/2014/main" id="{FBE18C4F-2BAF-B993-FF41-D836007D977C}"/>
              </a:ext>
            </a:extLst>
          </p:cNvPr>
          <p:cNvSpPr/>
          <p:nvPr/>
        </p:nvSpPr>
        <p:spPr>
          <a:xfrm>
            <a:off x="2545273" y="1487516"/>
            <a:ext cx="978408" cy="484632"/>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772400" cy="256032"/>
          </a:xfrm>
          <a:prstGeom prst="rect">
            <a:avLst/>
          </a:prstGeom>
          <a:noFill/>
          <a:ln/>
        </p:spPr>
        <p:txBody>
          <a:bodyPr wrap="square" lIns="0" tIns="0" rIns="0" bIns="0" rtlCol="0" anchor="ctr"/>
          <a:lstStyle/>
          <a:p>
            <a:pPr marL="0" indent="0">
              <a:buNone/>
            </a:pPr>
            <a:r>
              <a:rPr lang="en-US" sz="1100" b="1" kern="0" spc="200" dirty="0">
                <a:solidFill>
                  <a:srgbClr val="C08A2E"/>
                </a:solidFill>
                <a:latin typeface="Calibri" pitchFamily="34" charset="0"/>
                <a:ea typeface="Calibri" pitchFamily="34" charset="-122"/>
                <a:cs typeface="Calibri" pitchFamily="34" charset="-120"/>
              </a:rPr>
              <a:t>DATA CLEANING</a:t>
            </a:r>
            <a:endParaRPr lang="en-US" sz="1100" dirty="0"/>
          </a:p>
        </p:txBody>
      </p:sp>
      <p:sp>
        <p:nvSpPr>
          <p:cNvPr id="3" name="Text 1"/>
          <p:cNvSpPr txBox="1"/>
          <p:nvPr/>
        </p:nvSpPr>
        <p:spPr>
          <a:xfrm>
            <a:off x="548640" y="603504"/>
            <a:ext cx="11094415" cy="566928"/>
          </a:xfrm>
          <a:prstGeom prst="rect">
            <a:avLst/>
          </a:prstGeom>
          <a:noFill/>
          <a:ln/>
        </p:spPr>
        <p:txBody>
          <a:bodyPr wrap="square" lIns="0" tIns="0" rIns="0" bIns="0" rtlCol="0" anchor="ctr"/>
          <a:lstStyle/>
          <a:p>
            <a:pPr marL="0" indent="0">
              <a:buNone/>
            </a:pPr>
            <a:r>
              <a:rPr lang="en-US" sz="3000" b="1" dirty="0">
                <a:solidFill>
                  <a:srgbClr val="12233F"/>
                </a:solidFill>
                <a:latin typeface="Cambria" pitchFamily="34" charset="0"/>
                <a:ea typeface="Cambria" pitchFamily="34" charset="-122"/>
                <a:cs typeface="Cambria" pitchFamily="34" charset="-120"/>
              </a:rPr>
              <a:t>Missing values were hidden, not absent</a:t>
            </a:r>
            <a:endParaRPr lang="en-US" sz="3000" dirty="0"/>
          </a:p>
        </p:txBody>
      </p:sp>
      <p:sp>
        <p:nvSpPr>
          <p:cNvPr id="4" name="Shape 2"/>
          <p:cNvSpPr/>
          <p:nvPr/>
        </p:nvSpPr>
        <p:spPr>
          <a:xfrm>
            <a:off x="579120" y="1417320"/>
            <a:ext cx="5120640" cy="1828800"/>
          </a:xfrm>
          <a:prstGeom prst="roundRect">
            <a:avLst>
              <a:gd name="adj" fmla="val 3500"/>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5" name="Text 3"/>
          <p:cNvSpPr txBox="1"/>
          <p:nvPr/>
        </p:nvSpPr>
        <p:spPr>
          <a:xfrm>
            <a:off x="822960" y="1609344"/>
            <a:ext cx="4572000" cy="274320"/>
          </a:xfrm>
          <a:prstGeom prst="rect">
            <a:avLst/>
          </a:prstGeom>
          <a:noFill/>
          <a:ln/>
        </p:spPr>
        <p:txBody>
          <a:bodyPr wrap="square" lIns="0" tIns="0" rIns="0" bIns="0" rtlCol="0" anchor="ctr"/>
          <a:lstStyle/>
          <a:p>
            <a:pPr marL="0" indent="0">
              <a:buNone/>
            </a:pPr>
            <a:r>
              <a:rPr lang="en-US" sz="1200" b="1" kern="0" spc="100" dirty="0">
                <a:solidFill>
                  <a:srgbClr val="C08A2E"/>
                </a:solidFill>
                <a:latin typeface="Calibri" pitchFamily="34" charset="0"/>
                <a:ea typeface="Calibri" pitchFamily="34" charset="-122"/>
                <a:cs typeface="Calibri" pitchFamily="34" charset="-120"/>
              </a:rPr>
              <a:t>THE FINDING</a:t>
            </a:r>
            <a:endParaRPr lang="en-US" sz="1200" dirty="0"/>
          </a:p>
        </p:txBody>
      </p:sp>
      <p:sp>
        <p:nvSpPr>
          <p:cNvPr id="6" name="Text 4"/>
          <p:cNvSpPr txBox="1"/>
          <p:nvPr/>
        </p:nvSpPr>
        <p:spPr>
          <a:xfrm>
            <a:off x="822960" y="1901952"/>
            <a:ext cx="4572000" cy="548640"/>
          </a:xfrm>
          <a:prstGeom prst="rect">
            <a:avLst/>
          </a:prstGeom>
          <a:noFill/>
          <a:ln/>
        </p:spPr>
        <p:txBody>
          <a:bodyPr wrap="square" lIns="0" tIns="0" rIns="0" bIns="0" rtlCol="0" anchor="ctr"/>
          <a:lstStyle/>
          <a:p>
            <a:r>
              <a:rPr lang="en-US" sz="1400" b="1" dirty="0">
                <a:solidFill>
                  <a:schemeClr val="tx1">
                    <a:lumMod val="50000"/>
                    <a:lumOff val="50000"/>
                  </a:schemeClr>
                </a:solidFill>
              </a:rPr>
              <a:t>The dataset appeared to have no missing values at first. However, some missing information was recorded as “?”, so it was treated as a normal value instead of missing data.</a:t>
            </a:r>
            <a:endParaRPr lang="en-US" sz="1400" dirty="0">
              <a:solidFill>
                <a:schemeClr val="tx1">
                  <a:lumMod val="50000"/>
                  <a:lumOff val="50000"/>
                </a:schemeClr>
              </a:solidFill>
            </a:endParaRPr>
          </a:p>
        </p:txBody>
      </p:sp>
      <p:sp>
        <p:nvSpPr>
          <p:cNvPr id="7" name="Text 5"/>
          <p:cNvSpPr txBox="1"/>
          <p:nvPr/>
        </p:nvSpPr>
        <p:spPr>
          <a:xfrm>
            <a:off x="822960" y="2542032"/>
            <a:ext cx="4572000" cy="594360"/>
          </a:xfrm>
          <a:prstGeom prst="rect">
            <a:avLst/>
          </a:prstGeom>
          <a:noFill/>
          <a:ln/>
        </p:spPr>
        <p:txBody>
          <a:bodyPr wrap="square" lIns="0" tIns="0" rIns="0" bIns="0" rtlCol="0" anchor="ctr"/>
          <a:lstStyle/>
          <a:p>
            <a:pPr marL="0" indent="0">
              <a:buNone/>
            </a:pPr>
            <a:r>
              <a:rPr lang="en-US" sz="1400" b="1" i="1" dirty="0">
                <a:solidFill>
                  <a:srgbClr val="5D6B80"/>
                </a:solidFill>
                <a:latin typeface="Calibri" pitchFamily="34" charset="0"/>
                <a:ea typeface="Calibri" pitchFamily="34" charset="-122"/>
                <a:cs typeface="Calibri" pitchFamily="34" charset="-120"/>
              </a:rPr>
              <a:t>24 exact duplicate rows were also removed</a:t>
            </a:r>
            <a:r>
              <a:rPr lang="en-US" sz="1400" i="1" dirty="0">
                <a:solidFill>
                  <a:srgbClr val="5D6B80"/>
                </a:solidFill>
                <a:latin typeface="Calibri" pitchFamily="34" charset="0"/>
                <a:ea typeface="Calibri" pitchFamily="34" charset="-122"/>
                <a:cs typeface="Calibri" pitchFamily="34" charset="-120"/>
              </a:rPr>
              <a:t>, leaving 32,537 records</a:t>
            </a:r>
            <a:endParaRPr lang="en-US" sz="1400" dirty="0"/>
          </a:p>
        </p:txBody>
      </p:sp>
      <p:sp>
        <p:nvSpPr>
          <p:cNvPr id="8" name="Shape 6"/>
          <p:cNvSpPr/>
          <p:nvPr/>
        </p:nvSpPr>
        <p:spPr>
          <a:xfrm>
            <a:off x="5943600" y="1417320"/>
            <a:ext cx="5943600" cy="1828800"/>
          </a:xfrm>
          <a:prstGeom prst="roundRect">
            <a:avLst>
              <a:gd name="adj" fmla="val 3500"/>
            </a:avLst>
          </a:prstGeom>
          <a:solidFill>
            <a:srgbClr val="EAF0F6"/>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9" name="Text 7"/>
          <p:cNvSpPr txBox="1"/>
          <p:nvPr/>
        </p:nvSpPr>
        <p:spPr>
          <a:xfrm>
            <a:off x="6217920" y="1609344"/>
            <a:ext cx="5394960" cy="274320"/>
          </a:xfrm>
          <a:prstGeom prst="rect">
            <a:avLst/>
          </a:prstGeom>
          <a:noFill/>
          <a:ln/>
        </p:spPr>
        <p:txBody>
          <a:bodyPr wrap="square" lIns="0" tIns="0" rIns="0" bIns="0" rtlCol="0" anchor="ctr"/>
          <a:lstStyle/>
          <a:p>
            <a:pPr marL="0" indent="0">
              <a:buNone/>
            </a:pPr>
            <a:r>
              <a:rPr lang="en-US" sz="1200" b="1" kern="0" spc="100" dirty="0">
                <a:solidFill>
                  <a:srgbClr val="C08A2E"/>
                </a:solidFill>
                <a:latin typeface="Calibri" pitchFamily="34" charset="0"/>
                <a:ea typeface="Calibri" pitchFamily="34" charset="-122"/>
                <a:cs typeface="Calibri" pitchFamily="34" charset="-120"/>
              </a:rPr>
              <a:t>WHERE THE '?' VALUES ARE</a:t>
            </a:r>
            <a:endParaRPr lang="en-US" sz="1200" dirty="0"/>
          </a:p>
        </p:txBody>
      </p:sp>
      <p:sp>
        <p:nvSpPr>
          <p:cNvPr id="10" name="Text 8"/>
          <p:cNvSpPr txBox="1"/>
          <p:nvPr/>
        </p:nvSpPr>
        <p:spPr>
          <a:xfrm>
            <a:off x="6217920" y="1920240"/>
            <a:ext cx="5394960" cy="1097280"/>
          </a:xfrm>
          <a:prstGeom prst="rect">
            <a:avLst/>
          </a:prstGeom>
          <a:noFill/>
          <a:ln/>
        </p:spPr>
        <p:txBody>
          <a:bodyPr wrap="square" lIns="0" tIns="0" rIns="0" bIns="0" rtlCol="0" anchor="ctr"/>
          <a:lstStyle/>
          <a:p>
            <a:pPr marL="0" indent="0">
              <a:spcAft>
                <a:spcPts val="400"/>
              </a:spcAft>
              <a:buNone/>
            </a:pPr>
            <a:r>
              <a:rPr lang="en-US" sz="1400" dirty="0">
                <a:solidFill>
                  <a:srgbClr val="1A2233"/>
                </a:solidFill>
                <a:latin typeface="Calibri" pitchFamily="34" charset="0"/>
                <a:ea typeface="Calibri" pitchFamily="34" charset="-122"/>
                <a:cs typeface="Calibri" pitchFamily="34" charset="-120"/>
              </a:rPr>
              <a:t>workclass  1,836 rows (5.64%)</a:t>
            </a:r>
            <a:endParaRPr lang="en-US" sz="1400" dirty="0"/>
          </a:p>
          <a:p>
            <a:pPr marL="0" indent="0">
              <a:spcAft>
                <a:spcPts val="400"/>
              </a:spcAft>
              <a:buNone/>
            </a:pPr>
            <a:r>
              <a:rPr lang="en-US" sz="1400" dirty="0">
                <a:solidFill>
                  <a:srgbClr val="1A2233"/>
                </a:solidFill>
                <a:latin typeface="Calibri" pitchFamily="34" charset="0"/>
                <a:ea typeface="Calibri" pitchFamily="34" charset="-122"/>
                <a:cs typeface="Calibri" pitchFamily="34" charset="-120"/>
              </a:rPr>
              <a:t>occupation  1,843 rows (5.66%)</a:t>
            </a:r>
            <a:endParaRPr lang="en-US" sz="1400" dirty="0"/>
          </a:p>
          <a:p>
            <a:pPr marL="0" indent="0">
              <a:spcAft>
                <a:spcPts val="400"/>
              </a:spcAft>
              <a:buNone/>
            </a:pPr>
            <a:r>
              <a:rPr lang="en-US" sz="1400" dirty="0">
                <a:solidFill>
                  <a:srgbClr val="1A2233"/>
                </a:solidFill>
                <a:latin typeface="Calibri" pitchFamily="34" charset="0"/>
                <a:ea typeface="Calibri" pitchFamily="34" charset="-122"/>
                <a:cs typeface="Calibri" pitchFamily="34" charset="-120"/>
              </a:rPr>
              <a:t>native.country  583 rows (1.79%)</a:t>
            </a:r>
            <a:endParaRPr lang="en-US" sz="1400" dirty="0"/>
          </a:p>
          <a:p>
            <a:pPr marL="0" indent="0">
              <a:spcAft>
                <a:spcPts val="400"/>
              </a:spcAft>
              <a:buNone/>
            </a:pPr>
            <a:r>
              <a:rPr lang="en-US" sz="1400" b="1" dirty="0">
                <a:solidFill>
                  <a:srgbClr val="12233F"/>
                </a:solidFill>
                <a:latin typeface="Calibri" pitchFamily="34" charset="0"/>
                <a:ea typeface="Calibri" pitchFamily="34" charset="-122"/>
                <a:cs typeface="Calibri" pitchFamily="34" charset="-120"/>
              </a:rPr>
              <a:t>2,399 rows (7.37%) contain at least one '?'</a:t>
            </a:r>
            <a:endParaRPr lang="en-US" sz="1400" dirty="0"/>
          </a:p>
        </p:txBody>
      </p:sp>
      <p:sp>
        <p:nvSpPr>
          <p:cNvPr id="13" name="Shape 10"/>
          <p:cNvSpPr/>
          <p:nvPr/>
        </p:nvSpPr>
        <p:spPr>
          <a:xfrm>
            <a:off x="579120" y="3794760"/>
            <a:ext cx="11308080" cy="2286000"/>
          </a:xfrm>
          <a:prstGeom prst="roundRect">
            <a:avLst>
              <a:gd name="adj" fmla="val 2800"/>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14" name="Text 11"/>
          <p:cNvSpPr txBox="1"/>
          <p:nvPr/>
        </p:nvSpPr>
        <p:spPr>
          <a:xfrm>
            <a:off x="822960" y="3986784"/>
            <a:ext cx="4846320" cy="274320"/>
          </a:xfrm>
          <a:prstGeom prst="rect">
            <a:avLst/>
          </a:prstGeom>
          <a:noFill/>
          <a:ln/>
        </p:spPr>
        <p:txBody>
          <a:bodyPr wrap="square" lIns="0" tIns="0" rIns="0" bIns="0" rtlCol="0" anchor="ctr"/>
          <a:lstStyle/>
          <a:p>
            <a:pPr marL="0" indent="0">
              <a:buNone/>
            </a:pPr>
            <a:r>
              <a:rPr lang="en-US" sz="1200" b="1" kern="0" spc="100" dirty="0">
                <a:solidFill>
                  <a:srgbClr val="C08A2E"/>
                </a:solidFill>
                <a:latin typeface="Calibri" pitchFamily="34" charset="0"/>
                <a:ea typeface="Calibri" pitchFamily="34" charset="-122"/>
                <a:cs typeface="Calibri" pitchFamily="34" charset="-120"/>
              </a:rPr>
              <a:t>DECISION: REPLACE WITH 'UNKNOWN'</a:t>
            </a:r>
            <a:endParaRPr lang="en-US" sz="1200" dirty="0"/>
          </a:p>
        </p:txBody>
      </p:sp>
      <p:sp>
        <p:nvSpPr>
          <p:cNvPr id="15" name="Text 12"/>
          <p:cNvSpPr txBox="1"/>
          <p:nvPr/>
        </p:nvSpPr>
        <p:spPr>
          <a:xfrm>
            <a:off x="716280" y="4297680"/>
            <a:ext cx="9575800" cy="1691640"/>
          </a:xfrm>
          <a:prstGeom prst="rect">
            <a:avLst/>
          </a:prstGeom>
          <a:noFill/>
          <a:ln/>
        </p:spPr>
        <p:txBody>
          <a:bodyPr wrap="square" rtlCol="0" anchor="t"/>
          <a:lstStyle/>
          <a:p>
            <a:pPr marL="342900" indent="-342900">
              <a:spcAft>
                <a:spcPts val="600"/>
              </a:spcAft>
              <a:buSzPct val="100000"/>
              <a:buChar char="•"/>
            </a:pPr>
            <a:r>
              <a:rPr lang="en-US" sz="1400" dirty="0">
                <a:solidFill>
                  <a:srgbClr val="1A2233"/>
                </a:solidFill>
                <a:latin typeface="Calibri" pitchFamily="34" charset="0"/>
                <a:ea typeface="Calibri" pitchFamily="34" charset="-122"/>
                <a:cs typeface="Calibri" pitchFamily="34" charset="-120"/>
              </a:rPr>
              <a:t>These records mainly describe people outside the labour force, and they earn &gt;50K at less than half the rate of the rest</a:t>
            </a:r>
          </a:p>
          <a:p>
            <a:pPr marL="342900" indent="-342900">
              <a:spcAft>
                <a:spcPts val="600"/>
              </a:spcAft>
              <a:buSzPct val="100000"/>
              <a:buFontTx/>
              <a:buChar char="•"/>
            </a:pPr>
            <a:r>
              <a:rPr lang="en-US" sz="1400" b="1" dirty="0"/>
              <a:t>Removing these rows would delete 7.37% of the dataset and would remove groups like retired and part-time workers from our analysis.</a:t>
            </a:r>
            <a:r>
              <a:rPr lang="en-US" sz="1400" dirty="0"/>
              <a:t> </a:t>
            </a:r>
          </a:p>
          <a:p>
            <a:pPr marL="342900" indent="-342900">
              <a:spcAft>
                <a:spcPts val="600"/>
              </a:spcAft>
              <a:buSzPct val="100000"/>
              <a:buFontTx/>
              <a:buChar char="•"/>
            </a:pPr>
            <a:r>
              <a:rPr lang="en-US" sz="1400" b="1" dirty="0">
                <a:solidFill>
                  <a:schemeClr val="tx1">
                    <a:lumMod val="50000"/>
                    <a:lumOff val="50000"/>
                  </a:schemeClr>
                </a:solidFill>
              </a:rPr>
              <a:t>Filling the missing values with the most common job would incorrectly label 1,843 people as “Prof-specialty”, which is a group with many high earners (44.9%).</a:t>
            </a:r>
            <a:r>
              <a:rPr lang="en-US" sz="1400" dirty="0">
                <a:solidFill>
                  <a:schemeClr val="tx1">
                    <a:lumMod val="50000"/>
                    <a:lumOff val="50000"/>
                  </a:schemeClr>
                </a:solidFill>
              </a:rPr>
              <a:t> </a:t>
            </a:r>
          </a:p>
          <a:p>
            <a:pPr marL="342900" indent="-342900">
              <a:spcAft>
                <a:spcPts val="600"/>
              </a:spcAft>
              <a:buSzPct val="100000"/>
              <a:buFontTx/>
              <a:buChar char="•"/>
            </a:pPr>
            <a:endParaRPr lang="en-US" sz="1400" dirty="0">
              <a:solidFill>
                <a:srgbClr val="1A2233"/>
              </a:solidFill>
              <a:latin typeface="Calibri" pitchFamily="34" charset="0"/>
              <a:ea typeface="Calibri" pitchFamily="34" charset="-122"/>
              <a:cs typeface="Calibri" pitchFamily="34" charset="-12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772400" cy="256032"/>
          </a:xfrm>
          <a:prstGeom prst="rect">
            <a:avLst/>
          </a:prstGeom>
          <a:noFill/>
          <a:ln/>
        </p:spPr>
        <p:txBody>
          <a:bodyPr wrap="square" lIns="0" tIns="0" rIns="0" bIns="0" rtlCol="0" anchor="ctr"/>
          <a:lstStyle/>
          <a:p>
            <a:pPr marL="0" indent="0">
              <a:buNone/>
            </a:pPr>
            <a:r>
              <a:rPr lang="en-US" sz="1100" b="1" kern="0" spc="200" dirty="0">
                <a:solidFill>
                  <a:srgbClr val="C08A2E"/>
                </a:solidFill>
                <a:latin typeface="Calibri" pitchFamily="34" charset="0"/>
                <a:ea typeface="Calibri" pitchFamily="34" charset="-122"/>
                <a:cs typeface="Calibri" pitchFamily="34" charset="-120"/>
              </a:rPr>
              <a:t>EXPLORATORY DATA ANALYSIS</a:t>
            </a:r>
            <a:endParaRPr lang="en-US" sz="1100" dirty="0"/>
          </a:p>
        </p:txBody>
      </p:sp>
      <p:sp>
        <p:nvSpPr>
          <p:cNvPr id="3" name="Text 1"/>
          <p:cNvSpPr txBox="1"/>
          <p:nvPr/>
        </p:nvSpPr>
        <p:spPr>
          <a:xfrm>
            <a:off x="426721" y="676150"/>
            <a:ext cx="6258560" cy="566928"/>
          </a:xfrm>
          <a:prstGeom prst="rect">
            <a:avLst/>
          </a:prstGeom>
          <a:noFill/>
          <a:ln/>
        </p:spPr>
        <p:txBody>
          <a:bodyPr wrap="square" lIns="0" tIns="0" rIns="0" bIns="0" rtlCol="0" anchor="ctr"/>
          <a:lstStyle/>
          <a:p>
            <a:pPr marL="0" indent="0">
              <a:buNone/>
            </a:pPr>
            <a:r>
              <a:rPr lang="en-US" sz="3000" b="1" dirty="0">
                <a:solidFill>
                  <a:srgbClr val="12233F"/>
                </a:solidFill>
                <a:latin typeface="Cambria" pitchFamily="34" charset="0"/>
                <a:ea typeface="Cambria" pitchFamily="34" charset="-122"/>
                <a:cs typeface="Cambria" pitchFamily="34" charset="-120"/>
              </a:rPr>
              <a:t>Key findings: categorical features</a:t>
            </a:r>
            <a:endParaRPr lang="en-US" sz="3000" dirty="0"/>
          </a:p>
        </p:txBody>
      </p:sp>
      <p:sp>
        <p:nvSpPr>
          <p:cNvPr id="6" name="Shape 3"/>
          <p:cNvSpPr/>
          <p:nvPr/>
        </p:nvSpPr>
        <p:spPr>
          <a:xfrm>
            <a:off x="416560" y="1551942"/>
            <a:ext cx="5486400" cy="4892040"/>
          </a:xfrm>
          <a:prstGeom prst="roundRect">
            <a:avLst>
              <a:gd name="adj" fmla="val 1308"/>
            </a:avLst>
          </a:prstGeom>
          <a:solidFill>
            <a:srgbClr val="EAF0F6"/>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18" name="TextBox 17">
            <a:extLst>
              <a:ext uri="{FF2B5EF4-FFF2-40B4-BE49-F238E27FC236}">
                <a16:creationId xmlns:a16="http://schemas.microsoft.com/office/drawing/2014/main" id="{E7D0F327-3560-2651-FC14-E4CB70A8B4A2}"/>
              </a:ext>
            </a:extLst>
          </p:cNvPr>
          <p:cNvSpPr txBox="1"/>
          <p:nvPr/>
        </p:nvSpPr>
        <p:spPr>
          <a:xfrm>
            <a:off x="579120" y="1602742"/>
            <a:ext cx="4378960" cy="3200876"/>
          </a:xfrm>
          <a:prstGeom prst="rect">
            <a:avLst/>
          </a:prstGeom>
          <a:noFill/>
        </p:spPr>
        <p:txBody>
          <a:bodyPr wrap="square">
            <a:spAutoFit/>
          </a:bodyPr>
          <a:lstStyle/>
          <a:p>
            <a:pPr marL="342900" lvl="0" indent="-342900">
              <a:buFont typeface="Arial" panose="020B0604020202020204" pitchFamily="34" charset="0"/>
              <a:buChar char="•"/>
            </a:pPr>
            <a:r>
              <a:rPr lang="en-US" sz="1400" b="1" dirty="0"/>
              <a:t>Marital status was the most important category related to income</a:t>
            </a:r>
            <a:r>
              <a:rPr lang="en-US" sz="1200" b="1" i="1" dirty="0">
                <a:solidFill>
                  <a:schemeClr val="bg2">
                    <a:lumMod val="50000"/>
                  </a:schemeClr>
                </a:solidFill>
              </a:rPr>
              <a:t>44.7% of married people earned above $50K , only 4.6% of people who were never married</a:t>
            </a:r>
            <a:r>
              <a:rPr lang="en-US" sz="1400" b="1" i="1" dirty="0">
                <a:solidFill>
                  <a:schemeClr val="bg2">
                    <a:lumMod val="50000"/>
                  </a:schemeClr>
                </a:solidFill>
              </a:rPr>
              <a:t>.</a:t>
            </a:r>
          </a:p>
          <a:p>
            <a:pPr lvl="0"/>
            <a:r>
              <a:rPr lang="en-US" sz="1400" i="1" dirty="0">
                <a:solidFill>
                  <a:schemeClr val="bg2">
                    <a:lumMod val="50000"/>
                  </a:schemeClr>
                </a:solidFill>
              </a:rPr>
              <a:t> </a:t>
            </a:r>
            <a:endParaRPr lang="en-US" sz="1400" dirty="0"/>
          </a:p>
          <a:p>
            <a:pPr marL="342900" lvl="0" indent="-342900">
              <a:buFont typeface="Arial" panose="020B0604020202020204" pitchFamily="34" charset="0"/>
              <a:buChar char="•"/>
            </a:pPr>
            <a:r>
              <a:rPr lang="en-US" sz="1400" b="1" dirty="0"/>
              <a:t>Occupation also showed a strong connection with income. </a:t>
            </a:r>
            <a:r>
              <a:rPr lang="en-US" sz="1200" b="1" i="1" dirty="0">
                <a:solidFill>
                  <a:schemeClr val="bg2">
                    <a:lumMod val="50000"/>
                  </a:schemeClr>
                </a:solidFill>
              </a:rPr>
              <a:t>The percentage of high earners varied from 0.7% in some jobs to 48.4% in managerial jobs.</a:t>
            </a:r>
            <a:r>
              <a:rPr lang="en-US" sz="1200" i="1" dirty="0">
                <a:solidFill>
                  <a:schemeClr val="bg2">
                    <a:lumMod val="50000"/>
                  </a:schemeClr>
                </a:solidFill>
              </a:rPr>
              <a:t> </a:t>
            </a:r>
          </a:p>
          <a:p>
            <a:pPr lvl="0"/>
            <a:endParaRPr lang="en-US" sz="1200" i="1" dirty="0">
              <a:solidFill>
                <a:schemeClr val="bg2">
                  <a:lumMod val="50000"/>
                </a:schemeClr>
              </a:solidFill>
            </a:endParaRPr>
          </a:p>
          <a:p>
            <a:pPr marL="342900" lvl="0" indent="-342900">
              <a:buFont typeface="Arial" panose="020B0604020202020204" pitchFamily="34" charset="0"/>
              <a:buChar char="•"/>
            </a:pPr>
            <a:r>
              <a:rPr lang="en-US" sz="1400" b="1" dirty="0"/>
              <a:t>People with unknown information had a different income pattern, </a:t>
            </a:r>
            <a:r>
              <a:rPr lang="en-US" sz="1200" b="1" i="1" dirty="0">
                <a:solidFill>
                  <a:schemeClr val="bg2">
                    <a:lumMod val="50000"/>
                  </a:schemeClr>
                </a:solidFill>
              </a:rPr>
              <a:t>with only 10.4% being high earners. This means the missing information still contained useful insights.</a:t>
            </a:r>
            <a:r>
              <a:rPr lang="en-US" sz="1200" i="1" dirty="0">
                <a:solidFill>
                  <a:schemeClr val="bg2">
                    <a:lumMod val="50000"/>
                  </a:schemeClr>
                </a:solidFill>
              </a:rPr>
              <a:t> </a:t>
            </a:r>
          </a:p>
          <a:p>
            <a:pPr lvl="0"/>
            <a:endParaRPr lang="en-US" sz="1400" dirty="0"/>
          </a:p>
          <a:p>
            <a:pPr marL="342900" lvl="0" indent="-342900">
              <a:buFont typeface="Arial" panose="020B0604020202020204" pitchFamily="34" charset="0"/>
              <a:buChar char="•"/>
            </a:pPr>
            <a:r>
              <a:rPr lang="en-US" sz="1400" b="1" dirty="0"/>
              <a:t>Relationship and marital status provide </a:t>
            </a:r>
            <a:r>
              <a:rPr lang="en-US" sz="1400" b="1" dirty="0">
                <a:solidFill>
                  <a:schemeClr val="tx1">
                    <a:lumMod val="50000"/>
                    <a:lumOff val="50000"/>
                  </a:schemeClr>
                </a:solidFill>
              </a:rPr>
              <a:t>similar</a:t>
            </a:r>
            <a:r>
              <a:rPr lang="en-US" sz="1400" b="1" dirty="0"/>
              <a:t> but different information. </a:t>
            </a:r>
            <a:endParaRPr lang="en-US" sz="1400" dirty="0"/>
          </a:p>
        </p:txBody>
      </p:sp>
      <p:sp>
        <p:nvSpPr>
          <p:cNvPr id="20" name="Text 1">
            <a:extLst>
              <a:ext uri="{FF2B5EF4-FFF2-40B4-BE49-F238E27FC236}">
                <a16:creationId xmlns:a16="http://schemas.microsoft.com/office/drawing/2014/main" id="{18647997-E3B0-B3DE-9421-46608E2AA67C}"/>
              </a:ext>
            </a:extLst>
          </p:cNvPr>
          <p:cNvSpPr txBox="1"/>
          <p:nvPr/>
        </p:nvSpPr>
        <p:spPr>
          <a:xfrm>
            <a:off x="7325360" y="755904"/>
            <a:ext cx="11094415" cy="566928"/>
          </a:xfrm>
          <a:prstGeom prst="rect">
            <a:avLst/>
          </a:prstGeom>
          <a:noFill/>
          <a:ln/>
        </p:spPr>
        <p:txBody>
          <a:bodyPr wrap="square" lIns="0" tIns="0" rIns="0" bIns="0" rtlCol="0" anchor="ctr"/>
          <a:lstStyle/>
          <a:p>
            <a:pPr marL="0" indent="0">
              <a:buNone/>
            </a:pPr>
            <a:r>
              <a:rPr lang="en-US" sz="2400" b="1" dirty="0">
                <a:solidFill>
                  <a:srgbClr val="12233F"/>
                </a:solidFill>
                <a:latin typeface="Cambria" pitchFamily="34" charset="0"/>
                <a:ea typeface="Cambria" pitchFamily="34" charset="-122"/>
                <a:cs typeface="Cambria" pitchFamily="34" charset="-120"/>
              </a:rPr>
              <a:t>Key findings: numerical features</a:t>
            </a:r>
            <a:endParaRPr lang="en-US" sz="2400" dirty="0"/>
          </a:p>
        </p:txBody>
      </p:sp>
      <p:sp>
        <p:nvSpPr>
          <p:cNvPr id="22" name="Shape 3">
            <a:extLst>
              <a:ext uri="{FF2B5EF4-FFF2-40B4-BE49-F238E27FC236}">
                <a16:creationId xmlns:a16="http://schemas.microsoft.com/office/drawing/2014/main" id="{58133B56-4A4E-E24D-6929-44A6F35D0C47}"/>
              </a:ext>
            </a:extLst>
          </p:cNvPr>
          <p:cNvSpPr/>
          <p:nvPr/>
        </p:nvSpPr>
        <p:spPr>
          <a:xfrm>
            <a:off x="6629400" y="1371600"/>
            <a:ext cx="5257800" cy="2514600"/>
          </a:xfrm>
          <a:prstGeom prst="roundRect">
            <a:avLst>
              <a:gd name="adj" fmla="val 2745"/>
            </a:avLst>
          </a:prstGeom>
          <a:solidFill>
            <a:srgbClr val="EAF0F6"/>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24" name="Text 4">
            <a:extLst>
              <a:ext uri="{FF2B5EF4-FFF2-40B4-BE49-F238E27FC236}">
                <a16:creationId xmlns:a16="http://schemas.microsoft.com/office/drawing/2014/main" id="{8BCB5774-4EC2-26CD-4A2E-9E2A13201AB3}"/>
              </a:ext>
            </a:extLst>
          </p:cNvPr>
          <p:cNvSpPr txBox="1"/>
          <p:nvPr/>
        </p:nvSpPr>
        <p:spPr>
          <a:xfrm>
            <a:off x="6858000" y="1423416"/>
            <a:ext cx="4754880" cy="274320"/>
          </a:xfrm>
          <a:prstGeom prst="rect">
            <a:avLst/>
          </a:prstGeom>
          <a:noFill/>
          <a:ln/>
        </p:spPr>
        <p:txBody>
          <a:bodyPr wrap="square" lIns="0" tIns="0" rIns="0" bIns="0" rtlCol="0" anchor="ctr"/>
          <a:lstStyle/>
          <a:p>
            <a:pPr marL="0" indent="0">
              <a:buNone/>
            </a:pPr>
            <a:r>
              <a:rPr lang="en-US" sz="1200" b="1" kern="0" spc="100" dirty="0">
                <a:solidFill>
                  <a:srgbClr val="C08A2E"/>
                </a:solidFill>
                <a:latin typeface="Calibri" pitchFamily="34" charset="0"/>
                <a:ea typeface="Calibri" pitchFamily="34" charset="-122"/>
                <a:cs typeface="Calibri" pitchFamily="34" charset="-120"/>
              </a:rPr>
              <a:t>CORRELATION WITH INCOME</a:t>
            </a:r>
            <a:endParaRPr lang="en-US" sz="1200" dirty="0"/>
          </a:p>
        </p:txBody>
      </p:sp>
      <p:sp>
        <p:nvSpPr>
          <p:cNvPr id="26" name="Text 5">
            <a:extLst>
              <a:ext uri="{FF2B5EF4-FFF2-40B4-BE49-F238E27FC236}">
                <a16:creationId xmlns:a16="http://schemas.microsoft.com/office/drawing/2014/main" id="{CAE0CC9E-C984-CCFF-DA59-C5DA9BD4B2D8}"/>
              </a:ext>
            </a:extLst>
          </p:cNvPr>
          <p:cNvSpPr txBox="1"/>
          <p:nvPr/>
        </p:nvSpPr>
        <p:spPr>
          <a:xfrm>
            <a:off x="6783845" y="1697736"/>
            <a:ext cx="4983480" cy="2115312"/>
          </a:xfrm>
          <a:prstGeom prst="rect">
            <a:avLst/>
          </a:prstGeom>
          <a:noFill/>
          <a:ln/>
        </p:spPr>
        <p:txBody>
          <a:bodyPr wrap="square" rtlCol="0" anchor="t"/>
          <a:lstStyle/>
          <a:p>
            <a:pPr lvl="0"/>
            <a:r>
              <a:rPr lang="en-US" sz="1400" b="1" dirty="0"/>
              <a:t>Education level had the strongest relationship with income, followed by age, working hours, and capital gain.</a:t>
            </a:r>
            <a:r>
              <a:rPr lang="en-US" sz="1400" dirty="0"/>
              <a:t> </a:t>
            </a:r>
          </a:p>
          <a:p>
            <a:pPr lvl="0"/>
            <a:endParaRPr lang="en-US" sz="1400" dirty="0"/>
          </a:p>
          <a:p>
            <a:pPr lvl="0"/>
            <a:r>
              <a:rPr lang="en-US" sz="1400" b="1" dirty="0"/>
              <a:t>The numerical factors were not strongly related to each other, so we did not find any repeated information that needed to be removed.</a:t>
            </a:r>
            <a:r>
              <a:rPr lang="en-US" sz="1400" dirty="0"/>
              <a:t> </a:t>
            </a:r>
          </a:p>
          <a:p>
            <a:pPr lvl="0"/>
            <a:endParaRPr lang="en-US" sz="1400" dirty="0"/>
          </a:p>
          <a:p>
            <a:pPr lvl="0"/>
            <a:r>
              <a:rPr lang="en-US" sz="1400" b="1" dirty="0">
                <a:solidFill>
                  <a:schemeClr val="tx1">
                    <a:lumMod val="50000"/>
                    <a:lumOff val="50000"/>
                  </a:schemeClr>
                </a:solidFill>
              </a:rPr>
              <a:t>The </a:t>
            </a:r>
            <a:r>
              <a:rPr lang="en-US" sz="1600" b="1" dirty="0" err="1">
                <a:solidFill>
                  <a:schemeClr val="tx1">
                    <a:lumMod val="50000"/>
                    <a:lumOff val="50000"/>
                  </a:schemeClr>
                </a:solidFill>
              </a:rPr>
              <a:t>fnlwgt</a:t>
            </a:r>
            <a:r>
              <a:rPr lang="en-US" sz="1400" b="1" dirty="0">
                <a:solidFill>
                  <a:schemeClr val="tx1">
                    <a:lumMod val="50000"/>
                    <a:lumOff val="50000"/>
                  </a:schemeClr>
                </a:solidFill>
              </a:rPr>
              <a:t> feature did not show any useful connection with income, so it was not considered helpful for prediction.</a:t>
            </a:r>
            <a:endParaRPr lang="en-US" sz="1400" dirty="0">
              <a:solidFill>
                <a:schemeClr val="tx1">
                  <a:lumMod val="50000"/>
                  <a:lumOff val="50000"/>
                </a:schemeClr>
              </a:solidFill>
            </a:endParaRPr>
          </a:p>
        </p:txBody>
      </p:sp>
      <p:sp>
        <p:nvSpPr>
          <p:cNvPr id="28" name="Shape 6">
            <a:extLst>
              <a:ext uri="{FF2B5EF4-FFF2-40B4-BE49-F238E27FC236}">
                <a16:creationId xmlns:a16="http://schemas.microsoft.com/office/drawing/2014/main" id="{D5391D82-DA18-D00B-06A9-4B3F666380C9}"/>
              </a:ext>
            </a:extLst>
          </p:cNvPr>
          <p:cNvSpPr/>
          <p:nvPr/>
        </p:nvSpPr>
        <p:spPr>
          <a:xfrm>
            <a:off x="6629400" y="4014722"/>
            <a:ext cx="5257800" cy="2532382"/>
          </a:xfrm>
          <a:prstGeom prst="roundRect">
            <a:avLst>
              <a:gd name="adj" fmla="val 2692"/>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30" name="Text 7">
            <a:extLst>
              <a:ext uri="{FF2B5EF4-FFF2-40B4-BE49-F238E27FC236}">
                <a16:creationId xmlns:a16="http://schemas.microsoft.com/office/drawing/2014/main" id="{D27FB817-DD22-FB86-94C0-7D150E5CA94F}"/>
              </a:ext>
            </a:extLst>
          </p:cNvPr>
          <p:cNvSpPr txBox="1"/>
          <p:nvPr/>
        </p:nvSpPr>
        <p:spPr>
          <a:xfrm>
            <a:off x="6858000" y="4174236"/>
            <a:ext cx="4754880" cy="274320"/>
          </a:xfrm>
          <a:prstGeom prst="rect">
            <a:avLst/>
          </a:prstGeom>
          <a:noFill/>
          <a:ln/>
        </p:spPr>
        <p:txBody>
          <a:bodyPr wrap="square" lIns="0" tIns="0" rIns="0" bIns="0" rtlCol="0" anchor="ctr"/>
          <a:lstStyle/>
          <a:p>
            <a:pPr marL="0" indent="0">
              <a:buNone/>
            </a:pPr>
            <a:r>
              <a:rPr lang="en-US" sz="1200" b="1" kern="0" spc="100" dirty="0">
                <a:solidFill>
                  <a:srgbClr val="2E7387"/>
                </a:solidFill>
                <a:latin typeface="Calibri" pitchFamily="34" charset="0"/>
                <a:ea typeface="Calibri" pitchFamily="34" charset="-122"/>
                <a:cs typeface="Calibri" pitchFamily="34" charset="-120"/>
              </a:rPr>
              <a:t>DECISIONS</a:t>
            </a:r>
            <a:endParaRPr lang="en-US" sz="1200" dirty="0"/>
          </a:p>
        </p:txBody>
      </p:sp>
      <p:sp>
        <p:nvSpPr>
          <p:cNvPr id="32" name="Text 8">
            <a:extLst>
              <a:ext uri="{FF2B5EF4-FFF2-40B4-BE49-F238E27FC236}">
                <a16:creationId xmlns:a16="http://schemas.microsoft.com/office/drawing/2014/main" id="{26A66BF1-80B1-4EE8-A1B9-0E357D054C01}"/>
              </a:ext>
            </a:extLst>
          </p:cNvPr>
          <p:cNvSpPr txBox="1"/>
          <p:nvPr/>
        </p:nvSpPr>
        <p:spPr>
          <a:xfrm>
            <a:off x="6789420" y="4448556"/>
            <a:ext cx="4977905" cy="1737360"/>
          </a:xfrm>
          <a:prstGeom prst="rect">
            <a:avLst/>
          </a:prstGeom>
          <a:noFill/>
          <a:ln/>
        </p:spPr>
        <p:txBody>
          <a:bodyPr wrap="square" rtlCol="0" anchor="t"/>
          <a:lstStyle/>
          <a:p>
            <a:pPr lvl="0"/>
            <a:r>
              <a:rPr lang="en-US" sz="1400" b="1" dirty="0"/>
              <a:t>We kept the unusual values (</a:t>
            </a:r>
            <a:r>
              <a:rPr lang="en-US" sz="1400" b="1" dirty="0">
                <a:solidFill>
                  <a:srgbClr val="FF0000"/>
                </a:solidFill>
              </a:rPr>
              <a:t>outliers</a:t>
            </a:r>
            <a:r>
              <a:rPr lang="en-US" sz="1400" b="1" dirty="0"/>
              <a:t>) because they represented real situations</a:t>
            </a:r>
            <a:r>
              <a:rPr lang="en-US" sz="1400" b="1" i="1" dirty="0">
                <a:solidFill>
                  <a:schemeClr val="bg2">
                    <a:lumMod val="50000"/>
                  </a:schemeClr>
                </a:solidFill>
              </a:rPr>
              <a:t>. </a:t>
            </a:r>
            <a:r>
              <a:rPr lang="en-US" sz="1200" b="1" i="1" dirty="0">
                <a:solidFill>
                  <a:schemeClr val="bg2">
                    <a:lumMod val="50000"/>
                  </a:schemeClr>
                </a:solidFill>
              </a:rPr>
              <a:t>For example, people working more than 52 hours had a much higher chance of earning above $50K (41.6% compared to 6.7%).</a:t>
            </a:r>
            <a:r>
              <a:rPr lang="en-US" sz="1200" i="1" dirty="0">
                <a:solidFill>
                  <a:schemeClr val="bg2">
                    <a:lumMod val="50000"/>
                  </a:schemeClr>
                </a:solidFill>
              </a:rPr>
              <a:t> </a:t>
            </a:r>
            <a:endParaRPr lang="en-US" sz="1400" i="1" dirty="0">
              <a:solidFill>
                <a:schemeClr val="bg2">
                  <a:lumMod val="50000"/>
                </a:schemeClr>
              </a:solidFill>
            </a:endParaRPr>
          </a:p>
          <a:p>
            <a:pPr lvl="0"/>
            <a:endParaRPr lang="en-US" sz="1400" dirty="0"/>
          </a:p>
          <a:p>
            <a:pPr lvl="0"/>
            <a:r>
              <a:rPr lang="en-US" sz="1400" b="1" dirty="0"/>
              <a:t>Capital gain and capital loss had very uneven values, but they were still useful. </a:t>
            </a:r>
            <a:r>
              <a:rPr lang="en-US" sz="1200" b="1" i="1" dirty="0">
                <a:solidFill>
                  <a:schemeClr val="tx1">
                    <a:lumMod val="50000"/>
                    <a:lumOff val="50000"/>
                  </a:schemeClr>
                </a:solidFill>
              </a:rPr>
              <a:t>People with any capital gain were much more likely to earn above $50K (61.8% compared to 20.7%), so we adjusted these values instead of removing them.</a:t>
            </a:r>
            <a:r>
              <a:rPr lang="ar-BH" sz="1200" b="1" i="1" dirty="0">
                <a:solidFill>
                  <a:schemeClr val="tx1">
                    <a:lumMod val="50000"/>
                    <a:lumOff val="50000"/>
                  </a:schemeClr>
                </a:solidFill>
              </a:rPr>
              <a:t>اللي سويته</a:t>
            </a:r>
            <a:endParaRPr lang="en-US" sz="1400" i="1" dirty="0">
              <a:solidFill>
                <a:schemeClr val="tx1">
                  <a:lumMod val="50000"/>
                  <a:lumOff val="5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4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772400" cy="256032"/>
          </a:xfrm>
          <a:prstGeom prst="rect">
            <a:avLst/>
          </a:prstGeom>
          <a:noFill/>
          <a:ln/>
        </p:spPr>
        <p:txBody>
          <a:bodyPr wrap="square" lIns="0" tIns="0" rIns="0" bIns="0" rtlCol="0" anchor="ctr"/>
          <a:lstStyle/>
          <a:p>
            <a:pPr marL="0" indent="0">
              <a:buNone/>
            </a:pPr>
            <a:r>
              <a:rPr lang="en-US" sz="1100" b="1" kern="0" spc="200" dirty="0">
                <a:solidFill>
                  <a:srgbClr val="C08A2E"/>
                </a:solidFill>
                <a:latin typeface="Calibri" pitchFamily="34" charset="0"/>
                <a:ea typeface="Calibri" pitchFamily="34" charset="-122"/>
                <a:cs typeface="Calibri" pitchFamily="34" charset="-120"/>
              </a:rPr>
              <a:t>MODELING APPROACH</a:t>
            </a:r>
            <a:endParaRPr lang="en-US" sz="1100" dirty="0"/>
          </a:p>
        </p:txBody>
      </p:sp>
      <p:sp>
        <p:nvSpPr>
          <p:cNvPr id="3" name="Text 1"/>
          <p:cNvSpPr txBox="1"/>
          <p:nvPr/>
        </p:nvSpPr>
        <p:spPr>
          <a:xfrm>
            <a:off x="548640" y="603504"/>
            <a:ext cx="11094415" cy="566928"/>
          </a:xfrm>
          <a:prstGeom prst="rect">
            <a:avLst/>
          </a:prstGeom>
          <a:noFill/>
          <a:ln/>
        </p:spPr>
        <p:txBody>
          <a:bodyPr wrap="square" lIns="0" tIns="0" rIns="0" bIns="0" rtlCol="0" anchor="ctr"/>
          <a:lstStyle/>
          <a:p>
            <a:pPr marL="0" indent="0">
              <a:buNone/>
            </a:pPr>
            <a:r>
              <a:rPr lang="en-US" sz="3000" b="1" dirty="0">
                <a:solidFill>
                  <a:srgbClr val="12233F"/>
                </a:solidFill>
                <a:latin typeface="Cambria" pitchFamily="34" charset="0"/>
                <a:ea typeface="Cambria" pitchFamily="34" charset="-122"/>
                <a:cs typeface="Cambria" pitchFamily="34" charset="-120"/>
              </a:rPr>
              <a:t>From raw data to a trained model</a:t>
            </a:r>
            <a:endParaRPr lang="en-US" sz="3000" dirty="0"/>
          </a:p>
        </p:txBody>
      </p:sp>
      <p:sp>
        <p:nvSpPr>
          <p:cNvPr id="4" name="Shape 2"/>
          <p:cNvSpPr/>
          <p:nvPr/>
        </p:nvSpPr>
        <p:spPr>
          <a:xfrm>
            <a:off x="548640" y="1371600"/>
            <a:ext cx="5532120" cy="1536192"/>
          </a:xfrm>
          <a:prstGeom prst="roundRect">
            <a:avLst>
              <a:gd name="adj" fmla="val 4667"/>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5" name="Shape 3"/>
          <p:cNvSpPr/>
          <p:nvPr/>
        </p:nvSpPr>
        <p:spPr>
          <a:xfrm>
            <a:off x="804672" y="1755648"/>
            <a:ext cx="566928" cy="566928"/>
          </a:xfrm>
          <a:prstGeom prst="ellipse">
            <a:avLst/>
          </a:prstGeom>
          <a:solidFill>
            <a:srgbClr val="1E3A5F"/>
          </a:solidFill>
          <a:ln w="12700">
            <a:solidFill>
              <a:srgbClr val="1E3A5F"/>
            </a:solidFill>
            <a:prstDash val="solid"/>
          </a:ln>
        </p:spPr>
        <p:txBody>
          <a:bodyPr/>
          <a:lstStyle/>
          <a:p>
            <a:endParaRPr lang="en-US"/>
          </a:p>
        </p:txBody>
      </p:sp>
      <p:sp>
        <p:nvSpPr>
          <p:cNvPr id="6" name="Text 4"/>
          <p:cNvSpPr txBox="1"/>
          <p:nvPr/>
        </p:nvSpPr>
        <p:spPr>
          <a:xfrm>
            <a:off x="804672" y="1810512"/>
            <a:ext cx="566928"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508760" y="1479176"/>
            <a:ext cx="4389120" cy="329184"/>
          </a:xfrm>
          <a:prstGeom prst="rect">
            <a:avLst/>
          </a:prstGeom>
          <a:noFill/>
          <a:ln/>
        </p:spPr>
        <p:txBody>
          <a:bodyPr wrap="square" lIns="0" tIns="0" rIns="0" bIns="0" rtlCol="0" anchor="ctr"/>
          <a:lstStyle/>
          <a:p>
            <a:r>
              <a:rPr lang="en-US" sz="1500" b="1" dirty="0">
                <a:solidFill>
                  <a:srgbClr val="12233F"/>
                </a:solidFill>
                <a:latin typeface="Calibri" pitchFamily="34" charset="0"/>
                <a:ea typeface="Calibri" pitchFamily="34" charset="-122"/>
                <a:cs typeface="Calibri" pitchFamily="34" charset="-120"/>
              </a:rPr>
              <a:t>12 features selected - </a:t>
            </a:r>
            <a:r>
              <a:rPr lang="en-US" sz="1600" dirty="0">
                <a:solidFill>
                  <a:srgbClr val="5D6B80"/>
                </a:solidFill>
                <a:ea typeface="Calibri" pitchFamily="34" charset="-122"/>
                <a:cs typeface="Calibri" pitchFamily="34" charset="-120"/>
              </a:rPr>
              <a:t>5 numerical and 7 categorical</a:t>
            </a:r>
          </a:p>
        </p:txBody>
      </p:sp>
      <p:sp>
        <p:nvSpPr>
          <p:cNvPr id="9" name="Shape 7"/>
          <p:cNvSpPr/>
          <p:nvPr/>
        </p:nvSpPr>
        <p:spPr>
          <a:xfrm>
            <a:off x="6355080" y="1371600"/>
            <a:ext cx="5532120" cy="1545336"/>
          </a:xfrm>
          <a:prstGeom prst="roundRect">
            <a:avLst>
              <a:gd name="adj" fmla="val 4667"/>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10" name="Shape 8"/>
          <p:cNvSpPr/>
          <p:nvPr/>
        </p:nvSpPr>
        <p:spPr>
          <a:xfrm>
            <a:off x="6611112" y="1755648"/>
            <a:ext cx="566928" cy="566928"/>
          </a:xfrm>
          <a:prstGeom prst="ellipse">
            <a:avLst/>
          </a:prstGeom>
          <a:solidFill>
            <a:srgbClr val="1E3A5F"/>
          </a:solidFill>
          <a:ln w="12700">
            <a:solidFill>
              <a:srgbClr val="1E3A5F"/>
            </a:solidFill>
            <a:prstDash val="solid"/>
          </a:ln>
        </p:spPr>
        <p:txBody>
          <a:bodyPr/>
          <a:lstStyle/>
          <a:p>
            <a:endParaRPr lang="en-US"/>
          </a:p>
        </p:txBody>
      </p:sp>
      <p:sp>
        <p:nvSpPr>
          <p:cNvPr id="11" name="Text 9"/>
          <p:cNvSpPr txBox="1"/>
          <p:nvPr/>
        </p:nvSpPr>
        <p:spPr>
          <a:xfrm>
            <a:off x="6611112" y="1810512"/>
            <a:ext cx="566928"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7315200" y="1591056"/>
            <a:ext cx="4389120" cy="329184"/>
          </a:xfrm>
          <a:prstGeom prst="rect">
            <a:avLst/>
          </a:prstGeom>
          <a:noFill/>
          <a:ln/>
        </p:spPr>
        <p:txBody>
          <a:bodyPr wrap="square" lIns="0" tIns="0" rIns="0" bIns="0" rtlCol="0" anchor="ctr"/>
          <a:lstStyle/>
          <a:p>
            <a:r>
              <a:rPr lang="en-US" sz="1600" dirty="0"/>
              <a:t>Log transformation</a:t>
            </a:r>
            <a:r>
              <a:rPr lang="en-US" sz="1500" b="1" dirty="0">
                <a:solidFill>
                  <a:srgbClr val="12233F"/>
                </a:solidFill>
                <a:latin typeface="Calibri" pitchFamily="34" charset="0"/>
                <a:ea typeface="Calibri" pitchFamily="34" charset="-122"/>
                <a:cs typeface="Calibri" pitchFamily="34" charset="-120"/>
              </a:rPr>
              <a:t> on capital columns</a:t>
            </a:r>
            <a:endParaRPr lang="en-US" sz="1500" dirty="0"/>
          </a:p>
        </p:txBody>
      </p:sp>
      <p:sp>
        <p:nvSpPr>
          <p:cNvPr id="13" name="Text 11"/>
          <p:cNvSpPr txBox="1"/>
          <p:nvPr/>
        </p:nvSpPr>
        <p:spPr>
          <a:xfrm>
            <a:off x="7315200" y="1920240"/>
            <a:ext cx="4389120" cy="875792"/>
          </a:xfrm>
          <a:prstGeom prst="rect">
            <a:avLst/>
          </a:prstGeom>
          <a:noFill/>
          <a:ln/>
        </p:spPr>
        <p:txBody>
          <a:bodyPr wrap="square" lIns="0" tIns="0" rIns="0" bIns="0" rtlCol="0" anchor="ctr"/>
          <a:lstStyle/>
          <a:p>
            <a:pPr marL="0" indent="0">
              <a:buNone/>
            </a:pPr>
            <a:r>
              <a:rPr lang="en-US" sz="1200" b="1" dirty="0">
                <a:solidFill>
                  <a:srgbClr val="5D6B80"/>
                </a:solidFill>
                <a:latin typeface="Calibri" pitchFamily="34" charset="0"/>
                <a:ea typeface="Calibri" pitchFamily="34" charset="-122"/>
                <a:cs typeface="Calibri" pitchFamily="34" charset="-120"/>
              </a:rPr>
              <a:t>Reduces skewness</a:t>
            </a:r>
          </a:p>
          <a:p>
            <a:r>
              <a:rPr lang="en-US" sz="1200" dirty="0"/>
              <a:t>Some financial values were very different from each other, so we adjusted them to make the data easier for the model to understand while keeping the important information.</a:t>
            </a:r>
          </a:p>
          <a:p>
            <a:pPr marL="0" indent="0">
              <a:buNone/>
            </a:pPr>
            <a:endParaRPr lang="en-US" sz="1200" dirty="0"/>
          </a:p>
        </p:txBody>
      </p:sp>
      <p:sp>
        <p:nvSpPr>
          <p:cNvPr id="14" name="Shape 12"/>
          <p:cNvSpPr/>
          <p:nvPr/>
        </p:nvSpPr>
        <p:spPr>
          <a:xfrm>
            <a:off x="548640" y="2926080"/>
            <a:ext cx="5532120" cy="1371600"/>
          </a:xfrm>
          <a:prstGeom prst="roundRect">
            <a:avLst>
              <a:gd name="adj" fmla="val 4667"/>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15" name="Shape 13"/>
          <p:cNvSpPr/>
          <p:nvPr/>
        </p:nvSpPr>
        <p:spPr>
          <a:xfrm>
            <a:off x="804672" y="3310128"/>
            <a:ext cx="566928" cy="566928"/>
          </a:xfrm>
          <a:prstGeom prst="ellipse">
            <a:avLst/>
          </a:prstGeom>
          <a:solidFill>
            <a:srgbClr val="1E3A5F"/>
          </a:solidFill>
          <a:ln w="12700">
            <a:solidFill>
              <a:srgbClr val="1E3A5F"/>
            </a:solidFill>
            <a:prstDash val="solid"/>
          </a:ln>
        </p:spPr>
        <p:txBody>
          <a:bodyPr/>
          <a:lstStyle/>
          <a:p>
            <a:endParaRPr lang="en-US"/>
          </a:p>
        </p:txBody>
      </p:sp>
      <p:sp>
        <p:nvSpPr>
          <p:cNvPr id="16" name="Text 14"/>
          <p:cNvSpPr txBox="1"/>
          <p:nvPr/>
        </p:nvSpPr>
        <p:spPr>
          <a:xfrm>
            <a:off x="804672" y="3364992"/>
            <a:ext cx="566928"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1508759" y="2993028"/>
            <a:ext cx="4389120" cy="329184"/>
          </a:xfrm>
          <a:prstGeom prst="rect">
            <a:avLst/>
          </a:prstGeom>
          <a:noFill/>
          <a:ln/>
        </p:spPr>
        <p:txBody>
          <a:bodyPr wrap="square" lIns="0" tIns="0" rIns="0" bIns="0" rtlCol="0" anchor="ctr"/>
          <a:lstStyle/>
          <a:p>
            <a:pPr marL="0" indent="0">
              <a:buNone/>
            </a:pPr>
            <a:r>
              <a:rPr lang="en-US" sz="1500" b="1" dirty="0">
                <a:solidFill>
                  <a:srgbClr val="12233F"/>
                </a:solidFill>
                <a:latin typeface="Calibri" pitchFamily="34" charset="0"/>
                <a:ea typeface="Calibri" pitchFamily="34" charset="-122"/>
                <a:cs typeface="Calibri" pitchFamily="34" charset="-120"/>
              </a:rPr>
              <a:t>One hot encoding → 44 columns</a:t>
            </a:r>
            <a:endParaRPr lang="en-US" sz="1500" dirty="0"/>
          </a:p>
        </p:txBody>
      </p:sp>
      <p:sp>
        <p:nvSpPr>
          <p:cNvPr id="18" name="Text 16"/>
          <p:cNvSpPr txBox="1"/>
          <p:nvPr/>
        </p:nvSpPr>
        <p:spPr>
          <a:xfrm>
            <a:off x="1508759" y="3471618"/>
            <a:ext cx="4389120" cy="713232"/>
          </a:xfrm>
          <a:prstGeom prst="rect">
            <a:avLst/>
          </a:prstGeom>
          <a:noFill/>
          <a:ln/>
        </p:spPr>
        <p:txBody>
          <a:bodyPr wrap="square" lIns="0" tIns="0" rIns="0" bIns="0" rtlCol="0" anchor="ctr"/>
          <a:lstStyle/>
          <a:p>
            <a:r>
              <a:rPr lang="en-US" sz="1000" b="1" dirty="0"/>
              <a:t>Converting categories into numbers</a:t>
            </a:r>
            <a:br>
              <a:rPr lang="en-US" sz="1000" dirty="0"/>
            </a:br>
            <a:r>
              <a:rPr lang="en-US" sz="1000" dirty="0">
                <a:solidFill>
                  <a:schemeClr val="tx1">
                    <a:lumMod val="50000"/>
                    <a:lumOff val="50000"/>
                  </a:schemeClr>
                </a:solidFill>
              </a:rPr>
              <a:t>The model cannot understand words like:</a:t>
            </a:r>
          </a:p>
          <a:p>
            <a:pPr lvl="0"/>
            <a:r>
              <a:rPr lang="en-US" sz="1000" dirty="0">
                <a:solidFill>
                  <a:schemeClr val="tx1">
                    <a:lumMod val="50000"/>
                    <a:lumOff val="50000"/>
                  </a:schemeClr>
                </a:solidFill>
              </a:rPr>
              <a:t>Married </a:t>
            </a:r>
          </a:p>
          <a:p>
            <a:pPr lvl="0"/>
            <a:r>
              <a:rPr lang="en-US" sz="1000" dirty="0">
                <a:solidFill>
                  <a:schemeClr val="tx1">
                    <a:lumMod val="50000"/>
                    <a:lumOff val="50000"/>
                  </a:schemeClr>
                </a:solidFill>
              </a:rPr>
              <a:t>Private job </a:t>
            </a:r>
          </a:p>
          <a:p>
            <a:pPr lvl="0"/>
            <a:r>
              <a:rPr lang="en-US" sz="1000" dirty="0">
                <a:solidFill>
                  <a:schemeClr val="tx1">
                    <a:lumMod val="50000"/>
                    <a:lumOff val="50000"/>
                  </a:schemeClr>
                </a:solidFill>
              </a:rPr>
              <a:t>Government job </a:t>
            </a:r>
          </a:p>
          <a:p>
            <a:r>
              <a:rPr lang="en-US" sz="1000" dirty="0">
                <a:solidFill>
                  <a:schemeClr val="tx1">
                    <a:lumMod val="50000"/>
                    <a:lumOff val="50000"/>
                  </a:schemeClr>
                </a:solidFill>
              </a:rPr>
              <a:t>So, we converted these categories into numbers that the model can use</a:t>
            </a:r>
            <a:r>
              <a:rPr lang="en-US" sz="1000" dirty="0"/>
              <a:t>.</a:t>
            </a:r>
          </a:p>
          <a:p>
            <a:endParaRPr lang="en-US" sz="1000" dirty="0"/>
          </a:p>
        </p:txBody>
      </p:sp>
      <p:sp>
        <p:nvSpPr>
          <p:cNvPr id="19" name="Shape 17"/>
          <p:cNvSpPr/>
          <p:nvPr/>
        </p:nvSpPr>
        <p:spPr>
          <a:xfrm>
            <a:off x="6355080" y="2926080"/>
            <a:ext cx="5532120" cy="1371600"/>
          </a:xfrm>
          <a:prstGeom prst="roundRect">
            <a:avLst>
              <a:gd name="adj" fmla="val 4667"/>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20" name="Shape 18"/>
          <p:cNvSpPr/>
          <p:nvPr/>
        </p:nvSpPr>
        <p:spPr>
          <a:xfrm>
            <a:off x="6611112" y="3310128"/>
            <a:ext cx="566928" cy="566928"/>
          </a:xfrm>
          <a:prstGeom prst="ellipse">
            <a:avLst/>
          </a:prstGeom>
          <a:solidFill>
            <a:srgbClr val="1E3A5F"/>
          </a:solidFill>
          <a:ln w="12700">
            <a:solidFill>
              <a:srgbClr val="1E3A5F"/>
            </a:solidFill>
            <a:prstDash val="solid"/>
          </a:ln>
        </p:spPr>
        <p:txBody>
          <a:bodyPr/>
          <a:lstStyle/>
          <a:p>
            <a:endParaRPr lang="en-US"/>
          </a:p>
        </p:txBody>
      </p:sp>
      <p:sp>
        <p:nvSpPr>
          <p:cNvPr id="21" name="Text 19"/>
          <p:cNvSpPr txBox="1"/>
          <p:nvPr/>
        </p:nvSpPr>
        <p:spPr>
          <a:xfrm>
            <a:off x="6611112" y="3364992"/>
            <a:ext cx="566928"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Text 20"/>
          <p:cNvSpPr txBox="1"/>
          <p:nvPr/>
        </p:nvSpPr>
        <p:spPr>
          <a:xfrm>
            <a:off x="7315200" y="3145536"/>
            <a:ext cx="4389120" cy="329184"/>
          </a:xfrm>
          <a:prstGeom prst="rect">
            <a:avLst/>
          </a:prstGeom>
          <a:noFill/>
          <a:ln/>
        </p:spPr>
        <p:txBody>
          <a:bodyPr wrap="square" lIns="0" tIns="0" rIns="0" bIns="0" rtlCol="0" anchor="ctr"/>
          <a:lstStyle/>
          <a:p>
            <a:pPr marL="0" indent="0">
              <a:buNone/>
            </a:pPr>
            <a:r>
              <a:rPr lang="en-US" sz="1500" b="1" dirty="0">
                <a:solidFill>
                  <a:srgbClr val="12233F"/>
                </a:solidFill>
                <a:latin typeface="Calibri" pitchFamily="34" charset="0"/>
                <a:ea typeface="Calibri" pitchFamily="34" charset="-122"/>
                <a:cs typeface="Calibri" pitchFamily="34" charset="-120"/>
              </a:rPr>
              <a:t>Stratified 80 / 20 split</a:t>
            </a:r>
            <a:endParaRPr lang="en-US" sz="1500" dirty="0"/>
          </a:p>
        </p:txBody>
      </p:sp>
      <p:sp>
        <p:nvSpPr>
          <p:cNvPr id="23" name="Text 21"/>
          <p:cNvSpPr txBox="1"/>
          <p:nvPr/>
        </p:nvSpPr>
        <p:spPr>
          <a:xfrm>
            <a:off x="7315200" y="3493008"/>
            <a:ext cx="4389120" cy="713232"/>
          </a:xfrm>
          <a:prstGeom prst="rect">
            <a:avLst/>
          </a:prstGeom>
          <a:noFill/>
          <a:ln/>
        </p:spPr>
        <p:txBody>
          <a:bodyPr wrap="square" lIns="0" tIns="0" rIns="0" bIns="0" rtlCol="0" anchor="ctr"/>
          <a:lstStyle/>
          <a:p>
            <a:r>
              <a:rPr lang="en-US" sz="1200" dirty="0"/>
              <a:t>We split the data into two parts:</a:t>
            </a:r>
          </a:p>
          <a:p>
            <a:pPr lvl="0"/>
            <a:r>
              <a:rPr lang="en-US" sz="1200" b="1" dirty="0"/>
              <a:t>80%</a:t>
            </a:r>
            <a:r>
              <a:rPr lang="en-US" sz="1200" dirty="0"/>
              <a:t> to teach the model. </a:t>
            </a:r>
          </a:p>
          <a:p>
            <a:pPr lvl="0"/>
            <a:r>
              <a:rPr lang="en-US" sz="1200" b="1" dirty="0"/>
              <a:t>20%</a:t>
            </a:r>
            <a:r>
              <a:rPr lang="en-US" sz="1200" dirty="0"/>
              <a:t> to test how well it works on new people.</a:t>
            </a:r>
          </a:p>
        </p:txBody>
      </p:sp>
      <p:sp>
        <p:nvSpPr>
          <p:cNvPr id="24" name="Shape 22"/>
          <p:cNvSpPr/>
          <p:nvPr/>
        </p:nvSpPr>
        <p:spPr>
          <a:xfrm>
            <a:off x="548640" y="4480560"/>
            <a:ext cx="5532120" cy="1371600"/>
          </a:xfrm>
          <a:prstGeom prst="roundRect">
            <a:avLst>
              <a:gd name="adj" fmla="val 4667"/>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25" name="Shape 23"/>
          <p:cNvSpPr/>
          <p:nvPr/>
        </p:nvSpPr>
        <p:spPr>
          <a:xfrm>
            <a:off x="804672" y="4864608"/>
            <a:ext cx="566928" cy="566928"/>
          </a:xfrm>
          <a:prstGeom prst="ellipse">
            <a:avLst/>
          </a:prstGeom>
          <a:solidFill>
            <a:srgbClr val="1E3A5F"/>
          </a:solidFill>
          <a:ln w="12700">
            <a:solidFill>
              <a:srgbClr val="1E3A5F"/>
            </a:solidFill>
            <a:prstDash val="solid"/>
          </a:ln>
        </p:spPr>
        <p:txBody>
          <a:bodyPr/>
          <a:lstStyle/>
          <a:p>
            <a:endParaRPr lang="en-US"/>
          </a:p>
        </p:txBody>
      </p:sp>
      <p:sp>
        <p:nvSpPr>
          <p:cNvPr id="26" name="Text 24"/>
          <p:cNvSpPr txBox="1"/>
          <p:nvPr/>
        </p:nvSpPr>
        <p:spPr>
          <a:xfrm>
            <a:off x="804672" y="4919472"/>
            <a:ext cx="566928"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7" name="Text 25"/>
          <p:cNvSpPr txBox="1"/>
          <p:nvPr/>
        </p:nvSpPr>
        <p:spPr>
          <a:xfrm>
            <a:off x="1508760" y="4477404"/>
            <a:ext cx="4389120" cy="329184"/>
          </a:xfrm>
          <a:prstGeom prst="rect">
            <a:avLst/>
          </a:prstGeom>
          <a:noFill/>
          <a:ln/>
        </p:spPr>
        <p:txBody>
          <a:bodyPr wrap="square" lIns="0" tIns="0" rIns="0" bIns="0" rtlCol="0" anchor="ctr"/>
          <a:lstStyle/>
          <a:p>
            <a:pPr marL="0" indent="0">
              <a:buNone/>
            </a:pPr>
            <a:r>
              <a:rPr lang="en-US" sz="1500" b="1" dirty="0">
                <a:solidFill>
                  <a:srgbClr val="12233F"/>
                </a:solidFill>
                <a:latin typeface="Calibri" pitchFamily="34" charset="0"/>
                <a:ea typeface="Calibri" pitchFamily="34" charset="-122"/>
                <a:cs typeface="Calibri" pitchFamily="34" charset="-120"/>
              </a:rPr>
              <a:t>Scaling inside a Pipeline</a:t>
            </a:r>
            <a:endParaRPr lang="en-US" sz="1500" dirty="0"/>
          </a:p>
        </p:txBody>
      </p:sp>
      <p:sp>
        <p:nvSpPr>
          <p:cNvPr id="28" name="Text 26"/>
          <p:cNvSpPr txBox="1"/>
          <p:nvPr/>
        </p:nvSpPr>
        <p:spPr>
          <a:xfrm>
            <a:off x="1508759" y="4753924"/>
            <a:ext cx="4389120" cy="1098236"/>
          </a:xfrm>
          <a:prstGeom prst="rect">
            <a:avLst/>
          </a:prstGeom>
          <a:noFill/>
          <a:ln/>
        </p:spPr>
        <p:txBody>
          <a:bodyPr wrap="square" lIns="0" tIns="0" rIns="0" bIns="0" rtlCol="0" anchor="ctr"/>
          <a:lstStyle/>
          <a:p>
            <a:r>
              <a:rPr lang="en-US" sz="1200" dirty="0"/>
              <a:t>Some values were much larger than others, so we adjusted them to a similar range to prevent one type of information from dominating the model.</a:t>
            </a:r>
          </a:p>
        </p:txBody>
      </p:sp>
      <p:sp>
        <p:nvSpPr>
          <p:cNvPr id="29" name="Shape 27"/>
          <p:cNvSpPr/>
          <p:nvPr/>
        </p:nvSpPr>
        <p:spPr>
          <a:xfrm>
            <a:off x="6355080" y="4480560"/>
            <a:ext cx="5532120" cy="1371600"/>
          </a:xfrm>
          <a:prstGeom prst="roundRect">
            <a:avLst>
              <a:gd name="adj" fmla="val 4667"/>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30" name="Shape 28"/>
          <p:cNvSpPr/>
          <p:nvPr/>
        </p:nvSpPr>
        <p:spPr>
          <a:xfrm>
            <a:off x="6611112" y="4864608"/>
            <a:ext cx="566928" cy="566928"/>
          </a:xfrm>
          <a:prstGeom prst="ellipse">
            <a:avLst/>
          </a:prstGeom>
          <a:solidFill>
            <a:srgbClr val="C08A2E"/>
          </a:solidFill>
          <a:ln w="12700">
            <a:solidFill>
              <a:srgbClr val="C08A2E"/>
            </a:solidFill>
            <a:prstDash val="solid"/>
          </a:ln>
        </p:spPr>
        <p:txBody>
          <a:bodyPr/>
          <a:lstStyle/>
          <a:p>
            <a:endParaRPr lang="en-US"/>
          </a:p>
        </p:txBody>
      </p:sp>
      <p:sp>
        <p:nvSpPr>
          <p:cNvPr id="31" name="Text 29"/>
          <p:cNvSpPr txBox="1"/>
          <p:nvPr/>
        </p:nvSpPr>
        <p:spPr>
          <a:xfrm>
            <a:off x="6611112" y="4919472"/>
            <a:ext cx="566928"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32" name="Text 30"/>
          <p:cNvSpPr txBox="1"/>
          <p:nvPr/>
        </p:nvSpPr>
        <p:spPr>
          <a:xfrm>
            <a:off x="7315200" y="4700016"/>
            <a:ext cx="4389120" cy="329184"/>
          </a:xfrm>
          <a:prstGeom prst="rect">
            <a:avLst/>
          </a:prstGeom>
          <a:noFill/>
          <a:ln/>
        </p:spPr>
        <p:txBody>
          <a:bodyPr wrap="square" lIns="0" tIns="0" rIns="0" bIns="0" rtlCol="0" anchor="ctr"/>
          <a:lstStyle/>
          <a:p>
            <a:pPr marL="0" indent="0">
              <a:buNone/>
            </a:pPr>
            <a:r>
              <a:rPr lang="en-US" sz="1500" b="1" dirty="0">
                <a:solidFill>
                  <a:srgbClr val="12233F"/>
                </a:solidFill>
                <a:latin typeface="Calibri" pitchFamily="34" charset="0"/>
                <a:ea typeface="Calibri" pitchFamily="34" charset="-122"/>
                <a:cs typeface="Calibri" pitchFamily="34" charset="-120"/>
              </a:rPr>
              <a:t>GridSearchCV on roc_auc</a:t>
            </a:r>
            <a:endParaRPr lang="en-US" sz="1500" dirty="0"/>
          </a:p>
        </p:txBody>
      </p:sp>
      <p:sp>
        <p:nvSpPr>
          <p:cNvPr id="33" name="Text 31"/>
          <p:cNvSpPr txBox="1"/>
          <p:nvPr/>
        </p:nvSpPr>
        <p:spPr>
          <a:xfrm>
            <a:off x="7315200" y="5047488"/>
            <a:ext cx="4389120" cy="713232"/>
          </a:xfrm>
          <a:prstGeom prst="rect">
            <a:avLst/>
          </a:prstGeom>
          <a:noFill/>
          <a:ln/>
        </p:spPr>
        <p:txBody>
          <a:bodyPr wrap="square" lIns="0" tIns="0" rIns="0" bIns="0" rtlCol="0" anchor="ctr"/>
          <a:lstStyle/>
          <a:p>
            <a:r>
              <a:rPr lang="en-US" sz="1200" b="1" dirty="0"/>
              <a:t>Choosing the best settings</a:t>
            </a:r>
          </a:p>
          <a:p>
            <a:r>
              <a:rPr lang="en-US" sz="1200" dirty="0"/>
              <a:t>We tested different model settings and selected the ones that gave the best results.</a:t>
            </a:r>
          </a:p>
        </p:txBody>
      </p:sp>
      <p:sp>
        <p:nvSpPr>
          <p:cNvPr id="34" name="Text 32"/>
          <p:cNvSpPr txBox="1"/>
          <p:nvPr/>
        </p:nvSpPr>
        <p:spPr>
          <a:xfrm>
            <a:off x="548640" y="6080760"/>
            <a:ext cx="11094415" cy="502920"/>
          </a:xfrm>
          <a:prstGeom prst="rect">
            <a:avLst/>
          </a:prstGeom>
          <a:noFill/>
          <a:ln/>
        </p:spPr>
        <p:txBody>
          <a:bodyPr wrap="square" lIns="0" tIns="0" rIns="0" bIns="0" rtlCol="0" anchor="ctr"/>
          <a:lstStyle/>
          <a:p>
            <a:pPr marL="0" indent="0">
              <a:buNone/>
            </a:pPr>
            <a:r>
              <a:rPr lang="en-US" sz="1250" i="1" dirty="0">
                <a:solidFill>
                  <a:srgbClr val="5D6B80"/>
                </a:solidFill>
                <a:latin typeface="Calibri" pitchFamily="34" charset="0"/>
                <a:ea typeface="Calibri" pitchFamily="34" charset="-122"/>
                <a:cs typeface="Calibri" pitchFamily="34" charset="-120"/>
              </a:rPr>
              <a:t>Primary metric: ROC-AUC — it measures how well a model ranks individuals by likelihood, independently of any threshold. Accuracy, precision, recall, F1 and the confusion matrix are reported for every model.</a:t>
            </a:r>
            <a:endParaRPr lang="en-US" sz="1250" dirty="0"/>
          </a:p>
        </p:txBody>
      </p:sp>
      <p:sp>
        <p:nvSpPr>
          <p:cNvPr id="43" name="TextBox 42">
            <a:extLst>
              <a:ext uri="{FF2B5EF4-FFF2-40B4-BE49-F238E27FC236}">
                <a16:creationId xmlns:a16="http://schemas.microsoft.com/office/drawing/2014/main" id="{E406259D-5963-C1B4-91CA-A906839134A2}"/>
              </a:ext>
            </a:extLst>
          </p:cNvPr>
          <p:cNvSpPr txBox="1"/>
          <p:nvPr/>
        </p:nvSpPr>
        <p:spPr>
          <a:xfrm>
            <a:off x="1508760" y="1878356"/>
            <a:ext cx="4477871" cy="851515"/>
          </a:xfrm>
          <a:prstGeom prst="rect">
            <a:avLst/>
          </a:prstGeom>
          <a:noFill/>
        </p:spPr>
        <p:txBody>
          <a:bodyPr wrap="square" rtlCol="0">
            <a:spAutoFit/>
          </a:bodyPr>
          <a:lstStyle/>
          <a:p>
            <a:pPr>
              <a:spcAft>
                <a:spcPts val="800"/>
              </a:spcAft>
              <a:buSzPct val="100000"/>
            </a:pPr>
            <a:r>
              <a:rPr lang="en-US" sz="1200" dirty="0" err="1">
                <a:solidFill>
                  <a:srgbClr val="1A2233"/>
                </a:solidFill>
                <a:ea typeface="Calibri" pitchFamily="34" charset="-122"/>
                <a:cs typeface="Calibri" pitchFamily="34" charset="-120"/>
              </a:rPr>
              <a:t>fnlwgt</a:t>
            </a:r>
            <a:r>
              <a:rPr lang="en-US" sz="1200" dirty="0">
                <a:solidFill>
                  <a:srgbClr val="1A2233"/>
                </a:solidFill>
                <a:ea typeface="Calibri" pitchFamily="34" charset="-122"/>
                <a:cs typeface="Calibri" pitchFamily="34" charset="-120"/>
              </a:rPr>
              <a:t> dropped </a:t>
            </a:r>
          </a:p>
          <a:p>
            <a:pPr>
              <a:spcAft>
                <a:spcPts val="800"/>
              </a:spcAft>
              <a:buSzPct val="100000"/>
            </a:pPr>
            <a:r>
              <a:rPr lang="en-US" sz="1200" dirty="0">
                <a:solidFill>
                  <a:srgbClr val="1A2233"/>
                </a:solidFill>
                <a:ea typeface="Calibri" pitchFamily="34" charset="-122"/>
                <a:cs typeface="Calibri" pitchFamily="34" charset="-120"/>
              </a:rPr>
              <a:t>education dropped</a:t>
            </a:r>
            <a:endParaRPr lang="en-US" sz="1200" dirty="0"/>
          </a:p>
          <a:p>
            <a:pPr>
              <a:spcAft>
                <a:spcPts val="800"/>
              </a:spcAft>
              <a:buSzPct val="100000"/>
            </a:pPr>
            <a:r>
              <a:rPr lang="en-US" sz="1200" dirty="0" err="1">
                <a:solidFill>
                  <a:srgbClr val="1A2233"/>
                </a:solidFill>
                <a:ea typeface="Calibri" pitchFamily="34" charset="-122"/>
                <a:cs typeface="Calibri" pitchFamily="34" charset="-120"/>
              </a:rPr>
              <a:t>native.country</a:t>
            </a:r>
            <a:r>
              <a:rPr lang="en-US" sz="1200" dirty="0">
                <a:solidFill>
                  <a:srgbClr val="1A2233"/>
                </a:solidFill>
                <a:ea typeface="Calibri" pitchFamily="34" charset="-122"/>
                <a:cs typeface="Calibri" pitchFamily="34" charset="-120"/>
              </a:rPr>
              <a:t> grouped into United-States and Other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4F7FA"/>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772400" cy="256032"/>
          </a:xfrm>
          <a:prstGeom prst="rect">
            <a:avLst/>
          </a:prstGeom>
          <a:noFill/>
          <a:ln/>
        </p:spPr>
        <p:txBody>
          <a:bodyPr wrap="square" lIns="0" tIns="0" rIns="0" bIns="0" rtlCol="0" anchor="ctr"/>
          <a:lstStyle/>
          <a:p>
            <a:pPr marL="0" indent="0">
              <a:buNone/>
            </a:pPr>
            <a:r>
              <a:rPr lang="en-US" sz="1100" b="1" kern="0" spc="200" dirty="0">
                <a:solidFill>
                  <a:srgbClr val="C08A2E"/>
                </a:solidFill>
                <a:latin typeface="Calibri" pitchFamily="34" charset="0"/>
                <a:ea typeface="Calibri" pitchFamily="34" charset="-122"/>
                <a:cs typeface="Calibri" pitchFamily="34" charset="-120"/>
              </a:rPr>
              <a:t>REFERENCE POINTS</a:t>
            </a:r>
            <a:endParaRPr lang="en-US" sz="1100" dirty="0"/>
          </a:p>
        </p:txBody>
      </p:sp>
      <p:sp>
        <p:nvSpPr>
          <p:cNvPr id="3" name="Text 1"/>
          <p:cNvSpPr txBox="1"/>
          <p:nvPr/>
        </p:nvSpPr>
        <p:spPr>
          <a:xfrm>
            <a:off x="548640" y="603504"/>
            <a:ext cx="11094415" cy="566928"/>
          </a:xfrm>
          <a:prstGeom prst="rect">
            <a:avLst/>
          </a:prstGeom>
          <a:noFill/>
          <a:ln/>
        </p:spPr>
        <p:txBody>
          <a:bodyPr wrap="square" lIns="0" tIns="0" rIns="0" bIns="0" rtlCol="0" anchor="ctr"/>
          <a:lstStyle/>
          <a:p>
            <a:pPr marL="0" indent="0">
              <a:buNone/>
            </a:pPr>
            <a:r>
              <a:rPr lang="en-US" sz="3000" b="1" dirty="0">
                <a:solidFill>
                  <a:srgbClr val="12233F"/>
                </a:solidFill>
                <a:latin typeface="Cambria" pitchFamily="34" charset="0"/>
                <a:ea typeface="Cambria" pitchFamily="34" charset="-122"/>
                <a:cs typeface="Cambria" pitchFamily="34" charset="-120"/>
              </a:rPr>
              <a:t>Two baselines before any tuning</a:t>
            </a:r>
            <a:endParaRPr lang="en-US" sz="3000" dirty="0"/>
          </a:p>
        </p:txBody>
      </p:sp>
      <p:sp>
        <p:nvSpPr>
          <p:cNvPr id="4" name="Shape 2"/>
          <p:cNvSpPr/>
          <p:nvPr/>
        </p:nvSpPr>
        <p:spPr>
          <a:xfrm>
            <a:off x="548640" y="1463040"/>
            <a:ext cx="5532120" cy="2377440"/>
          </a:xfrm>
          <a:prstGeom prst="roundRect">
            <a:avLst>
              <a:gd name="adj" fmla="val 2692"/>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5" name="Text 3"/>
          <p:cNvSpPr txBox="1"/>
          <p:nvPr/>
        </p:nvSpPr>
        <p:spPr>
          <a:xfrm>
            <a:off x="822960" y="1682496"/>
            <a:ext cx="4937760" cy="274320"/>
          </a:xfrm>
          <a:prstGeom prst="rect">
            <a:avLst/>
          </a:prstGeom>
          <a:noFill/>
          <a:ln/>
        </p:spPr>
        <p:txBody>
          <a:bodyPr wrap="square" lIns="0" tIns="0" rIns="0" bIns="0" rtlCol="0" anchor="ctr"/>
          <a:lstStyle/>
          <a:p>
            <a:pPr marL="0" indent="0">
              <a:buNone/>
            </a:pPr>
            <a:r>
              <a:rPr lang="en-US" sz="1200" b="1" kern="0" spc="100" dirty="0">
                <a:solidFill>
                  <a:srgbClr val="A5332A"/>
                </a:solidFill>
                <a:latin typeface="Calibri" pitchFamily="34" charset="0"/>
                <a:ea typeface="Calibri" pitchFamily="34" charset="-122"/>
                <a:cs typeface="Calibri" pitchFamily="34" charset="-120"/>
              </a:rPr>
              <a:t>BASELINE 1 — MAJORITY CLASS</a:t>
            </a:r>
            <a:endParaRPr lang="en-US" sz="1200" dirty="0"/>
          </a:p>
        </p:txBody>
      </p:sp>
      <p:sp>
        <p:nvSpPr>
          <p:cNvPr id="6" name="Text 4"/>
          <p:cNvSpPr txBox="1"/>
          <p:nvPr/>
        </p:nvSpPr>
        <p:spPr>
          <a:xfrm>
            <a:off x="822960" y="1993392"/>
            <a:ext cx="4937760" cy="329184"/>
          </a:xfrm>
          <a:prstGeom prst="rect">
            <a:avLst/>
          </a:prstGeom>
          <a:noFill/>
          <a:ln/>
        </p:spPr>
        <p:txBody>
          <a:bodyPr wrap="square" lIns="0" tIns="0" rIns="0" bIns="0" rtlCol="0" anchor="ctr"/>
          <a:lstStyle/>
          <a:p>
            <a:r>
              <a:rPr lang="en-US" sz="1400" dirty="0"/>
              <a:t>The simplest approach was to predict that everyone earns below $50K.</a:t>
            </a:r>
            <a:endParaRPr lang="en-US" sz="1300" dirty="0"/>
          </a:p>
        </p:txBody>
      </p:sp>
      <p:sp>
        <p:nvSpPr>
          <p:cNvPr id="7" name="Text 5"/>
          <p:cNvSpPr txBox="1"/>
          <p:nvPr/>
        </p:nvSpPr>
        <p:spPr>
          <a:xfrm>
            <a:off x="822960" y="2395728"/>
            <a:ext cx="2834640" cy="1280160"/>
          </a:xfrm>
          <a:prstGeom prst="rect">
            <a:avLst/>
          </a:prstGeom>
          <a:noFill/>
          <a:ln/>
        </p:spPr>
        <p:txBody>
          <a:bodyPr wrap="square" lIns="0" tIns="0" rIns="0" bIns="0" rtlCol="0" anchor="ctr"/>
          <a:lstStyle/>
          <a:p>
            <a:pPr marL="0" indent="0">
              <a:buNone/>
            </a:pPr>
            <a:r>
              <a:rPr lang="en-US" sz="4000" b="1" dirty="0">
                <a:solidFill>
                  <a:srgbClr val="12233F"/>
                </a:solidFill>
                <a:latin typeface="Cambria" pitchFamily="34" charset="0"/>
                <a:ea typeface="Cambria" pitchFamily="34" charset="-122"/>
                <a:cs typeface="Cambria" pitchFamily="34" charset="-120"/>
              </a:rPr>
              <a:t>75.91%</a:t>
            </a:r>
            <a:endParaRPr lang="en-US" sz="4000" dirty="0"/>
          </a:p>
          <a:p>
            <a:r>
              <a:rPr lang="en-US" sz="1400" dirty="0"/>
              <a:t>It achieved </a:t>
            </a:r>
            <a:r>
              <a:rPr lang="en-US" sz="1400" b="1" dirty="0"/>
              <a:t>75.91% accuracy</a:t>
            </a:r>
            <a:r>
              <a:rPr lang="en-US" sz="1400" dirty="0"/>
              <a:t>, but it failed to identify any high-income people.</a:t>
            </a:r>
          </a:p>
        </p:txBody>
      </p:sp>
      <p:sp>
        <p:nvSpPr>
          <p:cNvPr id="8" name="Text 6"/>
          <p:cNvSpPr txBox="1"/>
          <p:nvPr/>
        </p:nvSpPr>
        <p:spPr>
          <a:xfrm>
            <a:off x="3749040" y="2395728"/>
            <a:ext cx="2103120" cy="1280160"/>
          </a:xfrm>
          <a:prstGeom prst="rect">
            <a:avLst/>
          </a:prstGeom>
          <a:noFill/>
          <a:ln/>
        </p:spPr>
        <p:txBody>
          <a:bodyPr wrap="square" lIns="0" tIns="0" rIns="0" bIns="0" rtlCol="0" anchor="ctr"/>
          <a:lstStyle/>
          <a:p>
            <a:pPr marL="0" indent="0" algn="ctr">
              <a:buNone/>
            </a:pPr>
            <a:r>
              <a:rPr lang="en-US" sz="4000" b="1" dirty="0">
                <a:solidFill>
                  <a:srgbClr val="A5332A"/>
                </a:solidFill>
                <a:latin typeface="Cambria" pitchFamily="34" charset="0"/>
                <a:ea typeface="Cambria" pitchFamily="34" charset="-122"/>
                <a:cs typeface="Cambria" pitchFamily="34" charset="-120"/>
              </a:rPr>
              <a:t>0.5</a:t>
            </a:r>
            <a:endParaRPr lang="en-US" sz="4000" dirty="0"/>
          </a:p>
          <a:p>
            <a:pPr marL="0" indent="0">
              <a:buNone/>
            </a:pPr>
            <a:r>
              <a:rPr lang="en-US" sz="1250" dirty="0">
                <a:solidFill>
                  <a:srgbClr val="5D6B80"/>
                </a:solidFill>
                <a:latin typeface="Calibri" pitchFamily="34" charset="0"/>
                <a:ea typeface="Calibri" pitchFamily="34" charset="-122"/>
                <a:cs typeface="Calibri" pitchFamily="34" charset="-120"/>
              </a:rPr>
              <a:t>ROC-AUC — no ability at all to separate the two groups</a:t>
            </a:r>
            <a:endParaRPr lang="en-US" sz="4000" dirty="0"/>
          </a:p>
        </p:txBody>
      </p:sp>
      <p:sp>
        <p:nvSpPr>
          <p:cNvPr id="9" name="Shape 7"/>
          <p:cNvSpPr/>
          <p:nvPr/>
        </p:nvSpPr>
        <p:spPr>
          <a:xfrm>
            <a:off x="6355080" y="1463040"/>
            <a:ext cx="5532120" cy="2377440"/>
          </a:xfrm>
          <a:prstGeom prst="roundRect">
            <a:avLst>
              <a:gd name="adj" fmla="val 2692"/>
            </a:avLst>
          </a:prstGeom>
          <a:solidFill>
            <a:srgbClr val="EAF0F6"/>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10" name="Text 8"/>
          <p:cNvSpPr txBox="1"/>
          <p:nvPr/>
        </p:nvSpPr>
        <p:spPr>
          <a:xfrm>
            <a:off x="6629400" y="1682496"/>
            <a:ext cx="4937760" cy="274320"/>
          </a:xfrm>
          <a:prstGeom prst="rect">
            <a:avLst/>
          </a:prstGeom>
          <a:noFill/>
          <a:ln/>
        </p:spPr>
        <p:txBody>
          <a:bodyPr wrap="square" lIns="0" tIns="0" rIns="0" bIns="0" rtlCol="0" anchor="ctr"/>
          <a:lstStyle/>
          <a:p>
            <a:pPr marL="0" indent="0">
              <a:buNone/>
            </a:pPr>
            <a:r>
              <a:rPr lang="en-US" sz="1200" b="1" kern="0" spc="100" dirty="0">
                <a:solidFill>
                  <a:srgbClr val="C08A2E"/>
                </a:solidFill>
                <a:latin typeface="Calibri" pitchFamily="34" charset="0"/>
                <a:ea typeface="Calibri" pitchFamily="34" charset="-122"/>
                <a:cs typeface="Calibri" pitchFamily="34" charset="-120"/>
              </a:rPr>
              <a:t>BASELINE 2 — UNTUNED LOGISTIC REGRESSION</a:t>
            </a:r>
            <a:endParaRPr lang="en-US" sz="1200" dirty="0"/>
          </a:p>
        </p:txBody>
      </p:sp>
      <p:sp>
        <p:nvSpPr>
          <p:cNvPr id="11" name="Text 9"/>
          <p:cNvSpPr txBox="1"/>
          <p:nvPr/>
        </p:nvSpPr>
        <p:spPr>
          <a:xfrm>
            <a:off x="6629400" y="1993392"/>
            <a:ext cx="4937760" cy="329184"/>
          </a:xfrm>
          <a:prstGeom prst="rect">
            <a:avLst/>
          </a:prstGeom>
          <a:noFill/>
          <a:ln/>
        </p:spPr>
        <p:txBody>
          <a:bodyPr wrap="square" lIns="0" tIns="0" rIns="0" bIns="0" rtlCol="0" anchor="ctr"/>
          <a:lstStyle/>
          <a:p>
            <a:r>
              <a:rPr lang="en-US" sz="1400" dirty="0"/>
              <a:t>We tested a simple model before improving it.</a:t>
            </a:r>
            <a:endParaRPr lang="en-US" sz="1300" dirty="0"/>
          </a:p>
        </p:txBody>
      </p:sp>
      <p:sp>
        <p:nvSpPr>
          <p:cNvPr id="12" name="Text 10"/>
          <p:cNvSpPr txBox="1"/>
          <p:nvPr/>
        </p:nvSpPr>
        <p:spPr>
          <a:xfrm>
            <a:off x="6629400" y="2395728"/>
            <a:ext cx="2286000" cy="1280160"/>
          </a:xfrm>
          <a:prstGeom prst="rect">
            <a:avLst/>
          </a:prstGeom>
          <a:noFill/>
          <a:ln/>
        </p:spPr>
        <p:txBody>
          <a:bodyPr wrap="square" lIns="0" tIns="0" rIns="0" bIns="0" rtlCol="0" anchor="ctr"/>
          <a:lstStyle/>
          <a:p>
            <a:pPr marL="0" indent="0">
              <a:buNone/>
            </a:pPr>
            <a:r>
              <a:rPr lang="en-US" sz="4000" b="1" dirty="0">
                <a:solidFill>
                  <a:srgbClr val="12233F"/>
                </a:solidFill>
                <a:latin typeface="Cambria" pitchFamily="34" charset="0"/>
                <a:ea typeface="Cambria" pitchFamily="34" charset="-122"/>
                <a:cs typeface="Cambria" pitchFamily="34" charset="-120"/>
              </a:rPr>
              <a:t>0.89</a:t>
            </a:r>
            <a:endParaRPr lang="en-US" sz="4000" dirty="0"/>
          </a:p>
          <a:p>
            <a:r>
              <a:rPr lang="en-US" sz="1400" dirty="0"/>
              <a:t>It achieved a </a:t>
            </a:r>
            <a:r>
              <a:rPr lang="en-US" sz="1400" b="1" dirty="0"/>
              <a:t>ROC-AUC score of 0.89</a:t>
            </a:r>
            <a:r>
              <a:rPr lang="en-US" sz="1400" dirty="0"/>
              <a:t>, which became the target that other models needed to beat.</a:t>
            </a:r>
            <a:endParaRPr lang="en-US" sz="4000" dirty="0"/>
          </a:p>
        </p:txBody>
      </p:sp>
      <p:sp>
        <p:nvSpPr>
          <p:cNvPr id="13" name="Text 11"/>
          <p:cNvSpPr txBox="1"/>
          <p:nvPr/>
        </p:nvSpPr>
        <p:spPr>
          <a:xfrm>
            <a:off x="9144000" y="2551176"/>
            <a:ext cx="2377440" cy="1280160"/>
          </a:xfrm>
          <a:prstGeom prst="rect">
            <a:avLst/>
          </a:prstGeom>
          <a:noFill/>
          <a:ln/>
        </p:spPr>
        <p:txBody>
          <a:bodyPr wrap="square" lIns="0" tIns="0" rIns="0" bIns="0" rtlCol="0" anchor="ctr"/>
          <a:lstStyle/>
          <a:p>
            <a:pPr marL="0" indent="0">
              <a:buNone/>
            </a:pPr>
            <a:r>
              <a:rPr lang="en-US" sz="4000" b="1" dirty="0">
                <a:solidFill>
                  <a:srgbClr val="C08A2E"/>
                </a:solidFill>
                <a:latin typeface="Cambria" pitchFamily="34" charset="0"/>
                <a:ea typeface="Cambria" pitchFamily="34" charset="-122"/>
                <a:cs typeface="Cambria" pitchFamily="34" charset="-120"/>
              </a:rPr>
              <a:t>0.59</a:t>
            </a:r>
            <a:endParaRPr lang="en-US" sz="4000" dirty="0"/>
          </a:p>
          <a:p>
            <a:r>
              <a:rPr lang="en-US" sz="1250" dirty="0">
                <a:solidFill>
                  <a:srgbClr val="5D6B80"/>
                </a:solidFill>
                <a:latin typeface="Calibri" pitchFamily="34" charset="0"/>
                <a:ea typeface="Calibri" pitchFamily="34" charset="-122"/>
                <a:cs typeface="Calibri" pitchFamily="34" charset="-120"/>
              </a:rPr>
              <a:t>recall — </a:t>
            </a:r>
            <a:r>
              <a:rPr lang="en-US" sz="1400" dirty="0"/>
              <a:t>It found </a:t>
            </a:r>
            <a:r>
              <a:rPr lang="en-US" sz="1400" b="1" dirty="0"/>
              <a:t>930 out of 1,568 high-income people</a:t>
            </a:r>
            <a:r>
              <a:rPr lang="en-US" sz="1400" dirty="0"/>
              <a:t>, but missed 638.</a:t>
            </a:r>
          </a:p>
          <a:p>
            <a:pPr marL="0" indent="0">
              <a:buNone/>
            </a:pPr>
            <a:endParaRPr lang="en-US" sz="4000" dirty="0"/>
          </a:p>
        </p:txBody>
      </p:sp>
      <p:sp>
        <p:nvSpPr>
          <p:cNvPr id="16" name="Shape 13"/>
          <p:cNvSpPr/>
          <p:nvPr/>
        </p:nvSpPr>
        <p:spPr>
          <a:xfrm>
            <a:off x="548640" y="4059936"/>
            <a:ext cx="11338560" cy="2679192"/>
          </a:xfrm>
          <a:prstGeom prst="roundRect">
            <a:avLst>
              <a:gd name="adj" fmla="val 3889"/>
            </a:avLst>
          </a:prstGeom>
          <a:solidFill>
            <a:srgbClr val="EAF0F6"/>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17" name="Text 14"/>
          <p:cNvSpPr txBox="1"/>
          <p:nvPr/>
        </p:nvSpPr>
        <p:spPr>
          <a:xfrm>
            <a:off x="970280" y="4608576"/>
            <a:ext cx="10551160" cy="1280160"/>
          </a:xfrm>
          <a:prstGeom prst="rect">
            <a:avLst/>
          </a:prstGeom>
          <a:noFill/>
          <a:ln/>
        </p:spPr>
        <p:txBody>
          <a:bodyPr wrap="square" lIns="0" tIns="0" rIns="0" bIns="0" rtlCol="0" anchor="ctr"/>
          <a:lstStyle/>
          <a:p>
            <a:br>
              <a:rPr lang="en-US" sz="1400" dirty="0"/>
            </a:br>
            <a:endParaRPr lang="en-US" sz="1400" dirty="0"/>
          </a:p>
          <a:p>
            <a:r>
              <a:rPr lang="en-US" sz="1400" b="1" dirty="0"/>
              <a:t>Testing different ways to handle the income imbalance</a:t>
            </a:r>
          </a:p>
          <a:p>
            <a:r>
              <a:rPr lang="en-US" sz="1400" dirty="0"/>
              <a:t>We tested three approaches:</a:t>
            </a:r>
          </a:p>
          <a:p>
            <a:pPr lvl="0"/>
            <a:r>
              <a:rPr lang="en-US" sz="1400" b="1" dirty="0"/>
              <a:t>--No adjustment</a:t>
            </a:r>
            <a:r>
              <a:rPr lang="en-US" sz="1400" dirty="0"/>
              <a:t> </a:t>
            </a:r>
          </a:p>
          <a:p>
            <a:pPr lvl="0"/>
            <a:r>
              <a:rPr lang="en-US" sz="1400" b="1" dirty="0"/>
              <a:t>--Giving more importance to the smaller group</a:t>
            </a:r>
            <a:r>
              <a:rPr lang="en-US" sz="1400" dirty="0"/>
              <a:t> </a:t>
            </a:r>
          </a:p>
          <a:p>
            <a:pPr lvl="0"/>
            <a:r>
              <a:rPr lang="en-US" sz="1400" b="1" dirty="0"/>
              <a:t>--Creating additional examples for the smaller group</a:t>
            </a:r>
            <a:r>
              <a:rPr lang="en-US" sz="1400" dirty="0"/>
              <a:t> </a:t>
            </a:r>
          </a:p>
          <a:p>
            <a:pPr lvl="0"/>
            <a:endParaRPr lang="en-US" sz="1400" dirty="0"/>
          </a:p>
          <a:p>
            <a:r>
              <a:rPr lang="en-US" sz="1400" dirty="0"/>
              <a:t>The results showed that the model performance stayed almost the same.</a:t>
            </a:r>
          </a:p>
          <a:p>
            <a:endParaRPr lang="en-US" sz="1400" dirty="0"/>
          </a:p>
        </p:txBody>
      </p:sp>
      <p:sp>
        <p:nvSpPr>
          <p:cNvPr id="18" name="Oval 17">
            <a:extLst>
              <a:ext uri="{FF2B5EF4-FFF2-40B4-BE49-F238E27FC236}">
                <a16:creationId xmlns:a16="http://schemas.microsoft.com/office/drawing/2014/main" id="{7A00E75D-EDD0-C58A-C7FD-FC9BB3FD8DF8}"/>
              </a:ext>
            </a:extLst>
          </p:cNvPr>
          <p:cNvSpPr/>
          <p:nvPr/>
        </p:nvSpPr>
        <p:spPr>
          <a:xfrm>
            <a:off x="10789920" y="603504"/>
            <a:ext cx="1280160" cy="13533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772400" cy="256032"/>
          </a:xfrm>
          <a:prstGeom prst="rect">
            <a:avLst/>
          </a:prstGeom>
          <a:noFill/>
          <a:ln/>
        </p:spPr>
        <p:txBody>
          <a:bodyPr wrap="square" lIns="0" tIns="0" rIns="0" bIns="0" rtlCol="0" anchor="ctr"/>
          <a:lstStyle/>
          <a:p>
            <a:pPr marL="0" indent="0">
              <a:buNone/>
            </a:pPr>
            <a:r>
              <a:rPr lang="en-US" sz="1100" b="1" kern="0" spc="200" dirty="0">
                <a:solidFill>
                  <a:srgbClr val="C08A2E"/>
                </a:solidFill>
                <a:latin typeface="Calibri" pitchFamily="34" charset="0"/>
                <a:ea typeface="Calibri" pitchFamily="34" charset="-122"/>
                <a:cs typeface="Calibri" pitchFamily="34" charset="-120"/>
              </a:rPr>
              <a:t>MODEL 1</a:t>
            </a:r>
            <a:endParaRPr lang="en-US" sz="1100" dirty="0"/>
          </a:p>
        </p:txBody>
      </p:sp>
      <p:sp>
        <p:nvSpPr>
          <p:cNvPr id="3" name="Text 1"/>
          <p:cNvSpPr txBox="1"/>
          <p:nvPr/>
        </p:nvSpPr>
        <p:spPr>
          <a:xfrm>
            <a:off x="533400" y="725932"/>
            <a:ext cx="11094415" cy="566928"/>
          </a:xfrm>
          <a:prstGeom prst="rect">
            <a:avLst/>
          </a:prstGeom>
          <a:noFill/>
          <a:ln/>
        </p:spPr>
        <p:txBody>
          <a:bodyPr wrap="square" lIns="0" tIns="0" rIns="0" bIns="0" rtlCol="0" anchor="ctr"/>
          <a:lstStyle/>
          <a:p>
            <a:r>
              <a:rPr lang="en-US" sz="3000" b="1" dirty="0">
                <a:solidFill>
                  <a:srgbClr val="12233F"/>
                </a:solidFill>
                <a:latin typeface="Cambria" pitchFamily="34" charset="0"/>
                <a:ea typeface="Cambria" pitchFamily="34" charset="-122"/>
                <a:cs typeface="Cambria" pitchFamily="34" charset="-120"/>
              </a:rPr>
              <a:t>Logistic Regression — </a:t>
            </a:r>
            <a:r>
              <a:rPr lang="en-US" sz="3200" b="1" dirty="0"/>
              <a:t>it is simple and easy to understand.</a:t>
            </a:r>
            <a:endParaRPr lang="en-US" sz="3200" dirty="0"/>
          </a:p>
          <a:p>
            <a:pPr marL="0" indent="0">
              <a:buNone/>
            </a:pPr>
            <a:endParaRPr lang="en-US" sz="3000" dirty="0"/>
          </a:p>
        </p:txBody>
      </p:sp>
      <p:sp>
        <p:nvSpPr>
          <p:cNvPr id="4" name="Shape 2"/>
          <p:cNvSpPr/>
          <p:nvPr/>
        </p:nvSpPr>
        <p:spPr>
          <a:xfrm>
            <a:off x="533400" y="1207008"/>
            <a:ext cx="3347720" cy="2700528"/>
          </a:xfrm>
          <a:prstGeom prst="roundRect">
            <a:avLst>
              <a:gd name="adj" fmla="val 1308"/>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6" name="Shape 3"/>
          <p:cNvSpPr/>
          <p:nvPr/>
        </p:nvSpPr>
        <p:spPr>
          <a:xfrm>
            <a:off x="4734560" y="1371600"/>
            <a:ext cx="7152640" cy="1463040"/>
          </a:xfrm>
          <a:prstGeom prst="roundRect">
            <a:avLst>
              <a:gd name="adj" fmla="val 4375"/>
            </a:avLst>
          </a:prstGeom>
          <a:solidFill>
            <a:srgbClr val="EAF0F6"/>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7" name="Text 4"/>
          <p:cNvSpPr txBox="1"/>
          <p:nvPr/>
        </p:nvSpPr>
        <p:spPr>
          <a:xfrm>
            <a:off x="4871720" y="1463040"/>
            <a:ext cx="4846320" cy="274320"/>
          </a:xfrm>
          <a:prstGeom prst="rect">
            <a:avLst/>
          </a:prstGeom>
          <a:noFill/>
          <a:ln/>
        </p:spPr>
        <p:txBody>
          <a:bodyPr wrap="square" lIns="0" tIns="0" rIns="0" bIns="0" rtlCol="0" anchor="ctr"/>
          <a:lstStyle/>
          <a:p>
            <a:pPr marL="0" indent="0">
              <a:buNone/>
            </a:pPr>
            <a:r>
              <a:rPr lang="en-US" sz="1200" b="1" kern="0" spc="100" dirty="0">
                <a:solidFill>
                  <a:srgbClr val="C08A2E"/>
                </a:solidFill>
                <a:latin typeface="Calibri" pitchFamily="34" charset="0"/>
                <a:ea typeface="Calibri" pitchFamily="34" charset="-122"/>
                <a:cs typeface="Calibri" pitchFamily="34" charset="-120"/>
              </a:rPr>
              <a:t>IMPROVEMENT: GRIDSEARCHCV</a:t>
            </a:r>
            <a:endParaRPr lang="en-US" sz="1200" dirty="0"/>
          </a:p>
        </p:txBody>
      </p:sp>
      <p:sp>
        <p:nvSpPr>
          <p:cNvPr id="8" name="Text 5"/>
          <p:cNvSpPr txBox="1"/>
          <p:nvPr/>
        </p:nvSpPr>
        <p:spPr>
          <a:xfrm>
            <a:off x="4871720" y="1737360"/>
            <a:ext cx="4846320" cy="960120"/>
          </a:xfrm>
          <a:prstGeom prst="rect">
            <a:avLst/>
          </a:prstGeom>
          <a:noFill/>
          <a:ln/>
        </p:spPr>
        <p:txBody>
          <a:bodyPr wrap="square" lIns="0" tIns="0" rIns="0" bIns="0" rtlCol="0" anchor="ctr"/>
          <a:lstStyle/>
          <a:p>
            <a:r>
              <a:rPr lang="en-US" sz="1200" dirty="0"/>
              <a:t>We tested different settings to find the best version of the model.</a:t>
            </a:r>
          </a:p>
          <a:p>
            <a:r>
              <a:rPr lang="en-US" sz="1200" dirty="0">
                <a:solidFill>
                  <a:srgbClr val="1A2233"/>
                </a:solidFill>
                <a:latin typeface="Calibri" pitchFamily="34" charset="0"/>
                <a:ea typeface="Calibri" pitchFamily="34" charset="-122"/>
                <a:cs typeface="Calibri" pitchFamily="34" charset="-120"/>
              </a:rPr>
              <a:t> C (regularisation strength), l1_ratio and class_weight, scored on roc_auc with 5-fold CV.</a:t>
            </a:r>
            <a:endParaRPr lang="en-US" sz="1200" dirty="0"/>
          </a:p>
          <a:p>
            <a:pPr marL="0" indent="0">
              <a:buNone/>
            </a:pPr>
            <a:r>
              <a:rPr lang="en-US" sz="1200" dirty="0">
                <a:solidFill>
                  <a:srgbClr val="1A2233"/>
                </a:solidFill>
                <a:latin typeface="Calibri" pitchFamily="34" charset="0"/>
                <a:ea typeface="Calibri" pitchFamily="34" charset="-122"/>
                <a:cs typeface="Calibri" pitchFamily="34" charset="-120"/>
              </a:rPr>
              <a:t>Best: C = 0.1, l1_ratio = 0 (L2), class_weight = None</a:t>
            </a:r>
            <a:endParaRPr lang="en-US" sz="1200" dirty="0"/>
          </a:p>
          <a:p>
            <a:pPr marL="0" indent="0">
              <a:buNone/>
            </a:pPr>
            <a:r>
              <a:rPr lang="en-US" sz="1200" dirty="0">
                <a:solidFill>
                  <a:srgbClr val="1A2233"/>
                </a:solidFill>
                <a:latin typeface="Calibri" pitchFamily="34" charset="0"/>
                <a:ea typeface="Calibri" pitchFamily="34" charset="-122"/>
                <a:cs typeface="Calibri" pitchFamily="34" charset="-120"/>
              </a:rPr>
              <a:t>Best CV ROC-AUC: 0.9009</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296510065"/>
              </p:ext>
            </p:extLst>
          </p:nvPr>
        </p:nvGraphicFramePr>
        <p:xfrm>
          <a:off x="4871720" y="2978912"/>
          <a:ext cx="5349240" cy="1097280"/>
        </p:xfrm>
        <a:graphic>
          <a:graphicData uri="http://schemas.openxmlformats.org/drawingml/2006/table">
            <a:tbl>
              <a:tblPr/>
              <a:tblGrid>
                <a:gridCol w="15087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6576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Version</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ROC-AUC</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365760">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Untuned (base)</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0.8457</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0.5931</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0.6494</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0.8954</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150" b="1" dirty="0">
                          <a:solidFill>
                            <a:srgbClr val="1A2233"/>
                          </a:solidFill>
                          <a:latin typeface="Calibri" pitchFamily="34" charset="0"/>
                          <a:ea typeface="Calibri" pitchFamily="34" charset="-122"/>
                          <a:cs typeface="Calibri" pitchFamily="34" charset="-120"/>
                        </a:rPr>
                        <a:t>Tuned</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0.8453</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0.5931</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0.6488</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b="1" dirty="0">
                          <a:solidFill>
                            <a:srgbClr val="12233F"/>
                          </a:solidFill>
                          <a:latin typeface="Calibri" pitchFamily="34" charset="0"/>
                          <a:ea typeface="Calibri" pitchFamily="34" charset="-122"/>
                          <a:cs typeface="Calibri" pitchFamily="34" charset="-120"/>
                        </a:rPr>
                        <a:t>0.8956</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0" name="Shape 6"/>
          <p:cNvSpPr/>
          <p:nvPr/>
        </p:nvSpPr>
        <p:spPr>
          <a:xfrm>
            <a:off x="4871720" y="4151376"/>
            <a:ext cx="5349240" cy="2103120"/>
          </a:xfrm>
          <a:prstGeom prst="roundRect">
            <a:avLst>
              <a:gd name="adj" fmla="val 3043"/>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9" name="Text 7"/>
          <p:cNvSpPr txBox="1"/>
          <p:nvPr/>
        </p:nvSpPr>
        <p:spPr>
          <a:xfrm>
            <a:off x="5123180" y="4151376"/>
            <a:ext cx="4846320" cy="274320"/>
          </a:xfrm>
          <a:prstGeom prst="rect">
            <a:avLst/>
          </a:prstGeom>
          <a:noFill/>
          <a:ln/>
        </p:spPr>
        <p:txBody>
          <a:bodyPr wrap="square" lIns="0" tIns="0" rIns="0" bIns="0" rtlCol="0" anchor="ctr"/>
          <a:lstStyle/>
          <a:p>
            <a:pPr marL="0" indent="0">
              <a:buNone/>
            </a:pPr>
            <a:r>
              <a:rPr lang="en-US" sz="1200" b="1" kern="0" spc="100" dirty="0">
                <a:solidFill>
                  <a:srgbClr val="2E7387"/>
                </a:solidFill>
                <a:latin typeface="Calibri" pitchFamily="34" charset="0"/>
                <a:ea typeface="Calibri" pitchFamily="34" charset="-122"/>
                <a:cs typeface="Calibri" pitchFamily="34" charset="-120"/>
              </a:rPr>
              <a:t>WHY TUNING BARELY HELPED</a:t>
            </a:r>
            <a:endParaRPr lang="en-US" sz="1200" dirty="0"/>
          </a:p>
        </p:txBody>
      </p:sp>
      <p:sp>
        <p:nvSpPr>
          <p:cNvPr id="12" name="Text 8"/>
          <p:cNvSpPr txBox="1"/>
          <p:nvPr/>
        </p:nvSpPr>
        <p:spPr>
          <a:xfrm>
            <a:off x="5123180" y="4567428"/>
            <a:ext cx="4846320" cy="1508760"/>
          </a:xfrm>
          <a:prstGeom prst="rect">
            <a:avLst/>
          </a:prstGeom>
          <a:noFill/>
          <a:ln/>
        </p:spPr>
        <p:txBody>
          <a:bodyPr wrap="square" rtlCol="0" anchor="t"/>
          <a:lstStyle/>
          <a:p>
            <a:pPr lvl="0"/>
            <a:r>
              <a:rPr lang="en-US" sz="1200" b="1" dirty="0"/>
              <a:t>All 20 settings gave almost the same results (between 0.8991 and 0.9009), so changing the settings did not make a big difference.</a:t>
            </a:r>
            <a:r>
              <a:rPr lang="en-US" sz="1200" dirty="0"/>
              <a:t> </a:t>
            </a:r>
            <a:endParaRPr lang="ar-BH" sz="1200" dirty="0"/>
          </a:p>
          <a:p>
            <a:pPr lvl="0"/>
            <a:endParaRPr lang="en-US" sz="1200" dirty="0"/>
          </a:p>
          <a:p>
            <a:pPr lvl="0"/>
            <a:r>
              <a:rPr lang="en-US" sz="1200" b="1" dirty="0"/>
              <a:t>Logistic Regression is a simple model, so it does not easily overfit. Because of this, regularization did not have a big impact.</a:t>
            </a:r>
            <a:r>
              <a:rPr lang="en-US" sz="1200" dirty="0"/>
              <a:t> </a:t>
            </a:r>
            <a:endParaRPr lang="ar-BH" sz="1200" dirty="0"/>
          </a:p>
          <a:p>
            <a:pPr lvl="0"/>
            <a:endParaRPr lang="en-US" sz="1200" dirty="0"/>
          </a:p>
          <a:p>
            <a:pPr lvl="0"/>
            <a:r>
              <a:rPr lang="en-US" sz="1200" b="1" dirty="0"/>
              <a:t>This means we expect tuning to have a bigger effect on more complex models, such as Decision Trees and Random Forests.</a:t>
            </a:r>
            <a:endParaRPr lang="en-US" sz="1200" dirty="0"/>
          </a:p>
        </p:txBody>
      </p:sp>
      <p:sp>
        <p:nvSpPr>
          <p:cNvPr id="14" name="TextBox 13">
            <a:extLst>
              <a:ext uri="{FF2B5EF4-FFF2-40B4-BE49-F238E27FC236}">
                <a16:creationId xmlns:a16="http://schemas.microsoft.com/office/drawing/2014/main" id="{FBF4B7F3-73CB-CF8C-F261-8876C1D785BD}"/>
              </a:ext>
            </a:extLst>
          </p:cNvPr>
          <p:cNvSpPr txBox="1"/>
          <p:nvPr/>
        </p:nvSpPr>
        <p:spPr>
          <a:xfrm>
            <a:off x="802640" y="1392764"/>
            <a:ext cx="2804160" cy="2031325"/>
          </a:xfrm>
          <a:prstGeom prst="rect">
            <a:avLst/>
          </a:prstGeom>
          <a:noFill/>
        </p:spPr>
        <p:txBody>
          <a:bodyPr wrap="square">
            <a:spAutoFit/>
          </a:bodyPr>
          <a:lstStyle/>
          <a:p>
            <a:r>
              <a:rPr lang="en-US" dirty="0"/>
              <a:t>It helps us see which factors are more related to higher income.</a:t>
            </a:r>
          </a:p>
          <a:p>
            <a:r>
              <a:rPr lang="en-US" dirty="0"/>
              <a:t>For example:</a:t>
            </a:r>
          </a:p>
          <a:p>
            <a:pPr lvl="0"/>
            <a:r>
              <a:rPr lang="en-US" b="1" dirty="0"/>
              <a:t>- Marital status</a:t>
            </a:r>
            <a:r>
              <a:rPr lang="en-US" dirty="0"/>
              <a:t> </a:t>
            </a:r>
          </a:p>
          <a:p>
            <a:pPr lvl="0"/>
            <a:r>
              <a:rPr lang="en-US" b="1" dirty="0"/>
              <a:t>- Education level</a:t>
            </a:r>
            <a:r>
              <a:rPr lang="en-US" dirty="0"/>
              <a:t> </a:t>
            </a:r>
          </a:p>
          <a:p>
            <a:pPr lvl="0"/>
            <a:r>
              <a:rPr lang="en-US" b="1" dirty="0"/>
              <a:t>- Capital gain</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772400" cy="256032"/>
          </a:xfrm>
          <a:prstGeom prst="rect">
            <a:avLst/>
          </a:prstGeom>
          <a:noFill/>
          <a:ln/>
        </p:spPr>
        <p:txBody>
          <a:bodyPr wrap="square" lIns="0" tIns="0" rIns="0" bIns="0" rtlCol="0" anchor="ctr"/>
          <a:lstStyle/>
          <a:p>
            <a:pPr marL="0" indent="0">
              <a:buNone/>
            </a:pPr>
            <a:r>
              <a:rPr lang="en-US" sz="1100" b="1" kern="0" spc="200" dirty="0">
                <a:solidFill>
                  <a:srgbClr val="C08A2E"/>
                </a:solidFill>
                <a:latin typeface="Calibri" pitchFamily="34" charset="0"/>
                <a:ea typeface="Calibri" pitchFamily="34" charset="-122"/>
                <a:cs typeface="Calibri" pitchFamily="34" charset="-120"/>
              </a:rPr>
              <a:t>MODEL 2</a:t>
            </a:r>
            <a:endParaRPr lang="en-US" sz="1100" dirty="0"/>
          </a:p>
        </p:txBody>
      </p:sp>
      <p:sp>
        <p:nvSpPr>
          <p:cNvPr id="3" name="Text 1"/>
          <p:cNvSpPr txBox="1"/>
          <p:nvPr/>
        </p:nvSpPr>
        <p:spPr>
          <a:xfrm>
            <a:off x="548640" y="603504"/>
            <a:ext cx="11094415" cy="566928"/>
          </a:xfrm>
          <a:prstGeom prst="rect">
            <a:avLst/>
          </a:prstGeom>
          <a:noFill/>
          <a:ln/>
        </p:spPr>
        <p:txBody>
          <a:bodyPr wrap="square" lIns="0" tIns="0" rIns="0" bIns="0" rtlCol="0" anchor="ctr"/>
          <a:lstStyle/>
          <a:p>
            <a:pPr marL="0" indent="0">
              <a:buNone/>
            </a:pPr>
            <a:r>
              <a:rPr lang="en-US" sz="3000" b="1" dirty="0">
                <a:solidFill>
                  <a:srgbClr val="12233F"/>
                </a:solidFill>
                <a:latin typeface="Cambria" pitchFamily="34" charset="0"/>
                <a:ea typeface="Cambria" pitchFamily="34" charset="-122"/>
                <a:cs typeface="Cambria" pitchFamily="34" charset="-120"/>
              </a:rPr>
              <a:t>Decision Tree — best version</a:t>
            </a:r>
            <a:endParaRPr lang="en-US" sz="3000" dirty="0"/>
          </a:p>
        </p:txBody>
      </p:sp>
      <p:sp>
        <p:nvSpPr>
          <p:cNvPr id="6" name="Shape 3"/>
          <p:cNvSpPr/>
          <p:nvPr/>
        </p:nvSpPr>
        <p:spPr>
          <a:xfrm>
            <a:off x="6537960" y="1371600"/>
            <a:ext cx="5349240" cy="1463040"/>
          </a:xfrm>
          <a:prstGeom prst="roundRect">
            <a:avLst>
              <a:gd name="adj" fmla="val 4375"/>
            </a:avLst>
          </a:prstGeom>
          <a:solidFill>
            <a:srgbClr val="EAF0F6"/>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7" name="Text 4"/>
          <p:cNvSpPr txBox="1"/>
          <p:nvPr/>
        </p:nvSpPr>
        <p:spPr>
          <a:xfrm>
            <a:off x="6812280" y="1554480"/>
            <a:ext cx="4846320" cy="274320"/>
          </a:xfrm>
          <a:prstGeom prst="rect">
            <a:avLst/>
          </a:prstGeom>
          <a:noFill/>
          <a:ln/>
        </p:spPr>
        <p:txBody>
          <a:bodyPr wrap="square" lIns="0" tIns="0" rIns="0" bIns="0" rtlCol="0" anchor="ctr"/>
          <a:lstStyle/>
          <a:p>
            <a:pPr marL="0" indent="0">
              <a:buNone/>
            </a:pPr>
            <a:r>
              <a:rPr lang="en-US" sz="1200" b="1" kern="0" spc="100" dirty="0">
                <a:solidFill>
                  <a:srgbClr val="C08A2E"/>
                </a:solidFill>
                <a:latin typeface="Calibri" pitchFamily="34" charset="0"/>
                <a:ea typeface="Calibri" pitchFamily="34" charset="-122"/>
                <a:cs typeface="Calibri" pitchFamily="34" charset="-120"/>
              </a:rPr>
              <a:t>IMPROVEMENT: GRIDSEARCHCV</a:t>
            </a:r>
            <a:endParaRPr lang="en-US" sz="1200" dirty="0"/>
          </a:p>
        </p:txBody>
      </p:sp>
      <p:sp>
        <p:nvSpPr>
          <p:cNvPr id="8" name="Text 5"/>
          <p:cNvSpPr txBox="1"/>
          <p:nvPr/>
        </p:nvSpPr>
        <p:spPr>
          <a:xfrm>
            <a:off x="6812280" y="1804057"/>
            <a:ext cx="4846320" cy="914400"/>
          </a:xfrm>
          <a:prstGeom prst="rect">
            <a:avLst/>
          </a:prstGeom>
          <a:noFill/>
          <a:ln/>
        </p:spPr>
        <p:txBody>
          <a:bodyPr wrap="square" lIns="0" tIns="0" rIns="0" bIns="0" rtlCol="0" anchor="ctr"/>
          <a:lstStyle/>
          <a:p>
            <a:pPr marL="0" indent="0">
              <a:buNone/>
            </a:pPr>
            <a:r>
              <a:rPr lang="en-US" sz="1200" dirty="0">
                <a:solidFill>
                  <a:srgbClr val="1A2233"/>
                </a:solidFill>
                <a:latin typeface="Calibri" pitchFamily="34" charset="0"/>
                <a:ea typeface="Calibri" pitchFamily="34" charset="-122"/>
                <a:cs typeface="Calibri" pitchFamily="34" charset="-120"/>
              </a:rPr>
              <a:t>Tuned max_depth, min_samples_split, min_samples_leaf and class_weight — all controls on complexity.</a:t>
            </a:r>
            <a:endParaRPr lang="en-US" sz="1200" dirty="0"/>
          </a:p>
          <a:p>
            <a:pPr marL="0" indent="0">
              <a:buNone/>
            </a:pPr>
            <a:r>
              <a:rPr lang="en-US" sz="1200" dirty="0">
                <a:solidFill>
                  <a:srgbClr val="1A2233"/>
                </a:solidFill>
                <a:latin typeface="Calibri" pitchFamily="34" charset="0"/>
                <a:ea typeface="Calibri" pitchFamily="34" charset="-122"/>
                <a:cs typeface="Calibri" pitchFamily="34" charset="-120"/>
              </a:rPr>
              <a:t>Best: max_depth = 10, min_samples_leaf = 5, min_samples_split = 50   ·   Best CV ROC-AUC 0.9066</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2767852786"/>
              </p:ext>
            </p:extLst>
          </p:nvPr>
        </p:nvGraphicFramePr>
        <p:xfrm>
          <a:off x="6583681" y="4800271"/>
          <a:ext cx="5349240" cy="1097280"/>
        </p:xfrm>
        <a:graphic>
          <a:graphicData uri="http://schemas.openxmlformats.org/drawingml/2006/table">
            <a:tbl>
              <a:tblPr/>
              <a:tblGrid>
                <a:gridCol w="15087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6576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Version</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ROC-AUC</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365760">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Untuned (base)</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0.8161</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0.6001</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0.6112</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0.7602</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150" b="1" dirty="0">
                          <a:solidFill>
                            <a:srgbClr val="1A2233"/>
                          </a:solidFill>
                          <a:latin typeface="Calibri" pitchFamily="34" charset="0"/>
                          <a:ea typeface="Calibri" pitchFamily="34" charset="-122"/>
                          <a:cs typeface="Calibri" pitchFamily="34" charset="-120"/>
                        </a:rPr>
                        <a:t>Tuned</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0.8540</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0.5682</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0.6523</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b="1" dirty="0">
                          <a:solidFill>
                            <a:srgbClr val="12233F"/>
                          </a:solidFill>
                          <a:latin typeface="Calibri" pitchFamily="34" charset="0"/>
                          <a:ea typeface="Calibri" pitchFamily="34" charset="-122"/>
                          <a:cs typeface="Calibri" pitchFamily="34" charset="-120"/>
                        </a:rPr>
                        <a:t>0.8979</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0" name="Shape 6"/>
          <p:cNvSpPr/>
          <p:nvPr/>
        </p:nvSpPr>
        <p:spPr>
          <a:xfrm>
            <a:off x="304801" y="1384808"/>
            <a:ext cx="5349240" cy="5162296"/>
          </a:xfrm>
          <a:prstGeom prst="roundRect">
            <a:avLst>
              <a:gd name="adj" fmla="val 3043"/>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11" name="Text 7"/>
          <p:cNvSpPr txBox="1"/>
          <p:nvPr/>
        </p:nvSpPr>
        <p:spPr>
          <a:xfrm>
            <a:off x="426721" y="1420875"/>
            <a:ext cx="4846320" cy="274320"/>
          </a:xfrm>
          <a:prstGeom prst="rect">
            <a:avLst/>
          </a:prstGeom>
          <a:noFill/>
          <a:ln/>
        </p:spPr>
        <p:txBody>
          <a:bodyPr wrap="square" lIns="0" tIns="0" rIns="0" bIns="0" rtlCol="0" anchor="ctr"/>
          <a:lstStyle/>
          <a:p>
            <a:pPr marL="0" indent="0">
              <a:buNone/>
            </a:pPr>
            <a:endParaRPr lang="en-US" sz="1200" dirty="0"/>
          </a:p>
        </p:txBody>
      </p:sp>
      <p:sp>
        <p:nvSpPr>
          <p:cNvPr id="9" name="Text 8"/>
          <p:cNvSpPr txBox="1"/>
          <p:nvPr/>
        </p:nvSpPr>
        <p:spPr>
          <a:xfrm>
            <a:off x="259079" y="1731262"/>
            <a:ext cx="6497321" cy="4675125"/>
          </a:xfrm>
          <a:prstGeom prst="rect">
            <a:avLst/>
          </a:prstGeom>
          <a:noFill/>
          <a:ln/>
        </p:spPr>
        <p:txBody>
          <a:bodyPr wrap="square" rtlCol="0" anchor="t"/>
          <a:lstStyle/>
          <a:p>
            <a:r>
              <a:rPr lang="en-US" sz="1600" b="1" dirty="0"/>
              <a:t>Untuned Tree</a:t>
            </a:r>
          </a:p>
          <a:p>
            <a:pPr lvl="0"/>
            <a:r>
              <a:rPr lang="en-US" sz="1600" dirty="0"/>
              <a:t>The tree became too complex: </a:t>
            </a:r>
            <a:r>
              <a:rPr lang="en-US" sz="1600" b="1" dirty="0"/>
              <a:t>depth 43</a:t>
            </a:r>
            <a:r>
              <a:rPr lang="en-US" sz="1600" dirty="0"/>
              <a:t> with </a:t>
            </a:r>
            <a:r>
              <a:rPr lang="en-US" sz="1600" b="1" dirty="0"/>
              <a:t>4,550 leaves</a:t>
            </a:r>
            <a:r>
              <a:rPr lang="en-US" sz="1600" dirty="0"/>
              <a:t>. </a:t>
            </a:r>
          </a:p>
          <a:p>
            <a:pPr lvl="0"/>
            <a:r>
              <a:rPr lang="en-US" sz="1600" dirty="0"/>
              <a:t>It achieved </a:t>
            </a:r>
            <a:r>
              <a:rPr lang="en-US" sz="1600" b="1" dirty="0"/>
              <a:t>97.91% training accuracy</a:t>
            </a:r>
            <a:r>
              <a:rPr lang="en-US" sz="1600" dirty="0"/>
              <a:t> because it </a:t>
            </a:r>
            <a:r>
              <a:rPr lang="en-US" sz="1600" dirty="0" err="1"/>
              <a:t>memorised</a:t>
            </a:r>
            <a:r>
              <a:rPr lang="en-US" sz="1600" dirty="0"/>
              <a:t> the training data. </a:t>
            </a:r>
          </a:p>
          <a:p>
            <a:pPr lvl="0"/>
            <a:r>
              <a:rPr lang="en-US" sz="1600" dirty="0"/>
              <a:t>This caused </a:t>
            </a:r>
            <a:r>
              <a:rPr lang="en-US" sz="1600" b="1" dirty="0"/>
              <a:t>overfitting</a:t>
            </a:r>
            <a:r>
              <a:rPr lang="en-US" sz="1600" dirty="0"/>
              <a:t> and poor </a:t>
            </a:r>
            <a:r>
              <a:rPr lang="en-US" sz="1600" dirty="0" err="1"/>
              <a:t>generalisation</a:t>
            </a:r>
            <a:r>
              <a:rPr lang="en-US" sz="1600" dirty="0"/>
              <a:t>. </a:t>
            </a:r>
          </a:p>
          <a:p>
            <a:pPr lvl="0"/>
            <a:r>
              <a:rPr lang="en-US" sz="1600" dirty="0">
                <a:solidFill>
                  <a:srgbClr val="C00000"/>
                </a:solidFill>
              </a:rPr>
              <a:t>Testing score</a:t>
            </a:r>
          </a:p>
          <a:p>
            <a:r>
              <a:rPr lang="en-US" sz="1600" b="1" dirty="0"/>
              <a:t>Tuned Tree</a:t>
            </a:r>
          </a:p>
          <a:p>
            <a:pPr lvl="0"/>
            <a:r>
              <a:rPr lang="en-US" sz="1600" dirty="0" err="1"/>
              <a:t>GridSearchCV</a:t>
            </a:r>
            <a:r>
              <a:rPr lang="en-US" sz="1600" dirty="0"/>
              <a:t> reduced the complexity: </a:t>
            </a:r>
            <a:r>
              <a:rPr lang="en-US" sz="1600" b="1" dirty="0" err="1"/>
              <a:t>max_depth</a:t>
            </a:r>
            <a:r>
              <a:rPr lang="en-US" sz="1600" b="1" dirty="0"/>
              <a:t> = 10</a:t>
            </a:r>
            <a:r>
              <a:rPr lang="en-US" sz="1600" dirty="0"/>
              <a:t>  , </a:t>
            </a:r>
            <a:r>
              <a:rPr lang="en-US" sz="1600" b="1" dirty="0"/>
              <a:t>151 leaves</a:t>
            </a:r>
            <a:r>
              <a:rPr lang="en-US" sz="1600" dirty="0"/>
              <a:t> </a:t>
            </a:r>
          </a:p>
          <a:p>
            <a:pPr lvl="0"/>
            <a:r>
              <a:rPr lang="en-US" sz="1600" dirty="0">
                <a:solidFill>
                  <a:srgbClr val="C00000"/>
                </a:solidFill>
              </a:rPr>
              <a:t>Training accuracy decreased </a:t>
            </a:r>
            <a:r>
              <a:rPr lang="en-US" sz="1600" dirty="0"/>
              <a:t>to </a:t>
            </a:r>
            <a:r>
              <a:rPr lang="en-US" sz="1600" b="1" dirty="0"/>
              <a:t>86.68%</a:t>
            </a:r>
            <a:r>
              <a:rPr lang="en-US" sz="1600" dirty="0"/>
              <a:t>, but the model performed better on new data. </a:t>
            </a:r>
          </a:p>
          <a:p>
            <a:pPr lvl="0"/>
            <a:endParaRPr lang="en-US" sz="1600" dirty="0"/>
          </a:p>
          <a:p>
            <a:r>
              <a:rPr lang="en-US" sz="1600" b="1" dirty="0"/>
              <a:t>Why tuning helped</a:t>
            </a:r>
          </a:p>
          <a:p>
            <a:pPr lvl="0"/>
            <a:r>
              <a:rPr lang="en-US" sz="1600" dirty="0"/>
              <a:t>The goal is not to memorize training data. </a:t>
            </a:r>
          </a:p>
          <a:p>
            <a:pPr lvl="0"/>
            <a:r>
              <a:rPr lang="en-US" sz="1600" dirty="0"/>
              <a:t>The goal is to learn patterns that work on unseen data. </a:t>
            </a:r>
          </a:p>
          <a:p>
            <a:pPr lvl="0"/>
            <a:r>
              <a:rPr lang="en-US" sz="1600" dirty="0"/>
              <a:t>The constraints helped reduce overfitting.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772400" cy="256032"/>
          </a:xfrm>
          <a:prstGeom prst="rect">
            <a:avLst/>
          </a:prstGeom>
          <a:noFill/>
          <a:ln/>
        </p:spPr>
        <p:txBody>
          <a:bodyPr wrap="square" lIns="0" tIns="0" rIns="0" bIns="0" rtlCol="0" anchor="ctr"/>
          <a:lstStyle/>
          <a:p>
            <a:pPr marL="0" indent="0">
              <a:buNone/>
            </a:pPr>
            <a:r>
              <a:rPr lang="en-US" sz="1100" b="1" kern="0" spc="200" dirty="0">
                <a:solidFill>
                  <a:srgbClr val="C08A2E"/>
                </a:solidFill>
                <a:latin typeface="Calibri" pitchFamily="34" charset="0"/>
                <a:ea typeface="Calibri" pitchFamily="34" charset="-122"/>
                <a:cs typeface="Calibri" pitchFamily="34" charset="-120"/>
              </a:rPr>
              <a:t>MODEL 3</a:t>
            </a:r>
            <a:endParaRPr lang="en-US" sz="1100" dirty="0"/>
          </a:p>
        </p:txBody>
      </p:sp>
      <p:sp>
        <p:nvSpPr>
          <p:cNvPr id="3" name="Text 1"/>
          <p:cNvSpPr txBox="1"/>
          <p:nvPr/>
        </p:nvSpPr>
        <p:spPr>
          <a:xfrm>
            <a:off x="548640" y="603504"/>
            <a:ext cx="11094415" cy="566928"/>
          </a:xfrm>
          <a:prstGeom prst="rect">
            <a:avLst/>
          </a:prstGeom>
          <a:noFill/>
          <a:ln/>
        </p:spPr>
        <p:txBody>
          <a:bodyPr wrap="square" lIns="0" tIns="0" rIns="0" bIns="0" rtlCol="0" anchor="ctr"/>
          <a:lstStyle/>
          <a:p>
            <a:pPr marL="0" indent="0">
              <a:buNone/>
            </a:pPr>
            <a:r>
              <a:rPr lang="en-US" sz="3000" b="1" dirty="0">
                <a:solidFill>
                  <a:srgbClr val="12233F"/>
                </a:solidFill>
                <a:latin typeface="Cambria" pitchFamily="34" charset="0"/>
                <a:ea typeface="Cambria" pitchFamily="34" charset="-122"/>
                <a:cs typeface="Cambria" pitchFamily="34" charset="-120"/>
              </a:rPr>
              <a:t>Random Forest — best version</a:t>
            </a:r>
            <a:endParaRPr lang="en-US" sz="3000" dirty="0"/>
          </a:p>
        </p:txBody>
      </p:sp>
      <p:sp>
        <p:nvSpPr>
          <p:cNvPr id="4" name="Shape 2"/>
          <p:cNvSpPr/>
          <p:nvPr/>
        </p:nvSpPr>
        <p:spPr>
          <a:xfrm>
            <a:off x="548640" y="1371600"/>
            <a:ext cx="5715000" cy="4892040"/>
          </a:xfrm>
          <a:prstGeom prst="roundRect">
            <a:avLst>
              <a:gd name="adj" fmla="val 1308"/>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6" name="Shape 3"/>
          <p:cNvSpPr/>
          <p:nvPr/>
        </p:nvSpPr>
        <p:spPr>
          <a:xfrm>
            <a:off x="6537960" y="1371600"/>
            <a:ext cx="5349240" cy="1463040"/>
          </a:xfrm>
          <a:prstGeom prst="roundRect">
            <a:avLst>
              <a:gd name="adj" fmla="val 4375"/>
            </a:avLst>
          </a:prstGeom>
          <a:solidFill>
            <a:srgbClr val="EAF0F6"/>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7" name="Text 4"/>
          <p:cNvSpPr txBox="1"/>
          <p:nvPr/>
        </p:nvSpPr>
        <p:spPr>
          <a:xfrm>
            <a:off x="6812280" y="1554480"/>
            <a:ext cx="4846320" cy="274320"/>
          </a:xfrm>
          <a:prstGeom prst="rect">
            <a:avLst/>
          </a:prstGeom>
          <a:noFill/>
          <a:ln/>
        </p:spPr>
        <p:txBody>
          <a:bodyPr wrap="square" lIns="0" tIns="0" rIns="0" bIns="0" rtlCol="0" anchor="ctr"/>
          <a:lstStyle/>
          <a:p>
            <a:pPr marL="0" indent="0">
              <a:buNone/>
            </a:pPr>
            <a:r>
              <a:rPr lang="en-US" sz="1200" b="1" kern="0" spc="100" dirty="0">
                <a:solidFill>
                  <a:srgbClr val="C08A2E"/>
                </a:solidFill>
                <a:latin typeface="Calibri" pitchFamily="34" charset="0"/>
                <a:ea typeface="Calibri" pitchFamily="34" charset="-122"/>
                <a:cs typeface="Calibri" pitchFamily="34" charset="-120"/>
              </a:rPr>
              <a:t>IMPROVEMENT: GRIDSEARCHCV</a:t>
            </a:r>
            <a:endParaRPr lang="en-US" sz="1200" dirty="0"/>
          </a:p>
        </p:txBody>
      </p:sp>
      <p:sp>
        <p:nvSpPr>
          <p:cNvPr id="8" name="Text 5"/>
          <p:cNvSpPr txBox="1"/>
          <p:nvPr/>
        </p:nvSpPr>
        <p:spPr>
          <a:xfrm>
            <a:off x="9349740" y="1435608"/>
            <a:ext cx="4846320" cy="1472184"/>
          </a:xfrm>
          <a:prstGeom prst="rect">
            <a:avLst/>
          </a:prstGeom>
          <a:noFill/>
          <a:ln/>
        </p:spPr>
        <p:txBody>
          <a:bodyPr wrap="square" lIns="0" tIns="0" rIns="0" bIns="0" rtlCol="0" anchor="ctr"/>
          <a:lstStyle/>
          <a:p>
            <a:r>
              <a:rPr lang="en-US" sz="1000" b="1" dirty="0" err="1"/>
              <a:t>GridSearchCV</a:t>
            </a:r>
            <a:r>
              <a:rPr lang="en-US" sz="1000" b="1" dirty="0"/>
              <a:t> was used to tune:</a:t>
            </a:r>
            <a:endParaRPr lang="en-US" sz="1000" dirty="0"/>
          </a:p>
          <a:p>
            <a:pPr lvl="0"/>
            <a:r>
              <a:rPr lang="en-US" sz="1000" dirty="0" err="1"/>
              <a:t>max_depth</a:t>
            </a:r>
            <a:r>
              <a:rPr lang="en-US" sz="1000" dirty="0"/>
              <a:t> </a:t>
            </a:r>
          </a:p>
          <a:p>
            <a:pPr lvl="0"/>
            <a:r>
              <a:rPr lang="en-US" sz="1000" dirty="0" err="1"/>
              <a:t>min_samples_leaf</a:t>
            </a:r>
            <a:r>
              <a:rPr lang="en-US" sz="1000" dirty="0"/>
              <a:t> </a:t>
            </a:r>
          </a:p>
          <a:p>
            <a:pPr lvl="0"/>
            <a:r>
              <a:rPr lang="en-US" sz="1000" dirty="0" err="1"/>
              <a:t>max_features</a:t>
            </a:r>
            <a:r>
              <a:rPr lang="en-US" sz="1000" dirty="0"/>
              <a:t> </a:t>
            </a:r>
          </a:p>
          <a:p>
            <a:r>
              <a:rPr lang="en-US" sz="1000" b="1" dirty="0"/>
              <a:t>Best parameters:</a:t>
            </a:r>
            <a:endParaRPr lang="en-US" sz="1000" dirty="0"/>
          </a:p>
          <a:p>
            <a:pPr lvl="0"/>
            <a:r>
              <a:rPr lang="en-US" sz="1000" dirty="0" err="1"/>
              <a:t>max_depth</a:t>
            </a:r>
            <a:r>
              <a:rPr lang="en-US" sz="1000" dirty="0"/>
              <a:t> = None </a:t>
            </a:r>
          </a:p>
          <a:p>
            <a:pPr lvl="0"/>
            <a:r>
              <a:rPr lang="en-US" sz="1000" dirty="0" err="1"/>
              <a:t>min_samples_leaf</a:t>
            </a:r>
            <a:r>
              <a:rPr lang="en-US" sz="1000" dirty="0"/>
              <a:t> = 5 </a:t>
            </a:r>
          </a:p>
          <a:p>
            <a:pPr lvl="0"/>
            <a:r>
              <a:rPr lang="en-US" sz="1000" dirty="0" err="1"/>
              <a:t>max_features</a:t>
            </a:r>
            <a:r>
              <a:rPr lang="en-US" sz="1000" dirty="0"/>
              <a:t> = sqrt </a:t>
            </a:r>
          </a:p>
          <a:p>
            <a:r>
              <a:rPr lang="en-US" sz="1000" b="1" dirty="0"/>
              <a:t>Best CV ROC-AUC: 0.9201</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537960" y="2999232"/>
          <a:ext cx="5349240" cy="1097280"/>
        </p:xfrm>
        <a:graphic>
          <a:graphicData uri="http://schemas.openxmlformats.org/drawingml/2006/table">
            <a:tbl>
              <a:tblPr/>
              <a:tblGrid>
                <a:gridCol w="15087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6576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Version</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ROC-AUC</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365760">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Untuned (base)</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0.8443</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0.6097</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0.6537</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0.8875</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150" b="1" dirty="0">
                          <a:solidFill>
                            <a:srgbClr val="1A2233"/>
                          </a:solidFill>
                          <a:latin typeface="Calibri" pitchFamily="34" charset="0"/>
                          <a:ea typeface="Calibri" pitchFamily="34" charset="-122"/>
                          <a:cs typeface="Calibri" pitchFamily="34" charset="-120"/>
                        </a:rPr>
                        <a:t>Tuned</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0.8596</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0.5950</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0.6712</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b="1" dirty="0">
                          <a:solidFill>
                            <a:srgbClr val="12233F"/>
                          </a:solidFill>
                          <a:latin typeface="Calibri" pitchFamily="34" charset="0"/>
                          <a:ea typeface="Calibri" pitchFamily="34" charset="-122"/>
                          <a:cs typeface="Calibri" pitchFamily="34" charset="-120"/>
                        </a:rPr>
                        <a:t>0.9126</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0" name="Shape 6"/>
          <p:cNvSpPr/>
          <p:nvPr/>
        </p:nvSpPr>
        <p:spPr>
          <a:xfrm>
            <a:off x="6537960" y="4160520"/>
            <a:ext cx="5349240" cy="2103120"/>
          </a:xfrm>
          <a:prstGeom prst="roundRect">
            <a:avLst>
              <a:gd name="adj" fmla="val 3043"/>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11" name="Text 7"/>
          <p:cNvSpPr txBox="1"/>
          <p:nvPr/>
        </p:nvSpPr>
        <p:spPr>
          <a:xfrm>
            <a:off x="6812280" y="4343400"/>
            <a:ext cx="4846320" cy="274320"/>
          </a:xfrm>
          <a:prstGeom prst="rect">
            <a:avLst/>
          </a:prstGeom>
          <a:noFill/>
          <a:ln/>
        </p:spPr>
        <p:txBody>
          <a:bodyPr wrap="square" lIns="0" tIns="0" rIns="0" bIns="0" rtlCol="0" anchor="ctr"/>
          <a:lstStyle/>
          <a:p>
            <a:pPr marL="0" indent="0">
              <a:buNone/>
            </a:pPr>
            <a:r>
              <a:rPr lang="en-US" sz="1200" b="1" kern="0" spc="100" dirty="0">
                <a:solidFill>
                  <a:srgbClr val="2E7387"/>
                </a:solidFill>
                <a:latin typeface="Calibri" pitchFamily="34" charset="0"/>
                <a:ea typeface="Calibri" pitchFamily="34" charset="-122"/>
                <a:cs typeface="Calibri" pitchFamily="34" charset="-120"/>
              </a:rPr>
              <a:t>AVERAGING BEATS PRUNING</a:t>
            </a:r>
            <a:endParaRPr lang="en-US" sz="1200" dirty="0"/>
          </a:p>
        </p:txBody>
      </p:sp>
      <p:sp>
        <p:nvSpPr>
          <p:cNvPr id="12" name="Text 8"/>
          <p:cNvSpPr txBox="1"/>
          <p:nvPr/>
        </p:nvSpPr>
        <p:spPr>
          <a:xfrm>
            <a:off x="6812280" y="4645152"/>
            <a:ext cx="4846320" cy="1508760"/>
          </a:xfrm>
          <a:prstGeom prst="rect">
            <a:avLst/>
          </a:prstGeom>
          <a:noFill/>
          <a:ln/>
        </p:spPr>
        <p:txBody>
          <a:bodyPr wrap="square" rtlCol="0" anchor="t"/>
          <a:lstStyle/>
          <a:p>
            <a:pPr lvl="0"/>
            <a:endParaRPr lang="en-US" sz="1200" dirty="0"/>
          </a:p>
          <a:p>
            <a:pPr lvl="0"/>
            <a:r>
              <a:rPr lang="en-US" sz="1200" dirty="0"/>
              <a:t>Before tuning, it achieved better test performance than a single Decision Tree: </a:t>
            </a:r>
          </a:p>
          <a:p>
            <a:pPr lvl="1"/>
            <a:r>
              <a:rPr lang="en-US" sz="1200" dirty="0"/>
              <a:t>Random Forest: </a:t>
            </a:r>
            <a:r>
              <a:rPr lang="en-US" sz="1200" b="1" dirty="0"/>
              <a:t>0.8875 ROC-AUC</a:t>
            </a:r>
            <a:r>
              <a:rPr lang="en-US" sz="1200" dirty="0"/>
              <a:t> </a:t>
            </a:r>
          </a:p>
          <a:p>
            <a:pPr lvl="1"/>
            <a:r>
              <a:rPr lang="en-US" sz="1200" dirty="0"/>
              <a:t>Decision Tree: </a:t>
            </a:r>
            <a:r>
              <a:rPr lang="en-US" sz="1200" b="1" dirty="0"/>
              <a:t>0.7602 ROC-AUC</a:t>
            </a:r>
            <a:r>
              <a:rPr lang="en-US" sz="1200" dirty="0"/>
              <a:t> </a:t>
            </a:r>
          </a:p>
          <a:p>
            <a:pPr lvl="0"/>
            <a:r>
              <a:rPr lang="en-US" sz="1200" dirty="0"/>
              <a:t>Averaging multiple trees reduced overfitting. </a:t>
            </a:r>
          </a:p>
          <a:p>
            <a:pPr lvl="0"/>
            <a:r>
              <a:rPr lang="en-US" sz="1200" dirty="0"/>
              <a:t>Tuning further improved ROC-AUC to </a:t>
            </a:r>
            <a:r>
              <a:rPr lang="en-US" sz="1200" b="1" dirty="0"/>
              <a:t>0.9126</a:t>
            </a:r>
            <a:r>
              <a:rPr lang="en-US" sz="1200" dirty="0"/>
              <a:t>.</a:t>
            </a:r>
          </a:p>
        </p:txBody>
      </p:sp>
      <p:sp>
        <p:nvSpPr>
          <p:cNvPr id="14" name="TextBox 13">
            <a:extLst>
              <a:ext uri="{FF2B5EF4-FFF2-40B4-BE49-F238E27FC236}">
                <a16:creationId xmlns:a16="http://schemas.microsoft.com/office/drawing/2014/main" id="{ADF66122-CAB2-F888-FA35-F90BCF5ACE2E}"/>
              </a:ext>
            </a:extLst>
          </p:cNvPr>
          <p:cNvSpPr txBox="1"/>
          <p:nvPr/>
        </p:nvSpPr>
        <p:spPr>
          <a:xfrm>
            <a:off x="703580" y="1718532"/>
            <a:ext cx="5204460" cy="1754326"/>
          </a:xfrm>
          <a:prstGeom prst="rect">
            <a:avLst/>
          </a:prstGeom>
          <a:noFill/>
        </p:spPr>
        <p:txBody>
          <a:bodyPr wrap="square">
            <a:spAutoFit/>
          </a:bodyPr>
          <a:lstStyle/>
          <a:p>
            <a:r>
              <a:rPr lang="en-US" dirty="0"/>
              <a:t>Random Forest combines many decision trees to improve stability. </a:t>
            </a:r>
          </a:p>
          <a:p>
            <a:pPr>
              <a:buNone/>
            </a:pPr>
            <a:endParaRPr lang="en-US" b="1" dirty="0"/>
          </a:p>
          <a:p>
            <a:pPr>
              <a:buNone/>
            </a:pPr>
            <a:r>
              <a:rPr lang="en-US" b="1" dirty="0"/>
              <a:t>The model found marital status, capital gain, and education level to be the most important factors for predicting income.</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772400" cy="256032"/>
          </a:xfrm>
          <a:prstGeom prst="rect">
            <a:avLst/>
          </a:prstGeom>
          <a:noFill/>
          <a:ln/>
        </p:spPr>
        <p:txBody>
          <a:bodyPr wrap="square" lIns="0" tIns="0" rIns="0" bIns="0" rtlCol="0" anchor="ctr"/>
          <a:lstStyle/>
          <a:p>
            <a:pPr marL="0" indent="0">
              <a:buNone/>
            </a:pPr>
            <a:r>
              <a:rPr lang="en-US" sz="1100" b="1" kern="0" spc="200" dirty="0">
                <a:solidFill>
                  <a:srgbClr val="C08A2E"/>
                </a:solidFill>
                <a:latin typeface="Calibri" pitchFamily="34" charset="0"/>
                <a:ea typeface="Calibri" pitchFamily="34" charset="-122"/>
                <a:cs typeface="Calibri" pitchFamily="34" charset="-120"/>
              </a:rPr>
              <a:t>MODEL 4</a:t>
            </a:r>
            <a:endParaRPr lang="en-US" sz="1100" dirty="0"/>
          </a:p>
        </p:txBody>
      </p:sp>
      <p:sp>
        <p:nvSpPr>
          <p:cNvPr id="3" name="Text 1"/>
          <p:cNvSpPr txBox="1"/>
          <p:nvPr/>
        </p:nvSpPr>
        <p:spPr>
          <a:xfrm>
            <a:off x="548640" y="603504"/>
            <a:ext cx="11094415" cy="566928"/>
          </a:xfrm>
          <a:prstGeom prst="rect">
            <a:avLst/>
          </a:prstGeom>
          <a:noFill/>
          <a:ln/>
        </p:spPr>
        <p:txBody>
          <a:bodyPr wrap="square" lIns="0" tIns="0" rIns="0" bIns="0" rtlCol="0" anchor="ctr"/>
          <a:lstStyle/>
          <a:p>
            <a:pPr marL="0" indent="0">
              <a:buNone/>
            </a:pPr>
            <a:r>
              <a:rPr lang="en-US" sz="3000" b="1" dirty="0">
                <a:solidFill>
                  <a:srgbClr val="12233F"/>
                </a:solidFill>
                <a:latin typeface="Cambria" pitchFamily="34" charset="0"/>
                <a:ea typeface="Cambria" pitchFamily="34" charset="-122"/>
                <a:cs typeface="Cambria" pitchFamily="34" charset="-120"/>
              </a:rPr>
              <a:t>XGBoost — best version, and the final model</a:t>
            </a:r>
            <a:endParaRPr lang="en-US" sz="3000" dirty="0"/>
          </a:p>
        </p:txBody>
      </p:sp>
      <p:sp>
        <p:nvSpPr>
          <p:cNvPr id="4" name="Shape 2"/>
          <p:cNvSpPr/>
          <p:nvPr/>
        </p:nvSpPr>
        <p:spPr>
          <a:xfrm>
            <a:off x="304800" y="1371600"/>
            <a:ext cx="5958840" cy="4892040"/>
          </a:xfrm>
          <a:prstGeom prst="roundRect">
            <a:avLst>
              <a:gd name="adj" fmla="val 1308"/>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6" name="Shape 3"/>
          <p:cNvSpPr/>
          <p:nvPr/>
        </p:nvSpPr>
        <p:spPr>
          <a:xfrm>
            <a:off x="6537960" y="1371600"/>
            <a:ext cx="5349240" cy="1600200"/>
          </a:xfrm>
          <a:prstGeom prst="roundRect">
            <a:avLst>
              <a:gd name="adj" fmla="val 4000"/>
            </a:avLst>
          </a:prstGeom>
          <a:solidFill>
            <a:srgbClr val="EAF0F6"/>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7" name="Text 4"/>
          <p:cNvSpPr txBox="1"/>
          <p:nvPr/>
        </p:nvSpPr>
        <p:spPr>
          <a:xfrm>
            <a:off x="6812280" y="1554480"/>
            <a:ext cx="4846320" cy="274320"/>
          </a:xfrm>
          <a:prstGeom prst="rect">
            <a:avLst/>
          </a:prstGeom>
          <a:noFill/>
          <a:ln/>
        </p:spPr>
        <p:txBody>
          <a:bodyPr wrap="square" lIns="0" tIns="0" rIns="0" bIns="0" rtlCol="0" anchor="ctr"/>
          <a:lstStyle/>
          <a:p>
            <a:pPr marL="0" indent="0">
              <a:buNone/>
            </a:pPr>
            <a:r>
              <a:rPr lang="en-US" sz="1200" b="1" kern="0" spc="100" dirty="0">
                <a:solidFill>
                  <a:srgbClr val="C08A2E"/>
                </a:solidFill>
                <a:latin typeface="Calibri" pitchFamily="34" charset="0"/>
                <a:ea typeface="Calibri" pitchFamily="34" charset="-122"/>
                <a:cs typeface="Calibri" pitchFamily="34" charset="-120"/>
              </a:rPr>
              <a:t>IMPROVEMENT: GRIDSEARCHCV</a:t>
            </a:r>
            <a:endParaRPr lang="en-US" sz="1200" dirty="0"/>
          </a:p>
        </p:txBody>
      </p:sp>
      <p:sp>
        <p:nvSpPr>
          <p:cNvPr id="8" name="Text 5"/>
          <p:cNvSpPr txBox="1"/>
          <p:nvPr/>
        </p:nvSpPr>
        <p:spPr>
          <a:xfrm>
            <a:off x="9666642" y="1613647"/>
            <a:ext cx="2525358" cy="1051560"/>
          </a:xfrm>
          <a:prstGeom prst="rect">
            <a:avLst/>
          </a:prstGeom>
          <a:noFill/>
          <a:ln/>
        </p:spPr>
        <p:txBody>
          <a:bodyPr wrap="square" lIns="0" tIns="0" rIns="0" bIns="0" rtlCol="0" anchor="ctr"/>
          <a:lstStyle/>
          <a:p>
            <a:r>
              <a:rPr lang="en-US" sz="1000" b="1" dirty="0" err="1"/>
              <a:t>GridSearchCV</a:t>
            </a:r>
            <a:r>
              <a:rPr lang="en-US" sz="1000" b="1" dirty="0"/>
              <a:t> was used to tune:</a:t>
            </a:r>
            <a:endParaRPr lang="en-US" sz="1000" dirty="0"/>
          </a:p>
          <a:p>
            <a:pPr lvl="0"/>
            <a:r>
              <a:rPr lang="en-US" sz="1000" dirty="0"/>
              <a:t>Number of trees (</a:t>
            </a:r>
            <a:r>
              <a:rPr lang="en-US" sz="1000" dirty="0" err="1"/>
              <a:t>n_estimators</a:t>
            </a:r>
            <a:r>
              <a:rPr lang="en-US" sz="1000" dirty="0"/>
              <a:t>) </a:t>
            </a:r>
          </a:p>
          <a:p>
            <a:pPr lvl="0"/>
            <a:r>
              <a:rPr lang="en-US" sz="1000" dirty="0"/>
              <a:t>Tree depth (</a:t>
            </a:r>
            <a:r>
              <a:rPr lang="en-US" sz="1000" dirty="0" err="1"/>
              <a:t>max_depth</a:t>
            </a:r>
            <a:r>
              <a:rPr lang="en-US" sz="1000" dirty="0"/>
              <a:t>) </a:t>
            </a:r>
          </a:p>
          <a:p>
            <a:pPr lvl="0"/>
            <a:r>
              <a:rPr lang="en-US" sz="1000" dirty="0"/>
              <a:t>Learning rate </a:t>
            </a:r>
          </a:p>
          <a:p>
            <a:pPr lvl="0"/>
            <a:r>
              <a:rPr lang="en-US" sz="1000" dirty="0"/>
              <a:t>Subsampling parameters </a:t>
            </a:r>
          </a:p>
          <a:p>
            <a:r>
              <a:rPr lang="en-US" sz="1000" b="1" dirty="0"/>
              <a:t>Best parameters:</a:t>
            </a:r>
            <a:endParaRPr lang="en-US" sz="1000" dirty="0"/>
          </a:p>
          <a:p>
            <a:pPr lvl="0"/>
            <a:r>
              <a:rPr lang="en-US" sz="1000" dirty="0" err="1"/>
              <a:t>n_estimators</a:t>
            </a:r>
            <a:r>
              <a:rPr lang="en-US" sz="1000" dirty="0"/>
              <a:t> = 400 </a:t>
            </a:r>
          </a:p>
          <a:p>
            <a:pPr lvl="0"/>
            <a:r>
              <a:rPr lang="en-US" sz="1000" dirty="0" err="1"/>
              <a:t>max_depth</a:t>
            </a:r>
            <a:r>
              <a:rPr lang="en-US" sz="1000" dirty="0"/>
              <a:t> = 5 </a:t>
            </a:r>
          </a:p>
          <a:p>
            <a:pPr lvl="0"/>
            <a:r>
              <a:rPr lang="en-US" sz="1000" dirty="0" err="1"/>
              <a:t>learning_rate</a:t>
            </a:r>
            <a:r>
              <a:rPr lang="en-US" sz="1000" dirty="0"/>
              <a:t> = 0.05 </a:t>
            </a:r>
          </a:p>
          <a:p>
            <a:pPr lvl="0"/>
            <a:r>
              <a:rPr lang="en-US" sz="1000" dirty="0"/>
              <a:t>subsample = 1.0 </a:t>
            </a:r>
          </a:p>
          <a:p>
            <a:pPr lvl="0"/>
            <a:r>
              <a:rPr lang="en-US" sz="1000" dirty="0" err="1"/>
              <a:t>colsample_bytree</a:t>
            </a:r>
            <a:r>
              <a:rPr lang="en-US" sz="1000" dirty="0"/>
              <a:t> = 0.8 </a:t>
            </a:r>
          </a:p>
          <a:p>
            <a:r>
              <a:rPr lang="en-US" sz="1000" b="1" dirty="0"/>
              <a:t>Best CV ROC-AUC: 0.9307</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537960" y="3136392"/>
          <a:ext cx="5349240" cy="1097280"/>
        </p:xfrm>
        <a:graphic>
          <a:graphicData uri="http://schemas.openxmlformats.org/drawingml/2006/table">
            <a:tbl>
              <a:tblPr/>
              <a:tblGrid>
                <a:gridCol w="15087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6576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Version</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ROC-AUC</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365760">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Untuned (base)</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0.8680</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0.6499</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0.7035</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0.9215</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150" b="1" dirty="0">
                          <a:solidFill>
                            <a:srgbClr val="1A2233"/>
                          </a:solidFill>
                          <a:latin typeface="Calibri" pitchFamily="34" charset="0"/>
                          <a:ea typeface="Calibri" pitchFamily="34" charset="-122"/>
                          <a:cs typeface="Calibri" pitchFamily="34" charset="-120"/>
                        </a:rPr>
                        <a:t>Tuned</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0.8675</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0.6390</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dirty="0">
                          <a:solidFill>
                            <a:srgbClr val="1A2233"/>
                          </a:solidFill>
                          <a:latin typeface="Calibri" pitchFamily="34" charset="0"/>
                          <a:ea typeface="Calibri" pitchFamily="34" charset="-122"/>
                          <a:cs typeface="Calibri" pitchFamily="34" charset="-120"/>
                        </a:rPr>
                        <a:t>0.6992</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50" b="1" dirty="0">
                          <a:solidFill>
                            <a:srgbClr val="C08A2E"/>
                          </a:solidFill>
                          <a:latin typeface="Calibri" pitchFamily="34" charset="0"/>
                          <a:ea typeface="Calibri" pitchFamily="34" charset="-122"/>
                          <a:cs typeface="Calibri" pitchFamily="34" charset="-120"/>
                        </a:rPr>
                        <a:t>0.9229</a:t>
                      </a:r>
                      <a:endParaRPr lang="en-US" sz="115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0" name="Shape 6"/>
          <p:cNvSpPr/>
          <p:nvPr/>
        </p:nvSpPr>
        <p:spPr>
          <a:xfrm>
            <a:off x="6537960" y="4297680"/>
            <a:ext cx="5349240" cy="1965960"/>
          </a:xfrm>
          <a:prstGeom prst="roundRect">
            <a:avLst>
              <a:gd name="adj" fmla="val 3256"/>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11" name="Text 7"/>
          <p:cNvSpPr txBox="1"/>
          <p:nvPr/>
        </p:nvSpPr>
        <p:spPr>
          <a:xfrm>
            <a:off x="6812280" y="4480560"/>
            <a:ext cx="4846320" cy="274320"/>
          </a:xfrm>
          <a:prstGeom prst="rect">
            <a:avLst/>
          </a:prstGeom>
          <a:noFill/>
          <a:ln/>
        </p:spPr>
        <p:txBody>
          <a:bodyPr wrap="square" lIns="0" tIns="0" rIns="0" bIns="0" rtlCol="0" anchor="ctr"/>
          <a:lstStyle/>
          <a:p>
            <a:pPr marL="0" indent="0">
              <a:buNone/>
            </a:pPr>
            <a:r>
              <a:rPr lang="en-US" sz="1200" b="1" kern="0" spc="100" dirty="0">
                <a:solidFill>
                  <a:srgbClr val="2E7387"/>
                </a:solidFill>
                <a:latin typeface="Calibri" pitchFamily="34" charset="0"/>
                <a:ea typeface="Calibri" pitchFamily="34" charset="-122"/>
                <a:cs typeface="Calibri" pitchFamily="34" charset="-120"/>
              </a:rPr>
              <a:t>STRONGEST BEFORE TUNING</a:t>
            </a:r>
            <a:endParaRPr lang="en-US" sz="1200" dirty="0"/>
          </a:p>
        </p:txBody>
      </p:sp>
      <p:sp>
        <p:nvSpPr>
          <p:cNvPr id="12" name="Text 8"/>
          <p:cNvSpPr txBox="1"/>
          <p:nvPr/>
        </p:nvSpPr>
        <p:spPr>
          <a:xfrm>
            <a:off x="6812280" y="4773168"/>
            <a:ext cx="4846320" cy="1371600"/>
          </a:xfrm>
          <a:prstGeom prst="rect">
            <a:avLst/>
          </a:prstGeom>
          <a:noFill/>
          <a:ln/>
        </p:spPr>
        <p:txBody>
          <a:bodyPr wrap="square" rtlCol="0" anchor="t"/>
          <a:lstStyle/>
          <a:p>
            <a:pPr lvl="0"/>
            <a:r>
              <a:rPr lang="en-US" sz="1200" dirty="0" err="1"/>
              <a:t>XGBoost</a:t>
            </a:r>
            <a:r>
              <a:rPr lang="en-US" sz="1200" dirty="0"/>
              <a:t> was already the strongest model before tuning. </a:t>
            </a:r>
          </a:p>
          <a:p>
            <a:pPr lvl="0"/>
            <a:r>
              <a:rPr lang="en-US" sz="1200" dirty="0"/>
              <a:t>Base ROC-AUC: </a:t>
            </a:r>
            <a:r>
              <a:rPr lang="en-US" sz="1200" b="1" dirty="0"/>
              <a:t>0.9215</a:t>
            </a:r>
            <a:r>
              <a:rPr lang="en-US" sz="1200" dirty="0"/>
              <a:t> </a:t>
            </a:r>
          </a:p>
          <a:p>
            <a:pPr lvl="0"/>
            <a:r>
              <a:rPr lang="en-US" sz="1200" dirty="0"/>
              <a:t>Tuned ROC-AUC: </a:t>
            </a:r>
            <a:r>
              <a:rPr lang="en-US" sz="1200" b="1" dirty="0"/>
              <a:t>0.9229</a:t>
            </a:r>
            <a:r>
              <a:rPr lang="en-US" sz="1200" dirty="0"/>
              <a:t> </a:t>
            </a:r>
          </a:p>
          <a:p>
            <a:pPr lvl="0"/>
            <a:r>
              <a:rPr lang="en-US" sz="1200" dirty="0"/>
              <a:t>Best CV ROC-AUC among all models: </a:t>
            </a:r>
            <a:r>
              <a:rPr lang="en-US" sz="1200" b="1" dirty="0"/>
              <a:t>0.9307</a:t>
            </a:r>
            <a:r>
              <a:rPr lang="en-US" sz="1200" dirty="0"/>
              <a:t> </a:t>
            </a:r>
          </a:p>
          <a:p>
            <a:pPr lvl="0"/>
            <a:r>
              <a:rPr lang="en-US" sz="1200" dirty="0"/>
              <a:t>Tuning gave a small improvement because the base model was already strong.</a:t>
            </a:r>
          </a:p>
        </p:txBody>
      </p:sp>
      <p:sp>
        <p:nvSpPr>
          <p:cNvPr id="13" name="TextBox 12">
            <a:extLst>
              <a:ext uri="{FF2B5EF4-FFF2-40B4-BE49-F238E27FC236}">
                <a16:creationId xmlns:a16="http://schemas.microsoft.com/office/drawing/2014/main" id="{4CFFA839-0FE0-B995-9B7D-E3D8448C53B5}"/>
              </a:ext>
            </a:extLst>
          </p:cNvPr>
          <p:cNvSpPr txBox="1"/>
          <p:nvPr/>
        </p:nvSpPr>
        <p:spPr>
          <a:xfrm>
            <a:off x="320040" y="1513439"/>
            <a:ext cx="6096000" cy="923330"/>
          </a:xfrm>
          <a:prstGeom prst="rect">
            <a:avLst/>
          </a:prstGeom>
          <a:noFill/>
        </p:spPr>
        <p:txBody>
          <a:bodyPr wrap="square">
            <a:spAutoFit/>
          </a:bodyPr>
          <a:lstStyle/>
          <a:p>
            <a:r>
              <a:rPr lang="en-US" dirty="0"/>
              <a:t>We tested different settings to find the best version of </a:t>
            </a:r>
            <a:r>
              <a:rPr lang="en-US" dirty="0" err="1"/>
              <a:t>XGBoost</a:t>
            </a:r>
            <a:r>
              <a:rPr lang="en-US" dirty="0"/>
              <a:t>. The model was already performing very well, and tuning improved its ROC-AUC from 0.9215 to 0.9229.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4F7FA"/>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772400" cy="256032"/>
          </a:xfrm>
          <a:prstGeom prst="rect">
            <a:avLst/>
          </a:prstGeom>
          <a:noFill/>
          <a:ln/>
        </p:spPr>
        <p:txBody>
          <a:bodyPr wrap="square" lIns="0" tIns="0" rIns="0" bIns="0" rtlCol="0" anchor="ctr"/>
          <a:lstStyle/>
          <a:p>
            <a:pPr marL="0" indent="0">
              <a:buNone/>
            </a:pPr>
            <a:r>
              <a:rPr lang="en-US" sz="1100" b="1" kern="0" spc="200" dirty="0">
                <a:solidFill>
                  <a:srgbClr val="C08A2E"/>
                </a:solidFill>
                <a:latin typeface="Calibri" pitchFamily="34" charset="0"/>
                <a:ea typeface="Calibri" pitchFamily="34" charset="-122"/>
                <a:cs typeface="Calibri" pitchFamily="34" charset="-120"/>
              </a:rPr>
              <a:t>CONCLUSION</a:t>
            </a:r>
            <a:endParaRPr lang="en-US" sz="1100" dirty="0"/>
          </a:p>
        </p:txBody>
      </p:sp>
      <p:sp>
        <p:nvSpPr>
          <p:cNvPr id="3" name="Text 1"/>
          <p:cNvSpPr txBox="1"/>
          <p:nvPr/>
        </p:nvSpPr>
        <p:spPr>
          <a:xfrm>
            <a:off x="548640" y="603504"/>
            <a:ext cx="11094415" cy="566928"/>
          </a:xfrm>
          <a:prstGeom prst="rect">
            <a:avLst/>
          </a:prstGeom>
          <a:noFill/>
          <a:ln/>
        </p:spPr>
        <p:txBody>
          <a:bodyPr wrap="square" lIns="0" tIns="0" rIns="0" bIns="0" rtlCol="0" anchor="ctr"/>
          <a:lstStyle/>
          <a:p>
            <a:pPr marL="0" indent="0">
              <a:buNone/>
            </a:pPr>
            <a:r>
              <a:rPr lang="en-US" sz="3000" b="1" dirty="0">
                <a:solidFill>
                  <a:srgbClr val="12233F"/>
                </a:solidFill>
                <a:latin typeface="Cambria" pitchFamily="34" charset="0"/>
                <a:ea typeface="Cambria" pitchFamily="34" charset="-122"/>
                <a:cs typeface="Cambria" pitchFamily="34" charset="-120"/>
              </a:rPr>
              <a:t>Model comparison — all six on the same test set</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858000" cy="3273552"/>
        </p:xfrm>
        <a:graphic>
          <a:graphicData uri="http://schemas.openxmlformats.org/drawingml/2006/table">
            <a:tbl>
              <a:tblPr/>
              <a:tblGrid>
                <a:gridCol w="21945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tblGrid>
              <a:tr h="402336">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Untuned</a:t>
                      </a:r>
                      <a:endParaRPr lang="en-US" sz="1200" dirty="0">
                        <a:latin typeface="Calibri" charset="0"/>
                        <a:ea typeface="Calibri" charset="0"/>
                        <a:cs typeface="Calibri" charset="0"/>
                      </a:endParaRPr>
                    </a:p>
                    <a:p>
                      <a:pPr marL="0" indent="0" algn="ctr">
                        <a:buNone/>
                      </a:pPr>
                      <a:r>
                        <a:rPr lang="en-US" sz="1200" b="1" dirty="0">
                          <a:solidFill>
                            <a:srgbClr val="FFFFFF"/>
                          </a:solidFill>
                          <a:latin typeface="Calibri" pitchFamily="34" charset="0"/>
                          <a:ea typeface="Calibri" pitchFamily="34" charset="-122"/>
                          <a:cs typeface="Calibri" pitchFamily="34" charset="-120"/>
                        </a:rPr>
                        <a:t>ROC-AUC</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Tuned</a:t>
                      </a:r>
                      <a:endParaRPr lang="en-US" sz="1200" dirty="0">
                        <a:latin typeface="Calibri" charset="0"/>
                        <a:ea typeface="Calibri" charset="0"/>
                        <a:cs typeface="Calibri" charset="0"/>
                      </a:endParaRPr>
                    </a:p>
                    <a:p>
                      <a:pPr marL="0" indent="0" algn="ctr">
                        <a:buNone/>
                      </a:pPr>
                      <a:r>
                        <a:rPr lang="en-US" sz="1200" b="1" dirty="0">
                          <a:solidFill>
                            <a:srgbClr val="FFFFFF"/>
                          </a:solidFill>
                          <a:latin typeface="Calibri" pitchFamily="34" charset="0"/>
                          <a:ea typeface="Calibri" pitchFamily="34" charset="-122"/>
                          <a:cs typeface="Calibri" pitchFamily="34" charset="-120"/>
                        </a:rPr>
                        <a:t>ROC-AUC</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402336">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Majority class baseline</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0.5000</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0.7591</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0.0000</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0.0000</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0.0000</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K-Nearest Neighbours</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0.8384</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0.8849</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0.8376</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0.7007</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0.5689</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0.6279</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Support Vector Machine</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0.8835</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0.8935</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0.8405</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0.7127</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0.5663</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0.6311</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Logistic Regression</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0.8954</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0.8956</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0.8453</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0.7159</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0.5931</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0.6488</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Decision Tree</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0.7602</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0.8979</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0.8540</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0.7655</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0.5682</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0.6523</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extLst>
                  <a:ext uri="{0D108BD9-81ED-4DB2-BD59-A6C34878D82A}">
                    <a16:rowId xmlns:a16="http://schemas.microsoft.com/office/drawing/2014/main" val="10005"/>
                  </a:ext>
                </a:extLst>
              </a:tr>
              <a:tr h="402336">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Random Forest</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0.8875</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0.9126</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0.8596</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0.7698</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0.5950</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0.6712</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tcPr>
                </a:tc>
                <a:extLst>
                  <a:ext uri="{0D108BD9-81ED-4DB2-BD59-A6C34878D82A}">
                    <a16:rowId xmlns:a16="http://schemas.microsoft.com/office/drawing/2014/main" val="10006"/>
                  </a:ext>
                </a:extLst>
              </a:tr>
              <a:tr h="402336">
                <a:tc>
                  <a:txBody>
                    <a:bodyPr/>
                    <a:lstStyle/>
                    <a:p>
                      <a:pPr marL="0" indent="0" algn="ctr">
                        <a:buNone/>
                      </a:pPr>
                      <a:r>
                        <a:rPr lang="en-US" sz="1100" b="1" dirty="0">
                          <a:solidFill>
                            <a:srgbClr val="1A2233"/>
                          </a:solidFill>
                          <a:latin typeface="Calibri" pitchFamily="34" charset="0"/>
                          <a:ea typeface="Calibri" pitchFamily="34" charset="-122"/>
                          <a:cs typeface="Calibri" pitchFamily="34" charset="-120"/>
                        </a:rPr>
                        <a:t>XGBoost</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FBF3E2"/>
                    </a:solidFill>
                  </a:tcPr>
                </a:tc>
                <a:tc>
                  <a:txBody>
                    <a:bodyPr/>
                    <a:lstStyle/>
                    <a:p>
                      <a:pPr marL="0" indent="0" algn="ctr">
                        <a:buNone/>
                      </a:pPr>
                      <a:r>
                        <a:rPr lang="en-US" sz="1100" dirty="0">
                          <a:solidFill>
                            <a:srgbClr val="1A2233"/>
                          </a:solidFill>
                          <a:latin typeface="Calibri" pitchFamily="34" charset="0"/>
                          <a:ea typeface="Calibri" pitchFamily="34" charset="-122"/>
                          <a:cs typeface="Calibri" pitchFamily="34" charset="-120"/>
                        </a:rPr>
                        <a:t>0.9215</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FBF3E2"/>
                    </a:solidFill>
                  </a:tcPr>
                </a:tc>
                <a:tc>
                  <a:txBody>
                    <a:bodyPr/>
                    <a:lstStyle/>
                    <a:p>
                      <a:pPr marL="0" indent="0" algn="ctr">
                        <a:buNone/>
                      </a:pPr>
                      <a:r>
                        <a:rPr lang="en-US" sz="1100" b="1" dirty="0">
                          <a:solidFill>
                            <a:srgbClr val="C08A2E"/>
                          </a:solidFill>
                          <a:latin typeface="Calibri" pitchFamily="34" charset="0"/>
                          <a:ea typeface="Calibri" pitchFamily="34" charset="-122"/>
                          <a:cs typeface="Calibri" pitchFamily="34" charset="-120"/>
                        </a:rPr>
                        <a:t>0.9229</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FBF3E2"/>
                    </a:solidFill>
                  </a:tcPr>
                </a:tc>
                <a:tc>
                  <a:txBody>
                    <a:bodyPr/>
                    <a:lstStyle/>
                    <a:p>
                      <a:pPr marL="0" indent="0" algn="ctr">
                        <a:buNone/>
                      </a:pPr>
                      <a:r>
                        <a:rPr lang="en-US" sz="1100" b="1" dirty="0">
                          <a:solidFill>
                            <a:srgbClr val="1A2233"/>
                          </a:solidFill>
                          <a:latin typeface="Calibri" pitchFamily="34" charset="0"/>
                          <a:ea typeface="Calibri" pitchFamily="34" charset="-122"/>
                          <a:cs typeface="Calibri" pitchFamily="34" charset="-120"/>
                        </a:rPr>
                        <a:t>0.8675</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FBF3E2"/>
                    </a:solidFill>
                  </a:tcPr>
                </a:tc>
                <a:tc>
                  <a:txBody>
                    <a:bodyPr/>
                    <a:lstStyle/>
                    <a:p>
                      <a:pPr marL="0" indent="0" algn="ctr">
                        <a:buNone/>
                      </a:pPr>
                      <a:r>
                        <a:rPr lang="en-US" sz="1100" b="1" dirty="0">
                          <a:solidFill>
                            <a:srgbClr val="1A2233"/>
                          </a:solidFill>
                          <a:latin typeface="Calibri" pitchFamily="34" charset="0"/>
                          <a:ea typeface="Calibri" pitchFamily="34" charset="-122"/>
                          <a:cs typeface="Calibri" pitchFamily="34" charset="-120"/>
                        </a:rPr>
                        <a:t>0.7720</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FBF3E2"/>
                    </a:solidFill>
                  </a:tcPr>
                </a:tc>
                <a:tc>
                  <a:txBody>
                    <a:bodyPr/>
                    <a:lstStyle/>
                    <a:p>
                      <a:pPr marL="0" indent="0" algn="ctr">
                        <a:buNone/>
                      </a:pPr>
                      <a:r>
                        <a:rPr lang="en-US" sz="1100" b="1" dirty="0">
                          <a:solidFill>
                            <a:srgbClr val="1A2233"/>
                          </a:solidFill>
                          <a:latin typeface="Calibri" pitchFamily="34" charset="0"/>
                          <a:ea typeface="Calibri" pitchFamily="34" charset="-122"/>
                          <a:cs typeface="Calibri" pitchFamily="34" charset="-120"/>
                        </a:rPr>
                        <a:t>0.6390</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FBF3E2"/>
                    </a:solidFill>
                  </a:tcPr>
                </a:tc>
                <a:tc>
                  <a:txBody>
                    <a:bodyPr/>
                    <a:lstStyle/>
                    <a:p>
                      <a:pPr marL="0" indent="0" algn="ctr">
                        <a:buNone/>
                      </a:pPr>
                      <a:r>
                        <a:rPr lang="en-US" sz="1100" b="1" dirty="0">
                          <a:solidFill>
                            <a:srgbClr val="1A2233"/>
                          </a:solidFill>
                          <a:latin typeface="Calibri" pitchFamily="34" charset="0"/>
                          <a:ea typeface="Calibri" pitchFamily="34" charset="-122"/>
                          <a:cs typeface="Calibri" pitchFamily="34" charset="-120"/>
                        </a:rPr>
                        <a:t>0.6992</a:t>
                      </a:r>
                      <a:endParaRPr lang="en-US" sz="1100" dirty="0">
                        <a:latin typeface="Calibri" charset="0"/>
                        <a:ea typeface="Calibri" charset="0"/>
                        <a:cs typeface="Calibri" charset="0"/>
                      </a:endParaRPr>
                    </a:p>
                  </a:txBody>
                  <a:tcPr anchor="ctr">
                    <a:lnL w="6350" cap="flat" cmpd="sng" algn="ctr">
                      <a:solidFill>
                        <a:srgbClr val="DCE4EE"/>
                      </a:solidFill>
                      <a:prstDash val="solid"/>
                      <a:round/>
                      <a:headEnd type="none" w="med" len="med"/>
                      <a:tailEnd type="none" w="med" len="med"/>
                    </a:lnL>
                    <a:lnR w="6350" cap="flat" cmpd="sng" algn="ctr">
                      <a:solidFill>
                        <a:srgbClr val="DCE4EE"/>
                      </a:solidFill>
                      <a:prstDash val="solid"/>
                      <a:round/>
                      <a:headEnd type="none" w="med" len="med"/>
                      <a:tailEnd type="none" w="med" len="med"/>
                    </a:lnR>
                    <a:lnT w="6350" cap="flat" cmpd="sng" algn="ctr">
                      <a:solidFill>
                        <a:srgbClr val="DCE4EE"/>
                      </a:solidFill>
                      <a:prstDash val="solid"/>
                      <a:round/>
                      <a:headEnd type="none" w="med" len="med"/>
                      <a:tailEnd type="none" w="med" len="med"/>
                    </a:lnT>
                    <a:lnB w="6350" cap="flat" cmpd="sng" algn="ctr">
                      <a:solidFill>
                        <a:srgbClr val="DCE4EE"/>
                      </a:solidFill>
                      <a:prstDash val="solid"/>
                      <a:round/>
                      <a:headEnd type="none" w="med" len="med"/>
                      <a:tailEnd type="none" w="med" len="med"/>
                    </a:lnB>
                    <a:solidFill>
                      <a:srgbClr val="FBF3E2"/>
                    </a:solidFill>
                  </a:tcPr>
                </a:tc>
                <a:extLst>
                  <a:ext uri="{0D108BD9-81ED-4DB2-BD59-A6C34878D82A}">
                    <a16:rowId xmlns:a16="http://schemas.microsoft.com/office/drawing/2014/main" val="10007"/>
                  </a:ext>
                </a:extLst>
              </a:tr>
            </a:tbl>
          </a:graphicData>
        </a:graphic>
      </p:graphicFrame>
      <p:sp>
        <p:nvSpPr>
          <p:cNvPr id="6" name="Shape 2"/>
          <p:cNvSpPr/>
          <p:nvPr/>
        </p:nvSpPr>
        <p:spPr>
          <a:xfrm>
            <a:off x="548640" y="4709160"/>
            <a:ext cx="11064240" cy="1554480"/>
          </a:xfrm>
          <a:prstGeom prst="roundRect">
            <a:avLst>
              <a:gd name="adj" fmla="val 4118"/>
            </a:avLst>
          </a:prstGeom>
          <a:solidFill>
            <a:srgbClr val="EAF0F6"/>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8" name="Text 4"/>
          <p:cNvSpPr txBox="1"/>
          <p:nvPr/>
        </p:nvSpPr>
        <p:spPr>
          <a:xfrm>
            <a:off x="868680" y="5193792"/>
            <a:ext cx="10424160" cy="292608"/>
          </a:xfrm>
          <a:prstGeom prst="rect">
            <a:avLst/>
          </a:prstGeom>
          <a:noFill/>
          <a:ln/>
        </p:spPr>
        <p:txBody>
          <a:bodyPr wrap="square" lIns="0" tIns="0" rIns="0" bIns="0" rtlCol="0" anchor="ctr"/>
          <a:lstStyle/>
          <a:p>
            <a:pPr marL="0" indent="0">
              <a:buNone/>
            </a:pPr>
            <a:endParaRPr lang="en-US" sz="1300" dirty="0"/>
          </a:p>
        </p:txBody>
      </p:sp>
      <p:sp>
        <p:nvSpPr>
          <p:cNvPr id="9" name="Text 5"/>
          <p:cNvSpPr txBox="1"/>
          <p:nvPr/>
        </p:nvSpPr>
        <p:spPr>
          <a:xfrm>
            <a:off x="868680" y="5234432"/>
            <a:ext cx="10424160" cy="594360"/>
          </a:xfrm>
          <a:prstGeom prst="rect">
            <a:avLst/>
          </a:prstGeom>
          <a:noFill/>
          <a:ln/>
        </p:spPr>
        <p:txBody>
          <a:bodyPr wrap="square" lIns="0" tIns="0" rIns="0" bIns="0" rtlCol="0" anchor="ctr"/>
          <a:lstStyle/>
          <a:p>
            <a:r>
              <a:rPr lang="en-US" sz="1400" b="1" dirty="0" err="1"/>
              <a:t>XGBoost</a:t>
            </a:r>
            <a:r>
              <a:rPr lang="en-US" sz="1400" b="1" dirty="0"/>
              <a:t> was selected as the final model because:</a:t>
            </a:r>
            <a:endParaRPr lang="en-US" sz="1400" dirty="0"/>
          </a:p>
          <a:p>
            <a:pPr lvl="0"/>
            <a:r>
              <a:rPr lang="en-US" sz="1400" dirty="0"/>
              <a:t>Achieved the highest ROC-AUC (</a:t>
            </a:r>
            <a:r>
              <a:rPr lang="en-US" sz="1400" b="1" dirty="0"/>
              <a:t>0.923</a:t>
            </a:r>
            <a:r>
              <a:rPr lang="en-US" sz="1400" dirty="0"/>
              <a:t>). </a:t>
            </a:r>
          </a:p>
          <a:p>
            <a:pPr lvl="0"/>
            <a:r>
              <a:rPr lang="en-US" sz="1400" dirty="0"/>
              <a:t>Had the best overall balance between precision and recall. </a:t>
            </a:r>
          </a:p>
          <a:p>
            <a:pPr lvl="0"/>
            <a:r>
              <a:rPr lang="en-US" sz="1400" dirty="0" err="1"/>
              <a:t>Generalised</a:t>
            </a:r>
            <a:r>
              <a:rPr lang="en-US" sz="1400" dirty="0"/>
              <a:t> better than the other models. </a:t>
            </a:r>
          </a:p>
          <a:p>
            <a:pPr lvl="0"/>
            <a:r>
              <a:rPr lang="en-US" sz="1400" dirty="0"/>
              <a:t>Identified important patterns related to income prediction.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4F7FA"/>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772400" cy="256032"/>
          </a:xfrm>
          <a:prstGeom prst="rect">
            <a:avLst/>
          </a:prstGeom>
          <a:noFill/>
          <a:ln/>
        </p:spPr>
        <p:txBody>
          <a:bodyPr wrap="square" lIns="0" tIns="0" rIns="0" bIns="0" rtlCol="0" anchor="ctr"/>
          <a:lstStyle/>
          <a:p>
            <a:pPr marL="0" indent="0">
              <a:buNone/>
            </a:pPr>
            <a:r>
              <a:rPr lang="en-US" sz="1100" b="1" kern="0" spc="200" dirty="0">
                <a:solidFill>
                  <a:srgbClr val="C08A2E"/>
                </a:solidFill>
                <a:latin typeface="Calibri" pitchFamily="34" charset="0"/>
                <a:ea typeface="Calibri" pitchFamily="34" charset="-122"/>
                <a:cs typeface="Calibri" pitchFamily="34" charset="-120"/>
              </a:rPr>
              <a:t>CONCLUSION</a:t>
            </a:r>
            <a:endParaRPr lang="en-US" sz="1100" dirty="0"/>
          </a:p>
        </p:txBody>
      </p:sp>
      <p:sp>
        <p:nvSpPr>
          <p:cNvPr id="3" name="Text 1"/>
          <p:cNvSpPr txBox="1"/>
          <p:nvPr/>
        </p:nvSpPr>
        <p:spPr>
          <a:xfrm>
            <a:off x="548640" y="603504"/>
            <a:ext cx="11094415" cy="566928"/>
          </a:xfrm>
          <a:prstGeom prst="rect">
            <a:avLst/>
          </a:prstGeom>
          <a:noFill/>
          <a:ln/>
        </p:spPr>
        <p:txBody>
          <a:bodyPr wrap="square" lIns="0" tIns="0" rIns="0" bIns="0" rtlCol="0" anchor="ctr"/>
          <a:lstStyle/>
          <a:p>
            <a:pPr marL="0" indent="0">
              <a:buNone/>
            </a:pPr>
            <a:r>
              <a:rPr lang="en-US" sz="3000" b="1" dirty="0">
                <a:solidFill>
                  <a:srgbClr val="12233F"/>
                </a:solidFill>
                <a:latin typeface="Cambria" pitchFamily="34" charset="0"/>
                <a:ea typeface="Cambria" pitchFamily="34" charset="-122"/>
                <a:cs typeface="Cambria" pitchFamily="34" charset="-120"/>
              </a:rPr>
              <a:t>ROC — how the models separate the classes</a:t>
            </a:r>
            <a:endParaRPr lang="en-US" sz="3000" dirty="0"/>
          </a:p>
        </p:txBody>
      </p:sp>
      <p:sp>
        <p:nvSpPr>
          <p:cNvPr id="6" name="Shape 3"/>
          <p:cNvSpPr/>
          <p:nvPr/>
        </p:nvSpPr>
        <p:spPr>
          <a:xfrm>
            <a:off x="6207607" y="1526540"/>
            <a:ext cx="4663440" cy="4618228"/>
          </a:xfrm>
          <a:prstGeom prst="roundRect">
            <a:avLst>
              <a:gd name="adj" fmla="val 2800"/>
            </a:avLst>
          </a:prstGeom>
          <a:solidFill>
            <a:srgbClr val="EAF0F6"/>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7" name="Text 4"/>
          <p:cNvSpPr txBox="1"/>
          <p:nvPr/>
        </p:nvSpPr>
        <p:spPr>
          <a:xfrm>
            <a:off x="7884160" y="1718564"/>
            <a:ext cx="1656080" cy="310896"/>
          </a:xfrm>
          <a:prstGeom prst="rect">
            <a:avLst/>
          </a:prstGeom>
          <a:noFill/>
          <a:ln/>
        </p:spPr>
        <p:txBody>
          <a:bodyPr wrap="square" lIns="0" tIns="0" rIns="0" bIns="0" rtlCol="0" anchor="ctr"/>
          <a:lstStyle/>
          <a:p>
            <a:pPr marL="0" indent="0">
              <a:buNone/>
            </a:pPr>
            <a:r>
              <a:rPr lang="en-US" sz="1200" b="1" kern="0" spc="100" dirty="0">
                <a:solidFill>
                  <a:srgbClr val="C08A2E"/>
                </a:solidFill>
                <a:latin typeface="Calibri" pitchFamily="34" charset="0"/>
                <a:ea typeface="Calibri" pitchFamily="34" charset="-122"/>
                <a:cs typeface="Calibri" pitchFamily="34" charset="-120"/>
              </a:rPr>
              <a:t>READING THE CURVE</a:t>
            </a:r>
            <a:endParaRPr lang="en-US" sz="1200" dirty="0"/>
          </a:p>
        </p:txBody>
      </p:sp>
      <p:sp>
        <p:nvSpPr>
          <p:cNvPr id="8" name="Text 5"/>
          <p:cNvSpPr txBox="1"/>
          <p:nvPr/>
        </p:nvSpPr>
        <p:spPr>
          <a:xfrm>
            <a:off x="6756247" y="2485644"/>
            <a:ext cx="4114800" cy="1554480"/>
          </a:xfrm>
          <a:prstGeom prst="rect">
            <a:avLst/>
          </a:prstGeom>
          <a:noFill/>
          <a:ln/>
        </p:spPr>
        <p:txBody>
          <a:bodyPr wrap="square" lIns="0" tIns="0" rIns="0" bIns="0" rtlCol="0" anchor="ctr"/>
          <a:lstStyle/>
          <a:p>
            <a:pPr lvl="0"/>
            <a:r>
              <a:rPr lang="en-US" sz="2400" dirty="0"/>
              <a:t>Shows how well each model separates the two classes. </a:t>
            </a:r>
          </a:p>
          <a:p>
            <a:pPr lvl="0"/>
            <a:r>
              <a:rPr lang="en-US" sz="2400" dirty="0"/>
              <a:t>A curve closer to the top-left means better performance. </a:t>
            </a:r>
          </a:p>
          <a:p>
            <a:pPr lvl="0"/>
            <a:r>
              <a:rPr lang="en-US" sz="2400" dirty="0"/>
              <a:t>The diagonal line represents random guessing.</a:t>
            </a:r>
          </a:p>
        </p:txBody>
      </p:sp>
      <p:sp>
        <p:nvSpPr>
          <p:cNvPr id="9" name="Shape 6"/>
          <p:cNvSpPr/>
          <p:nvPr/>
        </p:nvSpPr>
        <p:spPr>
          <a:xfrm>
            <a:off x="1026160" y="1526540"/>
            <a:ext cx="4663440" cy="4664456"/>
          </a:xfrm>
          <a:prstGeom prst="roundRect">
            <a:avLst>
              <a:gd name="adj" fmla="val 2692"/>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10" name="Text 7"/>
          <p:cNvSpPr txBox="1"/>
          <p:nvPr/>
        </p:nvSpPr>
        <p:spPr>
          <a:xfrm>
            <a:off x="2387602" y="1749552"/>
            <a:ext cx="4114800" cy="274320"/>
          </a:xfrm>
          <a:prstGeom prst="rect">
            <a:avLst/>
          </a:prstGeom>
          <a:noFill/>
          <a:ln/>
        </p:spPr>
        <p:txBody>
          <a:bodyPr wrap="square" lIns="0" tIns="0" rIns="0" bIns="0" rtlCol="0" anchor="ctr"/>
          <a:lstStyle/>
          <a:p>
            <a:pPr marL="0" indent="0">
              <a:buNone/>
            </a:pPr>
            <a:r>
              <a:rPr lang="en-US" sz="1200" b="1" kern="0" spc="100" dirty="0">
                <a:solidFill>
                  <a:srgbClr val="2E7387"/>
                </a:solidFill>
                <a:latin typeface="Calibri" pitchFamily="34" charset="0"/>
                <a:ea typeface="Calibri" pitchFamily="34" charset="-122"/>
                <a:cs typeface="Calibri" pitchFamily="34" charset="-120"/>
              </a:rPr>
              <a:t>WHAT IT SHOWS HERE</a:t>
            </a:r>
            <a:endParaRPr lang="en-US" sz="1200" dirty="0"/>
          </a:p>
        </p:txBody>
      </p:sp>
      <p:sp>
        <p:nvSpPr>
          <p:cNvPr id="11" name="Text 8"/>
          <p:cNvSpPr txBox="1"/>
          <p:nvPr/>
        </p:nvSpPr>
        <p:spPr>
          <a:xfrm>
            <a:off x="1300480" y="2029460"/>
            <a:ext cx="4114800" cy="1783080"/>
          </a:xfrm>
          <a:prstGeom prst="rect">
            <a:avLst/>
          </a:prstGeom>
          <a:noFill/>
          <a:ln/>
        </p:spPr>
        <p:txBody>
          <a:bodyPr wrap="square" rtlCol="0" anchor="t"/>
          <a:lstStyle/>
          <a:p>
            <a:pPr lvl="0"/>
            <a:r>
              <a:rPr lang="en-US" sz="2400" b="1" dirty="0" err="1"/>
              <a:t>XGBoost</a:t>
            </a:r>
            <a:r>
              <a:rPr lang="en-US" sz="2400" b="1" dirty="0"/>
              <a:t> performed best across most thresholds.</a:t>
            </a:r>
            <a:r>
              <a:rPr lang="en-US" sz="2400" dirty="0"/>
              <a:t> </a:t>
            </a:r>
          </a:p>
          <a:p>
            <a:pPr lvl="0"/>
            <a:r>
              <a:rPr lang="en-US" sz="2400" b="1" dirty="0"/>
              <a:t>Random Forest was the second strongest model.</a:t>
            </a:r>
            <a:r>
              <a:rPr lang="en-US" sz="2400" dirty="0"/>
              <a:t> </a:t>
            </a:r>
          </a:p>
          <a:p>
            <a:pPr lvl="0"/>
            <a:r>
              <a:rPr lang="en-US" sz="2400" b="1" dirty="0"/>
              <a:t>The other models had similar performance.</a:t>
            </a:r>
            <a:r>
              <a:rPr lang="en-US" sz="2400" dirty="0"/>
              <a:t> </a:t>
            </a:r>
          </a:p>
          <a:p>
            <a:pPr lvl="0"/>
            <a:r>
              <a:rPr lang="en-US" sz="2400" b="1" dirty="0"/>
              <a:t>ROC-AUC allows comparison without choosing a threshold first.</a:t>
            </a:r>
            <a:r>
              <a:rPr lang="en-US" sz="2400" dirty="0"/>
              <a:t> </a:t>
            </a:r>
          </a:p>
        </p:txBody>
      </p:sp>
      <p:sp>
        <p:nvSpPr>
          <p:cNvPr id="12" name="Oval 11">
            <a:extLst>
              <a:ext uri="{FF2B5EF4-FFF2-40B4-BE49-F238E27FC236}">
                <a16:creationId xmlns:a16="http://schemas.microsoft.com/office/drawing/2014/main" id="{2DC1D041-70A1-8EF6-A22C-0CDDCFE4D4AC}"/>
              </a:ext>
            </a:extLst>
          </p:cNvPr>
          <p:cNvSpPr/>
          <p:nvPr/>
        </p:nvSpPr>
        <p:spPr>
          <a:xfrm>
            <a:off x="4114800" y="1170432"/>
            <a:ext cx="2306320" cy="225856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9">
    <p:bg>
      <p:bgPr>
        <a:solidFill>
          <a:srgbClr val="F4F7FA"/>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772400" cy="256032"/>
          </a:xfrm>
          <a:prstGeom prst="rect">
            <a:avLst/>
          </a:prstGeom>
          <a:noFill/>
          <a:ln/>
        </p:spPr>
        <p:txBody>
          <a:bodyPr wrap="square" lIns="0" tIns="0" rIns="0" bIns="0" rtlCol="0" anchor="ctr"/>
          <a:lstStyle/>
          <a:p>
            <a:pPr marL="0" indent="0">
              <a:buNone/>
            </a:pPr>
            <a:r>
              <a:rPr lang="en-US" sz="1100" b="1" kern="0" spc="200" dirty="0">
                <a:solidFill>
                  <a:srgbClr val="C08A2E"/>
                </a:solidFill>
                <a:latin typeface="Calibri" pitchFamily="34" charset="0"/>
                <a:ea typeface="Calibri" pitchFamily="34" charset="-122"/>
                <a:cs typeface="Calibri" pitchFamily="34" charset="-120"/>
              </a:rPr>
              <a:t>DISCUSSION</a:t>
            </a:r>
            <a:endParaRPr lang="en-US" sz="1100" dirty="0"/>
          </a:p>
        </p:txBody>
      </p:sp>
      <p:sp>
        <p:nvSpPr>
          <p:cNvPr id="3" name="Text 1"/>
          <p:cNvSpPr txBox="1"/>
          <p:nvPr/>
        </p:nvSpPr>
        <p:spPr>
          <a:xfrm>
            <a:off x="548640" y="603504"/>
            <a:ext cx="11094415" cy="566928"/>
          </a:xfrm>
          <a:prstGeom prst="rect">
            <a:avLst/>
          </a:prstGeom>
          <a:noFill/>
          <a:ln/>
        </p:spPr>
        <p:txBody>
          <a:bodyPr wrap="square" lIns="0" tIns="0" rIns="0" bIns="0" rtlCol="0" anchor="ctr"/>
          <a:lstStyle/>
          <a:p>
            <a:pPr marL="0" indent="0">
              <a:buNone/>
            </a:pPr>
            <a:r>
              <a:rPr lang="en-US" sz="3000" b="1" dirty="0">
                <a:solidFill>
                  <a:srgbClr val="12233F"/>
                </a:solidFill>
                <a:latin typeface="Cambria" pitchFamily="34" charset="0"/>
                <a:ea typeface="Cambria" pitchFamily="34" charset="-122"/>
                <a:cs typeface="Cambria" pitchFamily="34" charset="-120"/>
              </a:rPr>
              <a:t>Business implications</a:t>
            </a:r>
            <a:endParaRPr lang="en-US" sz="3000" dirty="0"/>
          </a:p>
        </p:txBody>
      </p:sp>
      <p:sp>
        <p:nvSpPr>
          <p:cNvPr id="4" name="Shape 2"/>
          <p:cNvSpPr/>
          <p:nvPr/>
        </p:nvSpPr>
        <p:spPr>
          <a:xfrm>
            <a:off x="548640" y="1371600"/>
            <a:ext cx="11064240" cy="896112"/>
          </a:xfrm>
          <a:prstGeom prst="roundRect">
            <a:avLst>
              <a:gd name="adj" fmla="val 7143"/>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5" name="Shape 3"/>
          <p:cNvSpPr/>
          <p:nvPr/>
        </p:nvSpPr>
        <p:spPr>
          <a:xfrm>
            <a:off x="822960" y="1609344"/>
            <a:ext cx="420624" cy="420624"/>
          </a:xfrm>
          <a:prstGeom prst="ellipse">
            <a:avLst/>
          </a:prstGeom>
          <a:solidFill>
            <a:srgbClr val="1E3A5F"/>
          </a:solidFill>
          <a:ln w="12700">
            <a:solidFill>
              <a:srgbClr val="1E3A5F"/>
            </a:solidFill>
            <a:prstDash val="solid"/>
          </a:ln>
        </p:spPr>
        <p:txBody>
          <a:bodyPr/>
          <a:lstStyle/>
          <a:p>
            <a:endParaRPr lang="en-US"/>
          </a:p>
        </p:txBody>
      </p:sp>
      <p:sp>
        <p:nvSpPr>
          <p:cNvPr id="6" name="Text 4"/>
          <p:cNvSpPr txBox="1"/>
          <p:nvPr/>
        </p:nvSpPr>
        <p:spPr>
          <a:xfrm>
            <a:off x="822960" y="1645920"/>
            <a:ext cx="420624"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txBox="1"/>
          <p:nvPr/>
        </p:nvSpPr>
        <p:spPr>
          <a:xfrm>
            <a:off x="1417320" y="1499616"/>
            <a:ext cx="9966960" cy="292608"/>
          </a:xfrm>
          <a:prstGeom prst="rect">
            <a:avLst/>
          </a:prstGeom>
          <a:noFill/>
          <a:ln/>
        </p:spPr>
        <p:txBody>
          <a:bodyPr wrap="square" lIns="0" tIns="0" rIns="0" bIns="0" rtlCol="0" anchor="ctr"/>
          <a:lstStyle/>
          <a:p>
            <a:pPr marL="0" indent="0">
              <a:buNone/>
            </a:pPr>
            <a:r>
              <a:rPr lang="en-US" sz="1450" b="1" dirty="0">
                <a:solidFill>
                  <a:srgbClr val="12233F"/>
                </a:solidFill>
                <a:latin typeface="Calibri" pitchFamily="34" charset="0"/>
                <a:ea typeface="Calibri" pitchFamily="34" charset="-122"/>
                <a:cs typeface="Calibri" pitchFamily="34" charset="-120"/>
              </a:rPr>
              <a:t>Marital status is the strongest single predictor</a:t>
            </a:r>
            <a:endParaRPr lang="en-US" sz="1450" dirty="0"/>
          </a:p>
        </p:txBody>
      </p:sp>
      <p:sp>
        <p:nvSpPr>
          <p:cNvPr id="8" name="Text 6"/>
          <p:cNvSpPr txBox="1"/>
          <p:nvPr/>
        </p:nvSpPr>
        <p:spPr>
          <a:xfrm>
            <a:off x="1417320" y="1801368"/>
            <a:ext cx="9966960" cy="384048"/>
          </a:xfrm>
          <a:prstGeom prst="rect">
            <a:avLst/>
          </a:prstGeom>
          <a:noFill/>
          <a:ln/>
        </p:spPr>
        <p:txBody>
          <a:bodyPr wrap="square" lIns="0" tIns="0" rIns="0" bIns="0" rtlCol="0" anchor="ctr"/>
          <a:lstStyle/>
          <a:p>
            <a:pPr marL="0" indent="0">
              <a:buNone/>
            </a:pPr>
            <a:r>
              <a:rPr lang="en-US" sz="1200" dirty="0">
                <a:solidFill>
                  <a:srgbClr val="5D6B80"/>
                </a:solidFill>
                <a:latin typeface="Calibri" pitchFamily="34" charset="0"/>
                <a:ea typeface="Calibri" pitchFamily="34" charset="-122"/>
                <a:cs typeface="Calibri" pitchFamily="34" charset="-120"/>
              </a:rPr>
              <a:t>44.7% of married individuals earn &gt;50K versus 4.6% of the never-married, and the gap holds within a fixed age band (52.5% vs 13.2%). This is an association for identifying prospects, not an explanation of income.</a:t>
            </a:r>
            <a:endParaRPr lang="en-US" sz="1200" dirty="0"/>
          </a:p>
        </p:txBody>
      </p:sp>
      <p:sp>
        <p:nvSpPr>
          <p:cNvPr id="9" name="Shape 7"/>
          <p:cNvSpPr/>
          <p:nvPr/>
        </p:nvSpPr>
        <p:spPr>
          <a:xfrm>
            <a:off x="548640" y="2359152"/>
            <a:ext cx="11064240" cy="896112"/>
          </a:xfrm>
          <a:prstGeom prst="roundRect">
            <a:avLst>
              <a:gd name="adj" fmla="val 7143"/>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10" name="Shape 8"/>
          <p:cNvSpPr/>
          <p:nvPr/>
        </p:nvSpPr>
        <p:spPr>
          <a:xfrm>
            <a:off x="822960" y="2596896"/>
            <a:ext cx="420624" cy="420624"/>
          </a:xfrm>
          <a:prstGeom prst="ellipse">
            <a:avLst/>
          </a:prstGeom>
          <a:solidFill>
            <a:srgbClr val="1E3A5F"/>
          </a:solidFill>
          <a:ln w="12700">
            <a:solidFill>
              <a:srgbClr val="1E3A5F"/>
            </a:solidFill>
            <a:prstDash val="solid"/>
          </a:ln>
        </p:spPr>
        <p:txBody>
          <a:bodyPr/>
          <a:lstStyle/>
          <a:p>
            <a:endParaRPr lang="en-US"/>
          </a:p>
        </p:txBody>
      </p:sp>
      <p:sp>
        <p:nvSpPr>
          <p:cNvPr id="11" name="Text 9"/>
          <p:cNvSpPr txBox="1"/>
          <p:nvPr/>
        </p:nvSpPr>
        <p:spPr>
          <a:xfrm>
            <a:off x="822960" y="2633472"/>
            <a:ext cx="420624"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1417320" y="2487168"/>
            <a:ext cx="9966960" cy="292608"/>
          </a:xfrm>
          <a:prstGeom prst="rect">
            <a:avLst/>
          </a:prstGeom>
          <a:noFill/>
          <a:ln/>
        </p:spPr>
        <p:txBody>
          <a:bodyPr wrap="square" lIns="0" tIns="0" rIns="0" bIns="0" rtlCol="0" anchor="ctr"/>
          <a:lstStyle/>
          <a:p>
            <a:pPr marL="0" indent="0">
              <a:buNone/>
            </a:pPr>
            <a:r>
              <a:rPr lang="en-US" sz="1450" b="1" dirty="0">
                <a:solidFill>
                  <a:srgbClr val="12233F"/>
                </a:solidFill>
                <a:latin typeface="Calibri" pitchFamily="34" charset="0"/>
                <a:ea typeface="Calibri" pitchFamily="34" charset="-122"/>
                <a:cs typeface="Calibri" pitchFamily="34" charset="-120"/>
              </a:rPr>
              <a:t>Education has a clear and consistent effect</a:t>
            </a:r>
            <a:endParaRPr lang="en-US" sz="1450" dirty="0"/>
          </a:p>
        </p:txBody>
      </p:sp>
      <p:sp>
        <p:nvSpPr>
          <p:cNvPr id="13" name="Text 11"/>
          <p:cNvSpPr txBox="1"/>
          <p:nvPr/>
        </p:nvSpPr>
        <p:spPr>
          <a:xfrm>
            <a:off x="1417320" y="2788920"/>
            <a:ext cx="9966960" cy="384048"/>
          </a:xfrm>
          <a:prstGeom prst="rect">
            <a:avLst/>
          </a:prstGeom>
          <a:noFill/>
          <a:ln/>
        </p:spPr>
        <p:txBody>
          <a:bodyPr wrap="square" lIns="0" tIns="0" rIns="0" bIns="0" rtlCol="0" anchor="ctr"/>
          <a:lstStyle/>
          <a:p>
            <a:pPr marL="0" indent="0">
              <a:buNone/>
            </a:pPr>
            <a:r>
              <a:rPr lang="en-US" sz="1200" dirty="0">
                <a:solidFill>
                  <a:srgbClr val="5D6B80"/>
                </a:solidFill>
                <a:latin typeface="Calibri" pitchFamily="34" charset="0"/>
                <a:ea typeface="Calibri" pitchFamily="34" charset="-122"/>
                <a:cs typeface="Calibri" pitchFamily="34" charset="-120"/>
              </a:rPr>
              <a:t>education.num had the strongest linear correlation with income (r = 0.335) and appeared among the top features in every single model built.</a:t>
            </a:r>
            <a:endParaRPr lang="en-US" sz="1200" dirty="0"/>
          </a:p>
        </p:txBody>
      </p:sp>
      <p:sp>
        <p:nvSpPr>
          <p:cNvPr id="14" name="Shape 12"/>
          <p:cNvSpPr/>
          <p:nvPr/>
        </p:nvSpPr>
        <p:spPr>
          <a:xfrm>
            <a:off x="548640" y="3346704"/>
            <a:ext cx="11064240" cy="896112"/>
          </a:xfrm>
          <a:prstGeom prst="roundRect">
            <a:avLst>
              <a:gd name="adj" fmla="val 7143"/>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15" name="Shape 13"/>
          <p:cNvSpPr/>
          <p:nvPr/>
        </p:nvSpPr>
        <p:spPr>
          <a:xfrm>
            <a:off x="822960" y="3584448"/>
            <a:ext cx="420624" cy="420624"/>
          </a:xfrm>
          <a:prstGeom prst="ellipse">
            <a:avLst/>
          </a:prstGeom>
          <a:solidFill>
            <a:srgbClr val="1E3A5F"/>
          </a:solidFill>
          <a:ln w="12700">
            <a:solidFill>
              <a:srgbClr val="1E3A5F"/>
            </a:solidFill>
            <a:prstDash val="solid"/>
          </a:ln>
        </p:spPr>
        <p:txBody>
          <a:bodyPr/>
          <a:lstStyle/>
          <a:p>
            <a:endParaRPr lang="en-US"/>
          </a:p>
        </p:txBody>
      </p:sp>
      <p:sp>
        <p:nvSpPr>
          <p:cNvPr id="16" name="Text 14"/>
          <p:cNvSpPr txBox="1"/>
          <p:nvPr/>
        </p:nvSpPr>
        <p:spPr>
          <a:xfrm>
            <a:off x="822960" y="3621024"/>
            <a:ext cx="420624"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txBox="1"/>
          <p:nvPr/>
        </p:nvSpPr>
        <p:spPr>
          <a:xfrm>
            <a:off x="1417320" y="3474720"/>
            <a:ext cx="9966960" cy="292608"/>
          </a:xfrm>
          <a:prstGeom prst="rect">
            <a:avLst/>
          </a:prstGeom>
          <a:noFill/>
          <a:ln/>
        </p:spPr>
        <p:txBody>
          <a:bodyPr wrap="square" lIns="0" tIns="0" rIns="0" bIns="0" rtlCol="0" anchor="ctr"/>
          <a:lstStyle/>
          <a:p>
            <a:pPr marL="0" indent="0">
              <a:buNone/>
            </a:pPr>
            <a:r>
              <a:rPr lang="en-US" sz="1450" b="1" dirty="0">
                <a:solidFill>
                  <a:srgbClr val="12233F"/>
                </a:solidFill>
                <a:latin typeface="Calibri" pitchFamily="34" charset="0"/>
                <a:ea typeface="Calibri" pitchFamily="34" charset="-122"/>
                <a:cs typeface="Calibri" pitchFamily="34" charset="-120"/>
              </a:rPr>
              <a:t>Any capital gain is highly informative</a:t>
            </a:r>
            <a:endParaRPr lang="en-US" sz="1450" dirty="0"/>
          </a:p>
        </p:txBody>
      </p:sp>
      <p:sp>
        <p:nvSpPr>
          <p:cNvPr id="18" name="Text 16"/>
          <p:cNvSpPr txBox="1"/>
          <p:nvPr/>
        </p:nvSpPr>
        <p:spPr>
          <a:xfrm>
            <a:off x="1417320" y="3776472"/>
            <a:ext cx="9966960" cy="384048"/>
          </a:xfrm>
          <a:prstGeom prst="rect">
            <a:avLst/>
          </a:prstGeom>
          <a:noFill/>
          <a:ln/>
        </p:spPr>
        <p:txBody>
          <a:bodyPr wrap="square" lIns="0" tIns="0" rIns="0" bIns="0" rtlCol="0" anchor="ctr"/>
          <a:lstStyle/>
          <a:p>
            <a:pPr marL="0" indent="0">
              <a:buNone/>
            </a:pPr>
            <a:r>
              <a:rPr lang="en-US" sz="1200" dirty="0">
                <a:solidFill>
                  <a:srgbClr val="5D6B80"/>
                </a:solidFill>
                <a:latin typeface="Calibri" pitchFamily="34" charset="0"/>
                <a:ea typeface="Calibri" pitchFamily="34" charset="-122"/>
                <a:cs typeface="Calibri" pitchFamily="34" charset="-120"/>
              </a:rPr>
              <a:t>61.8% of individuals with a non-zero capital gain earn &gt;50K, against 20.7% of those without. Tree-based models exploited this threshold effect far better than the linear model.</a:t>
            </a:r>
            <a:endParaRPr lang="en-US" sz="1200" dirty="0"/>
          </a:p>
        </p:txBody>
      </p:sp>
      <p:sp>
        <p:nvSpPr>
          <p:cNvPr id="19" name="Shape 17"/>
          <p:cNvSpPr/>
          <p:nvPr/>
        </p:nvSpPr>
        <p:spPr>
          <a:xfrm>
            <a:off x="548640" y="4334256"/>
            <a:ext cx="11064240" cy="896112"/>
          </a:xfrm>
          <a:prstGeom prst="roundRect">
            <a:avLst>
              <a:gd name="adj" fmla="val 7143"/>
            </a:avLst>
          </a:prstGeom>
          <a:ln/>
        </p:spPr>
        <p:style>
          <a:lnRef idx="2">
            <a:schemeClr val="dk1"/>
          </a:lnRef>
          <a:fillRef idx="1">
            <a:schemeClr val="lt1"/>
          </a:fillRef>
          <a:effectRef idx="0">
            <a:schemeClr val="dk1"/>
          </a:effectRef>
          <a:fontRef idx="minor">
            <a:schemeClr val="dk1"/>
          </a:fontRef>
        </p:style>
        <p:txBody>
          <a:bodyPr/>
          <a:lstStyle/>
          <a:p>
            <a:endParaRPr lang="en-US"/>
          </a:p>
        </p:txBody>
      </p:sp>
      <p:sp>
        <p:nvSpPr>
          <p:cNvPr id="21" name="Text 19"/>
          <p:cNvSpPr txBox="1"/>
          <p:nvPr/>
        </p:nvSpPr>
        <p:spPr>
          <a:xfrm>
            <a:off x="822960" y="4608576"/>
            <a:ext cx="420624" cy="347472"/>
          </a:xfrm>
          <a:prstGeom prst="rect">
            <a:avLst/>
          </a:prstGeom>
          <a:solidFill>
            <a:schemeClr val="tx1"/>
          </a:solid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txBox="1"/>
          <p:nvPr/>
        </p:nvSpPr>
        <p:spPr>
          <a:xfrm>
            <a:off x="1417320" y="4462272"/>
            <a:ext cx="9966960" cy="292608"/>
          </a:xfrm>
          <a:prstGeom prst="rect">
            <a:avLst/>
          </a:prstGeom>
          <a:noFill/>
          <a:ln/>
        </p:spPr>
        <p:txBody>
          <a:bodyPr wrap="square" lIns="0" tIns="0" rIns="0" bIns="0" rtlCol="0" anchor="ctr"/>
          <a:lstStyle/>
          <a:p>
            <a:pPr marL="0" indent="0">
              <a:buNone/>
            </a:pPr>
            <a:r>
              <a:rPr lang="en-US" sz="1450" b="1" dirty="0">
                <a:solidFill>
                  <a:srgbClr val="12233F"/>
                </a:solidFill>
                <a:latin typeface="Calibri" pitchFamily="34" charset="0"/>
                <a:ea typeface="Calibri" pitchFamily="34" charset="-122"/>
                <a:cs typeface="Calibri" pitchFamily="34" charset="-120"/>
              </a:rPr>
              <a:t>Threshold adjustment was the cheapest win available</a:t>
            </a:r>
            <a:endParaRPr lang="en-US" sz="1450" dirty="0"/>
          </a:p>
        </p:txBody>
      </p:sp>
      <p:sp>
        <p:nvSpPr>
          <p:cNvPr id="23" name="Text 21"/>
          <p:cNvSpPr txBox="1"/>
          <p:nvPr/>
        </p:nvSpPr>
        <p:spPr>
          <a:xfrm>
            <a:off x="1417320" y="4764024"/>
            <a:ext cx="9966960" cy="384048"/>
          </a:xfrm>
          <a:prstGeom prst="rect">
            <a:avLst/>
          </a:prstGeom>
          <a:noFill/>
          <a:ln/>
        </p:spPr>
        <p:txBody>
          <a:bodyPr wrap="square" lIns="0" tIns="0" rIns="0" bIns="0" rtlCol="0" anchor="ctr"/>
          <a:lstStyle/>
          <a:p>
            <a:pPr marL="0" indent="0">
              <a:buNone/>
            </a:pPr>
            <a:r>
              <a:rPr lang="en-US" sz="1200" dirty="0">
                <a:solidFill>
                  <a:srgbClr val="5D6B80"/>
                </a:solidFill>
                <a:latin typeface="Calibri" pitchFamily="34" charset="0"/>
                <a:ea typeface="Calibri" pitchFamily="34" charset="-122"/>
                <a:cs typeface="Calibri" pitchFamily="34" charset="-120"/>
              </a:rPr>
              <a:t>Moving from 0.50 to 0.40 found 13.4% more prospects for a 0.33-point accuracy cost — a larger practical gain than the difference between most of the models.</a:t>
            </a:r>
            <a:endParaRPr lang="en-US" sz="1200" dirty="0"/>
          </a:p>
        </p:txBody>
      </p:sp>
      <p:sp>
        <p:nvSpPr>
          <p:cNvPr id="24" name="Shape 22"/>
          <p:cNvSpPr/>
          <p:nvPr/>
        </p:nvSpPr>
        <p:spPr>
          <a:xfrm>
            <a:off x="548640" y="5321808"/>
            <a:ext cx="11064240" cy="896112"/>
          </a:xfrm>
          <a:prstGeom prst="roundRect">
            <a:avLst>
              <a:gd name="adj" fmla="val 7143"/>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25" name="Shape 23"/>
          <p:cNvSpPr/>
          <p:nvPr/>
        </p:nvSpPr>
        <p:spPr>
          <a:xfrm>
            <a:off x="822960" y="5559552"/>
            <a:ext cx="420624" cy="420624"/>
          </a:xfrm>
          <a:prstGeom prst="ellipse">
            <a:avLst/>
          </a:prstGeom>
          <a:solidFill>
            <a:srgbClr val="1E3A5F"/>
          </a:solidFill>
          <a:ln w="12700">
            <a:solidFill>
              <a:srgbClr val="1E3A5F"/>
            </a:solidFill>
            <a:prstDash val="solid"/>
          </a:ln>
        </p:spPr>
        <p:txBody>
          <a:bodyPr/>
          <a:lstStyle/>
          <a:p>
            <a:endParaRPr lang="en-US"/>
          </a:p>
        </p:txBody>
      </p:sp>
      <p:sp>
        <p:nvSpPr>
          <p:cNvPr id="26" name="Text 24"/>
          <p:cNvSpPr txBox="1"/>
          <p:nvPr/>
        </p:nvSpPr>
        <p:spPr>
          <a:xfrm>
            <a:off x="822960" y="5596128"/>
            <a:ext cx="420624"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7" name="Text 25"/>
          <p:cNvSpPr txBox="1"/>
          <p:nvPr/>
        </p:nvSpPr>
        <p:spPr>
          <a:xfrm>
            <a:off x="1417320" y="5449824"/>
            <a:ext cx="9966960" cy="292608"/>
          </a:xfrm>
          <a:prstGeom prst="rect">
            <a:avLst/>
          </a:prstGeom>
          <a:noFill/>
          <a:ln/>
        </p:spPr>
        <p:txBody>
          <a:bodyPr wrap="square" lIns="0" tIns="0" rIns="0" bIns="0" rtlCol="0" anchor="ctr"/>
          <a:lstStyle/>
          <a:p>
            <a:pPr marL="0" indent="0">
              <a:buNone/>
            </a:pPr>
            <a:r>
              <a:rPr lang="en-US" sz="1450" b="1" dirty="0">
                <a:solidFill>
                  <a:srgbClr val="12233F"/>
                </a:solidFill>
                <a:latin typeface="Calibri" pitchFamily="34" charset="0"/>
                <a:ea typeface="Calibri" pitchFamily="34" charset="-122"/>
                <a:cs typeface="Calibri" pitchFamily="34" charset="-120"/>
              </a:rPr>
              <a:t>Model complexity did not guarantee better results</a:t>
            </a:r>
            <a:endParaRPr lang="en-US" sz="1450" dirty="0"/>
          </a:p>
        </p:txBody>
      </p:sp>
      <p:sp>
        <p:nvSpPr>
          <p:cNvPr id="28" name="Text 26"/>
          <p:cNvSpPr txBox="1"/>
          <p:nvPr/>
        </p:nvSpPr>
        <p:spPr>
          <a:xfrm>
            <a:off x="1417320" y="5751576"/>
            <a:ext cx="9966960" cy="384048"/>
          </a:xfrm>
          <a:prstGeom prst="rect">
            <a:avLst/>
          </a:prstGeom>
          <a:noFill/>
          <a:ln/>
        </p:spPr>
        <p:txBody>
          <a:bodyPr wrap="square" lIns="0" tIns="0" rIns="0" bIns="0" rtlCol="0" anchor="ctr"/>
          <a:lstStyle/>
          <a:p>
            <a:pPr marL="0" indent="0">
              <a:buNone/>
            </a:pPr>
            <a:r>
              <a:rPr lang="en-US" sz="1200" dirty="0">
                <a:solidFill>
                  <a:srgbClr val="5D6B80"/>
                </a:solidFill>
                <a:latin typeface="Calibri" pitchFamily="34" charset="0"/>
                <a:ea typeface="Calibri" pitchFamily="34" charset="-122"/>
                <a:cs typeface="Calibri" pitchFamily="34" charset="-120"/>
              </a:rPr>
              <a:t>The two most computationally expensive models performed worst, and a well-tuned Logistic Regression came within 3% of the best model — relevant to any organisation weighing infrastructure cost against accuracy.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0">
    <p:bg>
      <p:bgPr>
        <a:solidFill>
          <a:srgbClr val="F4F7FA"/>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772400" cy="256032"/>
          </a:xfrm>
          <a:prstGeom prst="rect">
            <a:avLst/>
          </a:prstGeom>
          <a:noFill/>
          <a:ln/>
        </p:spPr>
        <p:txBody>
          <a:bodyPr wrap="square" lIns="0" tIns="0" rIns="0" bIns="0" rtlCol="0" anchor="ctr"/>
          <a:lstStyle/>
          <a:p>
            <a:pPr marL="0" indent="0">
              <a:buNone/>
            </a:pPr>
            <a:r>
              <a:rPr lang="en-US" sz="1100" b="1" kern="0" spc="200" dirty="0">
                <a:solidFill>
                  <a:srgbClr val="C08A2E"/>
                </a:solidFill>
                <a:latin typeface="Calibri" pitchFamily="34" charset="0"/>
                <a:ea typeface="Calibri" pitchFamily="34" charset="-122"/>
                <a:cs typeface="Calibri" pitchFamily="34" charset="-120"/>
              </a:rPr>
              <a:t>DISCUSSION</a:t>
            </a:r>
            <a:endParaRPr lang="en-US" sz="1100" dirty="0"/>
          </a:p>
        </p:txBody>
      </p:sp>
      <p:sp>
        <p:nvSpPr>
          <p:cNvPr id="3" name="Text 1"/>
          <p:cNvSpPr txBox="1"/>
          <p:nvPr/>
        </p:nvSpPr>
        <p:spPr>
          <a:xfrm>
            <a:off x="548640" y="603504"/>
            <a:ext cx="11094415" cy="566928"/>
          </a:xfrm>
          <a:prstGeom prst="rect">
            <a:avLst/>
          </a:prstGeom>
          <a:noFill/>
          <a:ln/>
        </p:spPr>
        <p:txBody>
          <a:bodyPr wrap="square" lIns="0" tIns="0" rIns="0" bIns="0" rtlCol="0" anchor="ctr"/>
          <a:lstStyle/>
          <a:p>
            <a:pPr marL="0" indent="0">
              <a:buNone/>
            </a:pPr>
            <a:r>
              <a:rPr lang="en-US" sz="3000" b="1" dirty="0">
                <a:solidFill>
                  <a:srgbClr val="12233F"/>
                </a:solidFill>
                <a:latin typeface="Cambria" pitchFamily="34" charset="0"/>
                <a:ea typeface="Cambria" pitchFamily="34" charset="-122"/>
                <a:cs typeface="Cambria" pitchFamily="34" charset="-120"/>
              </a:rPr>
              <a:t>Limitations and future improvements</a:t>
            </a:r>
            <a:endParaRPr lang="en-US" sz="3000" dirty="0"/>
          </a:p>
        </p:txBody>
      </p:sp>
      <p:sp>
        <p:nvSpPr>
          <p:cNvPr id="4" name="Shape 2"/>
          <p:cNvSpPr/>
          <p:nvPr/>
        </p:nvSpPr>
        <p:spPr>
          <a:xfrm>
            <a:off x="548640" y="1371600"/>
            <a:ext cx="5532120" cy="4892040"/>
          </a:xfrm>
          <a:prstGeom prst="roundRect">
            <a:avLst>
              <a:gd name="adj" fmla="val 1308"/>
            </a:avLst>
          </a:prstGeom>
          <a:solidFill>
            <a:srgbClr val="FFFFFF"/>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5" name="Text 3"/>
          <p:cNvSpPr txBox="1"/>
          <p:nvPr/>
        </p:nvSpPr>
        <p:spPr>
          <a:xfrm>
            <a:off x="822960" y="1572768"/>
            <a:ext cx="4937760" cy="274320"/>
          </a:xfrm>
          <a:prstGeom prst="rect">
            <a:avLst/>
          </a:prstGeom>
          <a:noFill/>
          <a:ln/>
        </p:spPr>
        <p:txBody>
          <a:bodyPr wrap="square" lIns="0" tIns="0" rIns="0" bIns="0" rtlCol="0" anchor="ctr"/>
          <a:lstStyle/>
          <a:p>
            <a:pPr marL="0" indent="0">
              <a:buNone/>
            </a:pPr>
            <a:r>
              <a:rPr lang="en-US" sz="1200" b="1" kern="0" spc="100" dirty="0">
                <a:solidFill>
                  <a:srgbClr val="A5332A"/>
                </a:solidFill>
                <a:latin typeface="Calibri" pitchFamily="34" charset="0"/>
                <a:ea typeface="Calibri" pitchFamily="34" charset="-122"/>
                <a:cs typeface="Calibri" pitchFamily="34" charset="-120"/>
              </a:rPr>
              <a:t>LIMITATIONS</a:t>
            </a:r>
            <a:endParaRPr lang="en-US" sz="1200" dirty="0"/>
          </a:p>
        </p:txBody>
      </p:sp>
      <p:sp>
        <p:nvSpPr>
          <p:cNvPr id="6" name="Text 4"/>
          <p:cNvSpPr txBox="1"/>
          <p:nvPr/>
        </p:nvSpPr>
        <p:spPr>
          <a:xfrm>
            <a:off x="822960" y="1901952"/>
            <a:ext cx="4983480" cy="4206240"/>
          </a:xfrm>
          <a:prstGeom prst="rect">
            <a:avLst/>
          </a:prstGeom>
          <a:noFill/>
          <a:ln/>
        </p:spPr>
        <p:txBody>
          <a:bodyPr wrap="square" rtlCol="0" anchor="t"/>
          <a:lstStyle/>
          <a:p>
            <a:pPr marL="342900" indent="-342900">
              <a:spcAft>
                <a:spcPts val="800"/>
              </a:spcAft>
              <a:buSzPct val="100000"/>
              <a:buChar char="•"/>
            </a:pPr>
            <a:r>
              <a:rPr lang="en-US" sz="1600" dirty="0"/>
              <a:t>Missing values were kept as "Unknown" because the original information was unavailable.</a:t>
            </a:r>
            <a:endParaRPr lang="ar-BH" sz="1600" dirty="0"/>
          </a:p>
          <a:p>
            <a:pPr marL="342900" indent="-342900">
              <a:spcAft>
                <a:spcPts val="800"/>
              </a:spcAft>
              <a:buSzPct val="100000"/>
              <a:buChar char="•"/>
            </a:pPr>
            <a:r>
              <a:rPr lang="en-US" sz="1600" dirty="0"/>
              <a:t>Some Random Forest parameters were not tested to reduce computation time.</a:t>
            </a:r>
            <a:endParaRPr lang="ar-BH" sz="1600" dirty="0"/>
          </a:p>
        </p:txBody>
      </p:sp>
      <p:sp>
        <p:nvSpPr>
          <p:cNvPr id="7" name="Shape 5"/>
          <p:cNvSpPr/>
          <p:nvPr/>
        </p:nvSpPr>
        <p:spPr>
          <a:xfrm>
            <a:off x="6355080" y="1371600"/>
            <a:ext cx="5532120" cy="4892040"/>
          </a:xfrm>
          <a:prstGeom prst="roundRect">
            <a:avLst>
              <a:gd name="adj" fmla="val 1308"/>
            </a:avLst>
          </a:prstGeom>
          <a:solidFill>
            <a:srgbClr val="EAF0F6"/>
          </a:solidFill>
          <a:ln w="9525">
            <a:solidFill>
              <a:srgbClr val="DCE4EE"/>
            </a:solidFill>
            <a:prstDash val="solid"/>
          </a:ln>
          <a:effectLst>
            <a:outerShdw blurRad="101600" dist="25400" dir="5400000" algn="bl" rotWithShape="0">
              <a:srgbClr val="9AA8BC">
                <a:alpha val="25000"/>
              </a:srgbClr>
            </a:outerShdw>
          </a:effectLst>
        </p:spPr>
        <p:txBody>
          <a:bodyPr/>
          <a:lstStyle/>
          <a:p>
            <a:endParaRPr lang="en-US"/>
          </a:p>
        </p:txBody>
      </p:sp>
      <p:sp>
        <p:nvSpPr>
          <p:cNvPr id="8" name="Text 6"/>
          <p:cNvSpPr txBox="1"/>
          <p:nvPr/>
        </p:nvSpPr>
        <p:spPr>
          <a:xfrm>
            <a:off x="6629400" y="1572768"/>
            <a:ext cx="4937760" cy="274320"/>
          </a:xfrm>
          <a:prstGeom prst="rect">
            <a:avLst/>
          </a:prstGeom>
          <a:noFill/>
          <a:ln/>
        </p:spPr>
        <p:txBody>
          <a:bodyPr wrap="square" lIns="0" tIns="0" rIns="0" bIns="0" rtlCol="0" anchor="ctr"/>
          <a:lstStyle/>
          <a:p>
            <a:pPr marL="0" indent="0">
              <a:buNone/>
            </a:pPr>
            <a:r>
              <a:rPr lang="en-US" sz="1200" b="1" kern="0" spc="100" dirty="0">
                <a:solidFill>
                  <a:srgbClr val="2E7387"/>
                </a:solidFill>
                <a:latin typeface="Calibri" pitchFamily="34" charset="0"/>
                <a:ea typeface="Calibri" pitchFamily="34" charset="-122"/>
                <a:cs typeface="Calibri" pitchFamily="34" charset="-120"/>
              </a:rPr>
              <a:t>FUTURE IMPROVEMENTS</a:t>
            </a:r>
            <a:endParaRPr lang="en-US" sz="1200" dirty="0"/>
          </a:p>
        </p:txBody>
      </p:sp>
      <p:sp>
        <p:nvSpPr>
          <p:cNvPr id="9" name="Text 7"/>
          <p:cNvSpPr txBox="1"/>
          <p:nvPr/>
        </p:nvSpPr>
        <p:spPr>
          <a:xfrm>
            <a:off x="6629400" y="1901952"/>
            <a:ext cx="4983480" cy="4206240"/>
          </a:xfrm>
          <a:prstGeom prst="rect">
            <a:avLst/>
          </a:prstGeom>
          <a:noFill/>
          <a:ln/>
        </p:spPr>
        <p:txBody>
          <a:bodyPr wrap="square" rtlCol="0" anchor="t"/>
          <a:lstStyle/>
          <a:p>
            <a:pPr marL="342900" indent="-342900">
              <a:spcAft>
                <a:spcPts val="1400"/>
              </a:spcAft>
              <a:buSzPct val="100000"/>
              <a:buChar char="•"/>
            </a:pPr>
            <a:r>
              <a:rPr lang="en-US" sz="1400" dirty="0"/>
              <a:t>Use business costs to choose the best threshold.</a:t>
            </a:r>
            <a:endParaRPr lang="ar-BH" sz="1400" dirty="0"/>
          </a:p>
          <a:p>
            <a:pPr marL="342900" indent="-342900">
              <a:spcAft>
                <a:spcPts val="1400"/>
              </a:spcAft>
              <a:buSzPct val="100000"/>
              <a:buFontTx/>
              <a:buChar char="•"/>
            </a:pPr>
            <a:r>
              <a:rPr lang="en-US" sz="1400" b="1" dirty="0"/>
              <a:t>Run full SVM tuning on all data.</a:t>
            </a:r>
            <a:r>
              <a:rPr lang="en-US" sz="1400" dirty="0"/>
              <a:t> </a:t>
            </a:r>
          </a:p>
          <a:p>
            <a:pPr marL="342900" indent="-342900">
              <a:spcAft>
                <a:spcPts val="1400"/>
              </a:spcAft>
              <a:buSzPct val="100000"/>
              <a:buChar char="•"/>
            </a:pPr>
            <a:r>
              <a:rPr lang="en-US" sz="1400" dirty="0"/>
              <a:t>Add more features such as location or industry to improve predictions.</a:t>
            </a:r>
            <a:endParaRPr lang="ar-BH" sz="1400" dirty="0"/>
          </a:p>
          <a:p>
            <a:pPr marL="342900" indent="-342900">
              <a:spcAft>
                <a:spcPts val="1400"/>
              </a:spcAft>
              <a:buSzPct val="100000"/>
              <a:buChar char="•"/>
            </a:pPr>
            <a:r>
              <a:rPr lang="en-US" sz="1400" dirty="0"/>
              <a:t>Use SHAP to better explain model predictions.</a:t>
            </a:r>
            <a:endParaRPr lang="ar-BH" sz="1400" dirty="0"/>
          </a:p>
          <a:p>
            <a:pPr marL="342900" indent="-342900">
              <a:spcAft>
                <a:spcPts val="1400"/>
              </a:spcAft>
              <a:buSzPct val="100000"/>
              <a:buChar char="•"/>
            </a:pPr>
            <a:r>
              <a:rPr lang="en-US" sz="1400" dirty="0"/>
              <a:t>Perform fairness analysis before using the model in practice.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1">
    <p:bg>
      <p:bgPr>
        <a:solidFill>
          <a:srgbClr val="12233F"/>
        </a:solidFill>
        <a:effectLst/>
      </p:bgPr>
    </p:bg>
    <p:spTree>
      <p:nvGrpSpPr>
        <p:cNvPr id="1" name=""/>
        <p:cNvGrpSpPr/>
        <p:nvPr/>
      </p:nvGrpSpPr>
      <p:grpSpPr>
        <a:xfrm>
          <a:off x="0" y="0"/>
          <a:ext cx="0" cy="0"/>
          <a:chOff x="0" y="0"/>
          <a:chExt cx="0" cy="0"/>
        </a:xfrm>
      </p:grpSpPr>
      <p:sp>
        <p:nvSpPr>
          <p:cNvPr id="2" name="Shape 0"/>
          <p:cNvSpPr/>
          <p:nvPr/>
        </p:nvSpPr>
        <p:spPr>
          <a:xfrm>
            <a:off x="6949440" y="-914400"/>
            <a:ext cx="6858000" cy="8686800"/>
          </a:xfrm>
          <a:prstGeom prst="roundRect">
            <a:avLst>
              <a:gd name="adj" fmla="val 6667"/>
            </a:avLst>
          </a:prstGeom>
          <a:solidFill>
            <a:srgbClr val="1E3A5F"/>
          </a:solidFill>
          <a:ln w="12700">
            <a:solidFill>
              <a:srgbClr val="1E3A5F"/>
            </a:solidFill>
            <a:prstDash val="solid"/>
          </a:ln>
        </p:spPr>
        <p:txBody>
          <a:bodyPr/>
          <a:lstStyle/>
          <a:p>
            <a:endParaRPr lang="en-US"/>
          </a:p>
        </p:txBody>
      </p:sp>
      <p:sp>
        <p:nvSpPr>
          <p:cNvPr id="3" name="Text 1"/>
          <p:cNvSpPr txBox="1"/>
          <p:nvPr/>
        </p:nvSpPr>
        <p:spPr>
          <a:xfrm>
            <a:off x="548640" y="1051560"/>
            <a:ext cx="7315200" cy="274320"/>
          </a:xfrm>
          <a:prstGeom prst="rect">
            <a:avLst/>
          </a:prstGeom>
          <a:noFill/>
          <a:ln/>
        </p:spPr>
        <p:txBody>
          <a:bodyPr wrap="square" lIns="0" tIns="0" rIns="0" bIns="0" rtlCol="0" anchor="ctr"/>
          <a:lstStyle/>
          <a:p>
            <a:pPr marL="0" indent="0">
              <a:buNone/>
            </a:pPr>
            <a:r>
              <a:rPr lang="en-US" sz="1200" b="1" kern="0" spc="200" dirty="0">
                <a:solidFill>
                  <a:srgbClr val="E3B857"/>
                </a:solidFill>
                <a:latin typeface="Calibri" pitchFamily="34" charset="0"/>
                <a:ea typeface="Calibri" pitchFamily="34" charset="-122"/>
                <a:cs typeface="Calibri" pitchFamily="34" charset="-120"/>
              </a:rPr>
              <a:t>SUMMARY</a:t>
            </a:r>
            <a:endParaRPr lang="en-US" sz="1200" dirty="0"/>
          </a:p>
        </p:txBody>
      </p:sp>
      <p:sp>
        <p:nvSpPr>
          <p:cNvPr id="4" name="Text 2"/>
          <p:cNvSpPr txBox="1"/>
          <p:nvPr/>
        </p:nvSpPr>
        <p:spPr>
          <a:xfrm>
            <a:off x="548640" y="1371600"/>
            <a:ext cx="7315200" cy="77724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6" name="Shape 4"/>
          <p:cNvSpPr/>
          <p:nvPr/>
        </p:nvSpPr>
        <p:spPr>
          <a:xfrm>
            <a:off x="548640" y="4434840"/>
            <a:ext cx="1463040" cy="41148"/>
          </a:xfrm>
          <a:prstGeom prst="rect">
            <a:avLst/>
          </a:prstGeom>
          <a:solidFill>
            <a:srgbClr val="C08A2E"/>
          </a:solidFill>
          <a:ln w="12700">
            <a:solidFill>
              <a:srgbClr val="C08A2E"/>
            </a:solidFill>
            <a:prstDash val="solid"/>
          </a:ln>
        </p:spPr>
        <p:txBody>
          <a:bodyPr/>
          <a:lstStyle/>
          <a:p>
            <a:endParaRPr lang="en-US"/>
          </a:p>
        </p:txBody>
      </p:sp>
      <p:sp>
        <p:nvSpPr>
          <p:cNvPr id="7" name="Text 5"/>
          <p:cNvSpPr txBox="1"/>
          <p:nvPr/>
        </p:nvSpPr>
        <p:spPr>
          <a:xfrm>
            <a:off x="548640" y="4709160"/>
            <a:ext cx="6035040" cy="10972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Ali Hussain Yousif  ·  DSB PT3</a:t>
            </a:r>
            <a:endParaRPr lang="en-US" sz="1500" dirty="0"/>
          </a:p>
          <a:p>
            <a:pPr marL="0" indent="0">
              <a:buNone/>
            </a:pPr>
            <a:r>
              <a:rPr lang="en-US" sz="1150" dirty="0">
                <a:solidFill>
                  <a:srgbClr val="8FA2BA"/>
                </a:solidFill>
                <a:latin typeface="Calibri" pitchFamily="34" charset="0"/>
                <a:ea typeface="Calibri" pitchFamily="34" charset="-122"/>
                <a:cs typeface="Calibri" pitchFamily="34" charset="-120"/>
              </a:rPr>
              <a:t>Data: UCI Machine Learning Repository, Adult (Census Income), 1994 US Census, via Kaggle</a:t>
            </a:r>
            <a:endParaRPr lang="en-US" sz="1500" dirty="0"/>
          </a:p>
          <a:p>
            <a:pPr marL="0" indent="0">
              <a:buNone/>
            </a:pPr>
            <a:r>
              <a:rPr lang="en-US" sz="1150" dirty="0">
                <a:solidFill>
                  <a:srgbClr val="8FA2BA"/>
                </a:solidFill>
                <a:latin typeface="Calibri" pitchFamily="34" charset="0"/>
                <a:ea typeface="Calibri" pitchFamily="34" charset="-122"/>
                <a:cs typeface="Calibri" pitchFamily="34" charset="-120"/>
              </a:rPr>
              <a:t>Tools: Python 3, pandas, NumPy, Matplotlib, Seaborn, scikit-learn, SciPy, XGBoost, imbalanced-learn, joblib, Jupyter Notebook</a:t>
            </a:r>
            <a:endParaRPr lang="en-US" sz="1500" dirty="0"/>
          </a:p>
        </p:txBody>
      </p:sp>
      <p:sp>
        <p:nvSpPr>
          <p:cNvPr id="8" name="Text 6"/>
          <p:cNvSpPr txBox="1"/>
          <p:nvPr/>
        </p:nvSpPr>
        <p:spPr>
          <a:xfrm>
            <a:off x="7589520" y="2926080"/>
            <a:ext cx="4023360" cy="640080"/>
          </a:xfrm>
          <a:prstGeom prst="rect">
            <a:avLst/>
          </a:prstGeom>
          <a:noFill/>
          <a:ln/>
        </p:spPr>
        <p:txBody>
          <a:bodyPr wrap="square" lIns="0" tIns="0" rIns="0" bIns="0" rtlCol="0" anchor="ctr"/>
          <a:lstStyle/>
          <a:p>
            <a:pPr marL="0" indent="0" algn="ctr">
              <a:buNone/>
            </a:pPr>
            <a:r>
              <a:rPr lang="en-US" sz="2800" b="1" dirty="0">
                <a:solidFill>
                  <a:srgbClr val="E3B857"/>
                </a:solidFill>
                <a:latin typeface="Cambria" pitchFamily="34" charset="0"/>
                <a:ea typeface="Cambria" pitchFamily="34" charset="-122"/>
                <a:cs typeface="Cambria" pitchFamily="34" charset="-120"/>
              </a:rPr>
              <a:t>Questions?</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2078</TotalTime>
  <Words>3245</Words>
  <Application>Microsoft Office PowerPoint</Application>
  <PresentationFormat>Widescreen</PresentationFormat>
  <Paragraphs>425</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Adult Income Prediction — Capstone</dc:title>
  <dc:subject>PptxGenJS Presentation</dc:subject>
  <dc:creator>Ali Hussain Yousif</dc:creator>
  <cp:lastModifiedBy>Ali Hussain</cp:lastModifiedBy>
  <cp:revision>4</cp:revision>
  <dcterms:created xsi:type="dcterms:W3CDTF">2026-08-31T07:07:35Z</dcterms:created>
  <dcterms:modified xsi:type="dcterms:W3CDTF">2026-09-01T20:00:16Z</dcterms:modified>
</cp:coreProperties>
</file>