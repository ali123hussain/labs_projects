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7"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A4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173"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2111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3C4A6B">
              <a:alpha val="60000"/>
            </a:srgbClr>
          </a:solidFill>
          <a:ln/>
        </p:spPr>
        <p:txBody>
          <a:bodyPr/>
          <a:lstStyle/>
          <a:p>
            <a:endParaRPr lang="en-US"/>
          </a:p>
        </p:txBody>
      </p:sp>
      <p:sp>
        <p:nvSpPr>
          <p:cNvPr id="3" name="Shape 1"/>
          <p:cNvSpPr/>
          <p:nvPr/>
        </p:nvSpPr>
        <p:spPr>
          <a:xfrm>
            <a:off x="10789920" y="4297680"/>
            <a:ext cx="3108960" cy="3108960"/>
          </a:xfrm>
          <a:prstGeom prst="ellipse">
            <a:avLst/>
          </a:prstGeom>
          <a:solidFill>
            <a:srgbClr val="D9A441">
              <a:alpha val="25000"/>
            </a:srgbClr>
          </a:solidFill>
          <a:ln/>
        </p:spPr>
        <p:txBody>
          <a:bodyPr/>
          <a:lstStyle/>
          <a:p>
            <a:endParaRPr lang="en-US"/>
          </a:p>
        </p:txBody>
      </p:sp>
      <p:sp>
        <p:nvSpPr>
          <p:cNvPr id="4" name="Text 2"/>
          <p:cNvSpPr/>
          <p:nvPr/>
        </p:nvSpPr>
        <p:spPr>
          <a:xfrm>
            <a:off x="640080" y="1965960"/>
            <a:ext cx="8229600" cy="457200"/>
          </a:xfrm>
          <a:prstGeom prst="rect">
            <a:avLst/>
          </a:prstGeom>
          <a:noFill/>
          <a:ln/>
        </p:spPr>
        <p:txBody>
          <a:bodyPr wrap="square" rtlCol="0" anchor="ctr"/>
          <a:lstStyle/>
          <a:p>
            <a:pPr marL="0" indent="0">
              <a:buNone/>
            </a:pPr>
            <a:r>
              <a:rPr lang="en-US" sz="1600" b="1" kern="0" spc="300" dirty="0">
                <a:solidFill>
                  <a:srgbClr val="D9A441"/>
                </a:solidFill>
                <a:latin typeface="Calibri" pitchFamily="34" charset="0"/>
                <a:ea typeface="Calibri" pitchFamily="34" charset="-122"/>
                <a:cs typeface="Calibri" pitchFamily="34" charset="-120"/>
              </a:rPr>
              <a:t>LIGHTNING TALK #2 – Ali Hussain Yousif</a:t>
            </a:r>
            <a:endParaRPr lang="en-US" sz="1600" dirty="0"/>
          </a:p>
        </p:txBody>
      </p:sp>
      <p:sp>
        <p:nvSpPr>
          <p:cNvPr id="5" name="Text 3"/>
          <p:cNvSpPr/>
          <p:nvPr/>
        </p:nvSpPr>
        <p:spPr>
          <a:xfrm>
            <a:off x="640080" y="2331720"/>
            <a:ext cx="960120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Adult Income Prediction</a:t>
            </a:r>
            <a:endParaRPr lang="en-US" sz="4400" dirty="0"/>
          </a:p>
        </p:txBody>
      </p:sp>
      <p:sp>
        <p:nvSpPr>
          <p:cNvPr id="6" name="Text 4"/>
          <p:cNvSpPr/>
          <p:nvPr/>
        </p:nvSpPr>
        <p:spPr>
          <a:xfrm>
            <a:off x="640080" y="3429000"/>
            <a:ext cx="7863840" cy="73152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Predicting whether an individual earns more than $50K a year from census demographic and employment data</a:t>
            </a:r>
            <a:endParaRPr lang="en-US" sz="1500" dirty="0"/>
          </a:p>
        </p:txBody>
      </p:sp>
      <p:sp>
        <p:nvSpPr>
          <p:cNvPr id="7" name="Shape 5"/>
          <p:cNvSpPr/>
          <p:nvPr/>
        </p:nvSpPr>
        <p:spPr>
          <a:xfrm>
            <a:off x="658368" y="4343400"/>
            <a:ext cx="1280160" cy="0"/>
          </a:xfrm>
          <a:prstGeom prst="line">
            <a:avLst/>
          </a:prstGeom>
          <a:noFill/>
          <a:ln w="38100">
            <a:solidFill>
              <a:srgbClr val="D9A441"/>
            </a:solidFill>
            <a:prstDash val="solid"/>
          </a:ln>
        </p:spPr>
        <p:txBody>
          <a:bodyPr/>
          <a:lstStyle/>
          <a:p>
            <a:endParaRPr lang="en-US"/>
          </a:p>
        </p:txBody>
      </p:sp>
      <p:sp>
        <p:nvSpPr>
          <p:cNvPr id="8" name="Text 6"/>
          <p:cNvSpPr/>
          <p:nvPr/>
        </p:nvSpPr>
        <p:spPr>
          <a:xfrm>
            <a:off x="640080" y="4526280"/>
            <a:ext cx="7315200" cy="365760"/>
          </a:xfrm>
          <a:prstGeom prst="rect">
            <a:avLst/>
          </a:prstGeom>
          <a:noFill/>
          <a:ln/>
        </p:spPr>
        <p:txBody>
          <a:bodyPr wrap="square" rtlCol="0" anchor="ctr"/>
          <a:lstStyle/>
          <a:p>
            <a:pPr marL="0" indent="0">
              <a:buNone/>
            </a:pPr>
            <a:r>
              <a:rPr lang="en-US" sz="1200" dirty="0">
                <a:solidFill>
                  <a:srgbClr val="9AA9D0"/>
                </a:solidFill>
                <a:latin typeface="Calibri" pitchFamily="34" charset="0"/>
                <a:ea typeface="Calibri" pitchFamily="34" charset="-122"/>
                <a:cs typeface="Calibri" pitchFamily="34" charset="-120"/>
              </a:rPr>
              <a:t>Binary Classification  |  UCI Adult Census Income Dataset</a:t>
            </a:r>
            <a:endParaRPr lang="en-US" sz="1200" dirty="0"/>
          </a:p>
        </p:txBody>
      </p:sp>
      <p:sp>
        <p:nvSpPr>
          <p:cNvPr id="9" name="Text 7"/>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891B5"/>
                </a:solidFill>
                <a:latin typeface="Calibri" pitchFamily="34" charset="0"/>
                <a:ea typeface="Calibri" pitchFamily="34" charset="-122"/>
                <a:cs typeface="Calibri" pitchFamily="34" charset="-120"/>
              </a:rPr>
              <a:t>Data Science Bootcamp • Capstone Part 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txBody>
          <a:bodyPr/>
          <a:lstStyle/>
          <a:p>
            <a:endParaRPr lang="en-US"/>
          </a:p>
        </p:txBody>
      </p:sp>
      <p:sp>
        <p:nvSpPr>
          <p:cNvPr id="3" name="Text 1"/>
          <p:cNvSpPr/>
          <p:nvPr/>
        </p:nvSpPr>
        <p:spPr>
          <a:xfrm>
            <a:off x="548640" y="256032"/>
            <a:ext cx="82296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801368"/>
            <a:ext cx="11064240" cy="1600200"/>
          </a:xfrm>
          <a:prstGeom prst="roundRect">
            <a:avLst>
              <a:gd name="adj" fmla="val 4571"/>
            </a:avLst>
          </a:prstGeom>
          <a:solidFill>
            <a:srgbClr val="F4F6FB"/>
          </a:solidFill>
          <a:ln/>
        </p:spPr>
        <p:txBody>
          <a:bodyPr/>
          <a:lstStyle/>
          <a:p>
            <a:endParaRPr lang="en-US"/>
          </a:p>
        </p:txBody>
      </p:sp>
      <p:sp>
        <p:nvSpPr>
          <p:cNvPr id="5" name="Text 3"/>
          <p:cNvSpPr/>
          <p:nvPr/>
        </p:nvSpPr>
        <p:spPr>
          <a:xfrm>
            <a:off x="914400" y="2011680"/>
            <a:ext cx="10332720" cy="1234440"/>
          </a:xfrm>
          <a:prstGeom prst="rect">
            <a:avLst/>
          </a:prstGeom>
          <a:noFill/>
          <a:ln/>
        </p:spPr>
        <p:txBody>
          <a:bodyPr wrap="square" rtlCol="0" anchor="t"/>
          <a:lstStyle/>
          <a:p>
            <a:pPr>
              <a:lnSpc>
                <a:spcPct val="115000"/>
              </a:lnSpc>
            </a:pPr>
            <a:r>
              <a:rPr lang="en-US" sz="1600" b="1" kern="0" spc="100" dirty="0">
                <a:solidFill>
                  <a:srgbClr val="D9A441"/>
                </a:solidFill>
                <a:latin typeface="Calibri" pitchFamily="34" charset="0"/>
                <a:ea typeface="Calibri" pitchFamily="34" charset="-122"/>
                <a:cs typeface="Calibri" pitchFamily="34" charset="-120"/>
              </a:rPr>
              <a:t>THE RAW ISSUE</a:t>
            </a:r>
            <a:r>
              <a:rPr lang="en-US" sz="1200" b="1" kern="0" spc="100" dirty="0">
                <a:solidFill>
                  <a:srgbClr val="D9A441"/>
                </a:solidFill>
                <a:latin typeface="Calibri" pitchFamily="34" charset="0"/>
                <a:ea typeface="Calibri" pitchFamily="34" charset="-122"/>
                <a:cs typeface="Calibri" pitchFamily="34" charset="-120"/>
              </a:rPr>
              <a:t>
</a:t>
            </a:r>
            <a:r>
              <a:rPr lang="en-US" sz="1400" dirty="0"/>
              <a:t>Workforce and career-development organizations often rely on broad strategies because they cannot identify which individuals are more likely to achieve higher income levels. This makes it difficult to provide targeted support and understand the factors associated with economic success.</a:t>
            </a:r>
            <a:endParaRPr lang="en-US" sz="1200" dirty="0"/>
          </a:p>
        </p:txBody>
      </p:sp>
      <p:sp>
        <p:nvSpPr>
          <p:cNvPr id="6" name="Shape 4"/>
          <p:cNvSpPr/>
          <p:nvPr/>
        </p:nvSpPr>
        <p:spPr>
          <a:xfrm>
            <a:off x="548640" y="3584448"/>
            <a:ext cx="11064240" cy="1965960"/>
          </a:xfrm>
          <a:prstGeom prst="roundRect">
            <a:avLst>
              <a:gd name="adj" fmla="val 2581"/>
            </a:avLst>
          </a:prstGeom>
          <a:solidFill>
            <a:srgbClr val="1E2761"/>
          </a:solidFill>
          <a:ln/>
        </p:spPr>
        <p:txBody>
          <a:bodyPr/>
          <a:lstStyle/>
          <a:p>
            <a:endParaRPr lang="en-US"/>
          </a:p>
        </p:txBody>
      </p:sp>
      <p:sp>
        <p:nvSpPr>
          <p:cNvPr id="7" name="Text 5"/>
          <p:cNvSpPr/>
          <p:nvPr/>
        </p:nvSpPr>
        <p:spPr>
          <a:xfrm>
            <a:off x="914400" y="3785616"/>
            <a:ext cx="7315200" cy="320040"/>
          </a:xfrm>
          <a:prstGeom prst="rect">
            <a:avLst/>
          </a:prstGeom>
          <a:noFill/>
          <a:ln/>
        </p:spPr>
        <p:txBody>
          <a:bodyPr wrap="square" rtlCol="0" anchor="ctr"/>
          <a:lstStyle/>
          <a:p>
            <a:pPr marL="0" indent="0">
              <a:buNone/>
            </a:pPr>
            <a:r>
              <a:rPr lang="en-US" sz="1600" b="1" kern="0" spc="100" dirty="0">
                <a:solidFill>
                  <a:srgbClr val="D9A441"/>
                </a:solidFill>
                <a:latin typeface="Calibri" pitchFamily="34" charset="0"/>
                <a:ea typeface="Calibri" pitchFamily="34" charset="-122"/>
                <a:cs typeface="Calibri" pitchFamily="34" charset="-120"/>
              </a:rPr>
              <a:t>THE STRUCTURED OBJECTIVE</a:t>
            </a:r>
            <a:endParaRPr lang="en-US" sz="1600" dirty="0"/>
          </a:p>
        </p:txBody>
      </p:sp>
      <p:sp>
        <p:nvSpPr>
          <p:cNvPr id="8" name="Text 6"/>
          <p:cNvSpPr/>
          <p:nvPr/>
        </p:nvSpPr>
        <p:spPr>
          <a:xfrm>
            <a:off x="914400" y="4133088"/>
            <a:ext cx="10332720" cy="1417320"/>
          </a:xfrm>
          <a:prstGeom prst="rect">
            <a:avLst/>
          </a:prstGeom>
          <a:noFill/>
          <a:ln/>
        </p:spPr>
        <p:txBody>
          <a:bodyPr wrap="square" rtlCol="0" anchor="t"/>
          <a:lstStyle/>
          <a:p>
            <a:pPr>
              <a:lnSpc>
                <a:spcPct val="120000"/>
              </a:lnSpc>
            </a:pPr>
            <a:r>
              <a:rPr lang="en-US" sz="1400" dirty="0">
                <a:solidFill>
                  <a:schemeClr val="bg1"/>
                </a:solidFill>
              </a:rPr>
              <a:t>We aim to classify individuals into "high income" (&gt;50K/year) or "lower income" (≤50K/year) groups using demographic and employment characteristics such as education, occupation, age, working hours, and capital gains/losses. This model will help workforce analysts identify the key factors associated with higher income and support more targeted career-development strategies, achieving an F1-score ≥ 0.70 and ROC-AUC ≥ 0.85 for the high-income class.</a:t>
            </a:r>
          </a:p>
        </p:txBody>
      </p:sp>
      <p:sp>
        <p:nvSpPr>
          <p:cNvPr id="11" name="Text 9"/>
          <p:cNvSpPr/>
          <p:nvPr/>
        </p:nvSpPr>
        <p:spPr>
          <a:xfrm>
            <a:off x="9052560" y="256032"/>
            <a:ext cx="2743200" cy="548640"/>
          </a:xfrm>
          <a:prstGeom prst="rect">
            <a:avLst/>
          </a:prstGeom>
          <a:noFill/>
          <a:ln/>
        </p:spPr>
        <p:txBody>
          <a:bodyPr wrap="square" rtlCol="0" anchor="ctr"/>
          <a:lstStyle/>
          <a:p>
            <a:pPr marL="0" indent="0" algn="r">
              <a:buNone/>
            </a:pPr>
            <a:r>
              <a:rPr lang="en-US" sz="1300" i="1" dirty="0">
                <a:solidFill>
                  <a:srgbClr val="CADCFC"/>
                </a:solidFill>
                <a:latin typeface="Calibri" pitchFamily="34" charset="0"/>
                <a:ea typeface="Calibri" pitchFamily="34" charset="-122"/>
                <a:cs typeface="Calibri" pitchFamily="34" charset="-120"/>
              </a:rPr>
              <a:t>Classification Problem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Audience &amp; Project Goals</a:t>
            </a:r>
            <a:endParaRPr lang="en-US" sz="3000" dirty="0"/>
          </a:p>
        </p:txBody>
      </p:sp>
      <p:sp>
        <p:nvSpPr>
          <p:cNvPr id="3" name="Shape 1"/>
          <p:cNvSpPr/>
          <p:nvPr/>
        </p:nvSpPr>
        <p:spPr>
          <a:xfrm>
            <a:off x="548640" y="1234440"/>
            <a:ext cx="11064240" cy="1051560"/>
          </a:xfrm>
          <a:prstGeom prst="roundRect">
            <a:avLst>
              <a:gd name="adj" fmla="val 6957"/>
            </a:avLst>
          </a:prstGeom>
          <a:solidFill>
            <a:srgbClr val="F4F6FB"/>
          </a:solidFill>
          <a:ln/>
        </p:spPr>
        <p:txBody>
          <a:bodyPr/>
          <a:lstStyle/>
          <a:p>
            <a:endParaRPr lang="en-US"/>
          </a:p>
        </p:txBody>
      </p:sp>
      <p:sp>
        <p:nvSpPr>
          <p:cNvPr id="4" name="Shape 2"/>
          <p:cNvSpPr/>
          <p:nvPr/>
        </p:nvSpPr>
        <p:spPr>
          <a:xfrm>
            <a:off x="822960" y="1463040"/>
            <a:ext cx="594360" cy="594360"/>
          </a:xfrm>
          <a:prstGeom prst="ellipse">
            <a:avLst/>
          </a:prstGeom>
          <a:solidFill>
            <a:srgbClr val="1E2761"/>
          </a:solidFill>
          <a:ln/>
        </p:spPr>
        <p:txBody>
          <a:bodyPr/>
          <a:lstStyle/>
          <a:p>
            <a:endParaRPr lang="en-US"/>
          </a:p>
        </p:txBody>
      </p:sp>
      <p:sp>
        <p:nvSpPr>
          <p:cNvPr id="5" name="Text 3"/>
          <p:cNvSpPr/>
          <p:nvPr/>
        </p:nvSpPr>
        <p:spPr>
          <a:xfrm>
            <a:off x="822960" y="1463040"/>
            <a:ext cx="594360" cy="594360"/>
          </a:xfrm>
          <a:prstGeom prst="rect">
            <a:avLst/>
          </a:prstGeom>
          <a:noFill/>
          <a:ln/>
        </p:spPr>
        <p:txBody>
          <a:bodyPr wrap="square" rtlCol="0" anchor="ctr"/>
          <a:lstStyle/>
          <a:p>
            <a:pPr marL="0" indent="0" algn="ctr">
              <a:buNone/>
            </a:pPr>
            <a:endParaRPr lang="en-US" sz="2000" dirty="0"/>
          </a:p>
        </p:txBody>
      </p:sp>
      <p:sp>
        <p:nvSpPr>
          <p:cNvPr id="6" name="Text 4"/>
          <p:cNvSpPr/>
          <p:nvPr/>
        </p:nvSpPr>
        <p:spPr>
          <a:xfrm>
            <a:off x="1600200" y="1371600"/>
            <a:ext cx="9692640" cy="822960"/>
          </a:xfrm>
          <a:prstGeom prst="rect">
            <a:avLst/>
          </a:prstGeom>
          <a:noFill/>
          <a:ln/>
        </p:spPr>
        <p:txBody>
          <a:bodyPr wrap="square" rtlCol="0" anchor="t"/>
          <a:lstStyle/>
          <a:p>
            <a:pPr>
              <a:lnSpc>
                <a:spcPct val="110000"/>
              </a:lnSpc>
            </a:pPr>
            <a:r>
              <a:rPr lang="en-US" sz="1600" b="1" dirty="0">
                <a:solidFill>
                  <a:srgbClr val="1E2761"/>
                </a:solidFill>
                <a:latin typeface="Calibri" pitchFamily="34" charset="0"/>
                <a:ea typeface="Calibri" pitchFamily="34" charset="-122"/>
                <a:cs typeface="Calibri" pitchFamily="34" charset="-120"/>
              </a:rPr>
              <a:t>Potential Audience
</a:t>
            </a:r>
            <a:r>
              <a:rPr lang="en-US" sz="1600" dirty="0"/>
              <a:t>Workforce Development &amp; Career Analytics Teams</a:t>
            </a:r>
          </a:p>
          <a:p>
            <a:r>
              <a:rPr lang="en-US" sz="1400" dirty="0"/>
              <a:t>Move from broad programs to data-driven career insights based on income patterns.</a:t>
            </a:r>
          </a:p>
          <a:p>
            <a:pPr>
              <a:lnSpc>
                <a:spcPct val="110000"/>
              </a:lnSpc>
            </a:pPr>
            <a:endParaRPr lang="ar-BH" sz="1400" dirty="0"/>
          </a:p>
          <a:p>
            <a:pPr>
              <a:lnSpc>
                <a:spcPct val="110000"/>
              </a:lnSpc>
            </a:pPr>
            <a:endParaRPr lang="en-US" sz="1400" dirty="0"/>
          </a:p>
        </p:txBody>
      </p:sp>
      <p:sp>
        <p:nvSpPr>
          <p:cNvPr id="7" name="Shape 5"/>
          <p:cNvSpPr/>
          <p:nvPr/>
        </p:nvSpPr>
        <p:spPr>
          <a:xfrm>
            <a:off x="548640" y="2514600"/>
            <a:ext cx="5394960" cy="3566160"/>
          </a:xfrm>
          <a:prstGeom prst="roundRect">
            <a:avLst>
              <a:gd name="adj" fmla="val 2051"/>
            </a:avLst>
          </a:prstGeom>
          <a:solidFill>
            <a:srgbClr val="1E2761"/>
          </a:solidFill>
          <a:ln/>
        </p:spPr>
        <p:txBody>
          <a:bodyPr/>
          <a:lstStyle/>
          <a:p>
            <a:endParaRPr lang="en-US"/>
          </a:p>
        </p:txBody>
      </p:sp>
      <p:sp>
        <p:nvSpPr>
          <p:cNvPr id="8" name="Text 6"/>
          <p:cNvSpPr/>
          <p:nvPr/>
        </p:nvSpPr>
        <p:spPr>
          <a:xfrm>
            <a:off x="868680" y="2724912"/>
            <a:ext cx="4754880" cy="320040"/>
          </a:xfrm>
          <a:prstGeom prst="rect">
            <a:avLst/>
          </a:prstGeom>
          <a:noFill/>
          <a:ln/>
        </p:spPr>
        <p:txBody>
          <a:bodyPr wrap="square" rtlCol="0" anchor="ctr"/>
          <a:lstStyle/>
          <a:p>
            <a:r>
              <a:rPr lang="en-US" sz="1600" dirty="0">
                <a:solidFill>
                  <a:schemeClr val="bg1"/>
                </a:solidFill>
              </a:rPr>
              <a:t>Using income prediction insights to:</a:t>
            </a:r>
            <a:endParaRPr lang="en-US" sz="1400" dirty="0">
              <a:solidFill>
                <a:schemeClr val="bg1"/>
              </a:solidFill>
            </a:endParaRPr>
          </a:p>
        </p:txBody>
      </p:sp>
      <p:sp>
        <p:nvSpPr>
          <p:cNvPr id="9" name="Text 7"/>
          <p:cNvSpPr/>
          <p:nvPr/>
        </p:nvSpPr>
        <p:spPr>
          <a:xfrm>
            <a:off x="868680" y="3429000"/>
            <a:ext cx="4800600" cy="1323081"/>
          </a:xfrm>
          <a:prstGeom prst="rect">
            <a:avLst/>
          </a:prstGeom>
          <a:noFill/>
          <a:ln/>
        </p:spPr>
        <p:txBody>
          <a:bodyPr wrap="square" rtlCol="0" anchor="t"/>
          <a:lstStyle/>
          <a:p>
            <a:pPr marL="285750" lvl="0" indent="-285750">
              <a:buFont typeface="Arial" panose="020B0604020202020204" pitchFamily="34" charset="0"/>
              <a:buChar char="•"/>
            </a:pPr>
            <a:r>
              <a:rPr lang="en-US" sz="1400" dirty="0">
                <a:solidFill>
                  <a:schemeClr val="bg1"/>
                </a:solidFill>
              </a:rPr>
              <a:t>Understand factors associated with higher income.</a:t>
            </a:r>
          </a:p>
          <a:p>
            <a:pPr lvl="0"/>
            <a:r>
              <a:rPr lang="en-US" sz="1400" dirty="0">
                <a:solidFill>
                  <a:schemeClr val="bg1"/>
                </a:solidFill>
              </a:rPr>
              <a:t> </a:t>
            </a:r>
          </a:p>
          <a:p>
            <a:pPr marL="285750" lvl="0" indent="-285750">
              <a:buFont typeface="Arial" panose="020B0604020202020204" pitchFamily="34" charset="0"/>
              <a:buChar char="•"/>
            </a:pPr>
            <a:r>
              <a:rPr lang="en-US" sz="1400" dirty="0">
                <a:solidFill>
                  <a:schemeClr val="bg1"/>
                </a:solidFill>
              </a:rPr>
              <a:t>Support career-development strategies.</a:t>
            </a:r>
          </a:p>
          <a:p>
            <a:pPr lvl="0"/>
            <a:r>
              <a:rPr lang="en-US" sz="1400" dirty="0">
                <a:solidFill>
                  <a:schemeClr val="bg1"/>
                </a:solidFill>
              </a:rPr>
              <a:t> </a:t>
            </a:r>
          </a:p>
          <a:p>
            <a:pPr marL="285750" lvl="0" indent="-285750">
              <a:buFont typeface="Arial" panose="020B0604020202020204" pitchFamily="34" charset="0"/>
              <a:buChar char="•"/>
            </a:pPr>
            <a:r>
              <a:rPr lang="en-US" sz="1400" dirty="0">
                <a:solidFill>
                  <a:schemeClr val="bg1"/>
                </a:solidFill>
              </a:rPr>
              <a:t>Identify important employment patterns.</a:t>
            </a:r>
          </a:p>
          <a:p>
            <a:pPr marL="342900" indent="-342900">
              <a:lnSpc>
                <a:spcPct val="115000"/>
              </a:lnSpc>
              <a:spcAft>
                <a:spcPts val="1000"/>
              </a:spcAft>
              <a:buSzPct val="100000"/>
              <a:buChar char="•"/>
            </a:pPr>
            <a:endParaRPr lang="en-US" sz="1350" dirty="0">
              <a:solidFill>
                <a:schemeClr val="bg1"/>
              </a:solidFill>
            </a:endParaRPr>
          </a:p>
        </p:txBody>
      </p:sp>
      <p:sp>
        <p:nvSpPr>
          <p:cNvPr id="10" name="Shape 8"/>
          <p:cNvSpPr/>
          <p:nvPr/>
        </p:nvSpPr>
        <p:spPr>
          <a:xfrm>
            <a:off x="6217920" y="2514600"/>
            <a:ext cx="5394960" cy="3566160"/>
          </a:xfrm>
          <a:prstGeom prst="roundRect">
            <a:avLst>
              <a:gd name="adj" fmla="val 2051"/>
            </a:avLst>
          </a:prstGeom>
          <a:solidFill>
            <a:srgbClr val="F4F6FB"/>
          </a:solidFill>
          <a:ln/>
        </p:spPr>
        <p:txBody>
          <a:bodyPr/>
          <a:lstStyle/>
          <a:p>
            <a:endParaRPr lang="en-US"/>
          </a:p>
        </p:txBody>
      </p:sp>
      <p:sp>
        <p:nvSpPr>
          <p:cNvPr id="11" name="Text 9"/>
          <p:cNvSpPr/>
          <p:nvPr/>
        </p:nvSpPr>
        <p:spPr>
          <a:xfrm>
            <a:off x="6537960" y="2724912"/>
            <a:ext cx="4754880" cy="320040"/>
          </a:xfrm>
          <a:prstGeom prst="rect">
            <a:avLst/>
          </a:prstGeom>
          <a:noFill/>
          <a:ln/>
        </p:spPr>
        <p:txBody>
          <a:bodyPr wrap="square" rtlCol="0" anchor="ctr"/>
          <a:lstStyle/>
          <a:p>
            <a:pPr marL="0" indent="0">
              <a:buNone/>
            </a:pPr>
            <a:r>
              <a:rPr lang="en-US" sz="1600" b="1" kern="0" spc="100" dirty="0">
                <a:solidFill>
                  <a:srgbClr val="1E2761"/>
                </a:solidFill>
                <a:latin typeface="Calibri" pitchFamily="34" charset="0"/>
                <a:ea typeface="Calibri" pitchFamily="34" charset="-122"/>
                <a:cs typeface="Calibri" pitchFamily="34" charset="-120"/>
              </a:rPr>
              <a:t>MACHINE LEARNING GOALS</a:t>
            </a:r>
            <a:endParaRPr lang="en-US" sz="1600" dirty="0"/>
          </a:p>
        </p:txBody>
      </p:sp>
      <p:sp>
        <p:nvSpPr>
          <p:cNvPr id="12" name="Text 10"/>
          <p:cNvSpPr/>
          <p:nvPr/>
        </p:nvSpPr>
        <p:spPr>
          <a:xfrm>
            <a:off x="6537960" y="3108960"/>
            <a:ext cx="4800600" cy="2834640"/>
          </a:xfrm>
          <a:prstGeom prst="rect">
            <a:avLst/>
          </a:prstGeom>
          <a:noFill/>
          <a:ln/>
        </p:spPr>
        <p:txBody>
          <a:bodyPr wrap="square" rtlCol="0" anchor="t"/>
          <a:lstStyle/>
          <a:p>
            <a:pPr marL="342900" indent="-342900">
              <a:lnSpc>
                <a:spcPct val="112000"/>
              </a:lnSpc>
              <a:spcAft>
                <a:spcPts val="800"/>
              </a:spcAft>
              <a:buSzPct val="100000"/>
              <a:buChar char="•"/>
            </a:pPr>
            <a:r>
              <a:rPr lang="en-US" sz="1400" dirty="0">
                <a:solidFill>
                  <a:srgbClr val="3C4A6B"/>
                </a:solidFill>
                <a:latin typeface="Calibri" pitchFamily="34" charset="0"/>
                <a:ea typeface="Calibri" pitchFamily="34" charset="-122"/>
                <a:cs typeface="Calibri" pitchFamily="34" charset="-120"/>
              </a:rPr>
              <a:t>Binary classification model: income &gt;$50K vs ≤$50K.</a:t>
            </a:r>
            <a:endParaRPr lang="en-US" sz="1400" dirty="0"/>
          </a:p>
          <a:p>
            <a:pPr marL="342900" indent="-342900">
              <a:lnSpc>
                <a:spcPct val="112000"/>
              </a:lnSpc>
              <a:spcAft>
                <a:spcPts val="800"/>
              </a:spcAft>
              <a:buSzPct val="100000"/>
              <a:buChar char="•"/>
            </a:pPr>
            <a:r>
              <a:rPr lang="en-US" sz="1400" dirty="0">
                <a:solidFill>
                  <a:srgbClr val="3C4A6B"/>
                </a:solidFill>
                <a:latin typeface="Calibri" pitchFamily="34" charset="0"/>
                <a:ea typeface="Calibri" pitchFamily="34" charset="-122"/>
                <a:cs typeface="Calibri" pitchFamily="34" charset="-120"/>
              </a:rPr>
              <a:t>Compare 4 models: Logistic Regression, Decision Tree, Random Forest, Gradient Boosting.</a:t>
            </a:r>
            <a:endParaRPr lang="en-US" sz="1400" dirty="0"/>
          </a:p>
          <a:p>
            <a:pPr marL="342900" indent="-342900">
              <a:lnSpc>
                <a:spcPct val="112000"/>
              </a:lnSpc>
              <a:spcAft>
                <a:spcPts val="800"/>
              </a:spcAft>
              <a:buSzPct val="100000"/>
              <a:buChar char="•"/>
            </a:pPr>
            <a:r>
              <a:rPr lang="en-US" sz="1400" dirty="0">
                <a:solidFill>
                  <a:srgbClr val="3C4A6B"/>
                </a:solidFill>
                <a:latin typeface="Calibri" pitchFamily="34" charset="0"/>
                <a:ea typeface="Calibri" pitchFamily="34" charset="-122"/>
                <a:cs typeface="Calibri" pitchFamily="34" charset="-120"/>
              </a:rPr>
              <a:t>Evaluate with Accuracy, Precision, Recall, F1-score and ROC-AUC (class imbalance aware).</a:t>
            </a:r>
            <a:endParaRPr lang="en-US" sz="1400" dirty="0"/>
          </a:p>
          <a:p>
            <a:pPr marL="342900" indent="-342900">
              <a:lnSpc>
                <a:spcPct val="112000"/>
              </a:lnSpc>
              <a:spcAft>
                <a:spcPts val="800"/>
              </a:spcAft>
              <a:buSzPct val="100000"/>
              <a:buChar char="•"/>
            </a:pPr>
            <a:r>
              <a:rPr lang="en-US" sz="1400" dirty="0">
                <a:solidFill>
                  <a:srgbClr val="3C4A6B"/>
                </a:solidFill>
                <a:latin typeface="Calibri" pitchFamily="34" charset="0"/>
                <a:ea typeface="Calibri" pitchFamily="34" charset="-122"/>
                <a:cs typeface="Calibri" pitchFamily="34" charset="-120"/>
              </a:rPr>
              <a:t>Select best model on F1 / ROC-AUC for the minority (&gt;$50K) class.</a:t>
            </a:r>
            <a:endParaRPr lang="en-US" sz="1400" dirty="0"/>
          </a:p>
        </p:txBody>
      </p:sp>
      <p:sp>
        <p:nvSpPr>
          <p:cNvPr id="13" name="Text 11"/>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About the Data</a:t>
            </a:r>
            <a:endParaRPr lang="en-US" sz="3000" dirty="0"/>
          </a:p>
        </p:txBody>
      </p:sp>
      <p:sp>
        <p:nvSpPr>
          <p:cNvPr id="3" name="Text 1"/>
          <p:cNvSpPr/>
          <p:nvPr/>
        </p:nvSpPr>
        <p:spPr>
          <a:xfrm>
            <a:off x="548640" y="914400"/>
            <a:ext cx="731520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UCI Adult / Census Income dataset</a:t>
            </a:r>
            <a:endParaRPr lang="en-US" sz="1300" dirty="0"/>
          </a:p>
        </p:txBody>
      </p:sp>
      <p:sp>
        <p:nvSpPr>
          <p:cNvPr id="4" name="Shape 2"/>
          <p:cNvSpPr/>
          <p:nvPr/>
        </p:nvSpPr>
        <p:spPr>
          <a:xfrm>
            <a:off x="548640" y="1554480"/>
            <a:ext cx="2651760" cy="1600200"/>
          </a:xfrm>
          <a:prstGeom prst="roundRect">
            <a:avLst>
              <a:gd name="adj" fmla="val 4571"/>
            </a:avLst>
          </a:prstGeom>
          <a:solidFill>
            <a:srgbClr val="3C4A6B"/>
          </a:solidFill>
          <a:ln/>
        </p:spPr>
        <p:txBody>
          <a:bodyPr/>
          <a:lstStyle/>
          <a:p>
            <a:endParaRPr lang="en-US"/>
          </a:p>
        </p:txBody>
      </p:sp>
      <p:sp>
        <p:nvSpPr>
          <p:cNvPr id="5" name="Text 3"/>
          <p:cNvSpPr/>
          <p:nvPr/>
        </p:nvSpPr>
        <p:spPr>
          <a:xfrm>
            <a:off x="548640" y="1691640"/>
            <a:ext cx="2651760" cy="777240"/>
          </a:xfrm>
          <a:prstGeom prst="rect">
            <a:avLst/>
          </a:prstGeom>
          <a:noFill/>
          <a:ln/>
        </p:spPr>
        <p:txBody>
          <a:bodyPr wrap="square" rtlCol="0" anchor="ctr"/>
          <a:lstStyle/>
          <a:p>
            <a:pPr marL="0" indent="0" algn="ctr">
              <a:buNone/>
            </a:pPr>
            <a:r>
              <a:rPr lang="en-US" sz="3000" b="1" dirty="0">
                <a:solidFill>
                  <a:srgbClr val="D9A441"/>
                </a:solidFill>
                <a:latin typeface="Cambria" pitchFamily="34" charset="0"/>
                <a:ea typeface="Cambria" pitchFamily="34" charset="-122"/>
                <a:cs typeface="Cambria" pitchFamily="34" charset="-120"/>
              </a:rPr>
              <a:t>32,561</a:t>
            </a:r>
            <a:endParaRPr lang="en-US" sz="3000" dirty="0"/>
          </a:p>
        </p:txBody>
      </p:sp>
      <p:sp>
        <p:nvSpPr>
          <p:cNvPr id="6" name="Text 4"/>
          <p:cNvSpPr/>
          <p:nvPr/>
        </p:nvSpPr>
        <p:spPr>
          <a:xfrm>
            <a:off x="548640" y="2423160"/>
            <a:ext cx="2651760" cy="54864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Rows</a:t>
            </a:r>
            <a:endParaRPr lang="en-US" sz="1200" dirty="0"/>
          </a:p>
        </p:txBody>
      </p:sp>
      <p:sp>
        <p:nvSpPr>
          <p:cNvPr id="7" name="Shape 5"/>
          <p:cNvSpPr/>
          <p:nvPr/>
        </p:nvSpPr>
        <p:spPr>
          <a:xfrm>
            <a:off x="3456432" y="1554480"/>
            <a:ext cx="2651760" cy="1600200"/>
          </a:xfrm>
          <a:prstGeom prst="roundRect">
            <a:avLst>
              <a:gd name="adj" fmla="val 4571"/>
            </a:avLst>
          </a:prstGeom>
          <a:solidFill>
            <a:srgbClr val="3C4A6B"/>
          </a:solidFill>
          <a:ln/>
        </p:spPr>
        <p:txBody>
          <a:bodyPr/>
          <a:lstStyle/>
          <a:p>
            <a:endParaRPr lang="en-US"/>
          </a:p>
        </p:txBody>
      </p:sp>
      <p:sp>
        <p:nvSpPr>
          <p:cNvPr id="8" name="Text 6"/>
          <p:cNvSpPr/>
          <p:nvPr/>
        </p:nvSpPr>
        <p:spPr>
          <a:xfrm>
            <a:off x="3456432" y="1691640"/>
            <a:ext cx="2651760" cy="777240"/>
          </a:xfrm>
          <a:prstGeom prst="rect">
            <a:avLst/>
          </a:prstGeom>
          <a:noFill/>
          <a:ln/>
        </p:spPr>
        <p:txBody>
          <a:bodyPr wrap="square" rtlCol="0" anchor="ctr"/>
          <a:lstStyle/>
          <a:p>
            <a:pPr marL="0" indent="0" algn="ctr">
              <a:buNone/>
            </a:pPr>
            <a:r>
              <a:rPr lang="en-US" sz="3000" b="1" dirty="0">
                <a:solidFill>
                  <a:srgbClr val="D9A441"/>
                </a:solidFill>
                <a:latin typeface="Cambria" pitchFamily="34" charset="0"/>
                <a:ea typeface="Cambria" pitchFamily="34" charset="-122"/>
                <a:cs typeface="Cambria" pitchFamily="34" charset="-120"/>
              </a:rPr>
              <a:t>15</a:t>
            </a:r>
            <a:endParaRPr lang="en-US" sz="3000" dirty="0"/>
          </a:p>
        </p:txBody>
      </p:sp>
      <p:sp>
        <p:nvSpPr>
          <p:cNvPr id="9" name="Text 7"/>
          <p:cNvSpPr/>
          <p:nvPr/>
        </p:nvSpPr>
        <p:spPr>
          <a:xfrm>
            <a:off x="3456432" y="2423160"/>
            <a:ext cx="2651760" cy="54864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Columns</a:t>
            </a:r>
            <a:endParaRPr lang="en-US" sz="1200" dirty="0"/>
          </a:p>
        </p:txBody>
      </p:sp>
      <p:sp>
        <p:nvSpPr>
          <p:cNvPr id="10" name="Shape 8"/>
          <p:cNvSpPr/>
          <p:nvPr/>
        </p:nvSpPr>
        <p:spPr>
          <a:xfrm>
            <a:off x="6364224" y="1554480"/>
            <a:ext cx="2651760" cy="1600200"/>
          </a:xfrm>
          <a:prstGeom prst="roundRect">
            <a:avLst>
              <a:gd name="adj" fmla="val 4571"/>
            </a:avLst>
          </a:prstGeom>
          <a:solidFill>
            <a:srgbClr val="3C4A6B"/>
          </a:solidFill>
          <a:ln/>
        </p:spPr>
        <p:txBody>
          <a:bodyPr/>
          <a:lstStyle/>
          <a:p>
            <a:endParaRPr lang="en-US"/>
          </a:p>
        </p:txBody>
      </p:sp>
      <p:sp>
        <p:nvSpPr>
          <p:cNvPr id="11" name="Text 9"/>
          <p:cNvSpPr/>
          <p:nvPr/>
        </p:nvSpPr>
        <p:spPr>
          <a:xfrm>
            <a:off x="6364224" y="1691640"/>
            <a:ext cx="2651760" cy="777240"/>
          </a:xfrm>
          <a:prstGeom prst="rect">
            <a:avLst/>
          </a:prstGeom>
          <a:noFill/>
          <a:ln/>
        </p:spPr>
        <p:txBody>
          <a:bodyPr wrap="square" rtlCol="0" anchor="ctr"/>
          <a:lstStyle/>
          <a:p>
            <a:pPr marL="0" indent="0" algn="ctr">
              <a:buNone/>
            </a:pPr>
            <a:r>
              <a:rPr lang="en-US" sz="3000" b="1" dirty="0">
                <a:solidFill>
                  <a:srgbClr val="D9A441"/>
                </a:solidFill>
                <a:latin typeface="Cambria" pitchFamily="34" charset="0"/>
                <a:ea typeface="Cambria" pitchFamily="34" charset="-122"/>
                <a:cs typeface="Cambria" pitchFamily="34" charset="-120"/>
              </a:rPr>
              <a:t>24.1%</a:t>
            </a:r>
            <a:endParaRPr lang="en-US" sz="3000" dirty="0"/>
          </a:p>
        </p:txBody>
      </p:sp>
      <p:sp>
        <p:nvSpPr>
          <p:cNvPr id="12" name="Text 10"/>
          <p:cNvSpPr/>
          <p:nvPr/>
        </p:nvSpPr>
        <p:spPr>
          <a:xfrm>
            <a:off x="6364224" y="2423160"/>
            <a:ext cx="2651760" cy="54864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Earn &gt; $50K (target)</a:t>
            </a:r>
            <a:endParaRPr lang="en-US" sz="1200" dirty="0"/>
          </a:p>
        </p:txBody>
      </p:sp>
      <p:sp>
        <p:nvSpPr>
          <p:cNvPr id="13" name="Shape 11"/>
          <p:cNvSpPr/>
          <p:nvPr/>
        </p:nvSpPr>
        <p:spPr>
          <a:xfrm>
            <a:off x="9272016" y="1554480"/>
            <a:ext cx="2651760" cy="1600200"/>
          </a:xfrm>
          <a:prstGeom prst="roundRect">
            <a:avLst>
              <a:gd name="adj" fmla="val 4571"/>
            </a:avLst>
          </a:prstGeom>
          <a:solidFill>
            <a:srgbClr val="3C4A6B"/>
          </a:solidFill>
          <a:ln/>
        </p:spPr>
        <p:txBody>
          <a:bodyPr/>
          <a:lstStyle/>
          <a:p>
            <a:endParaRPr lang="en-US"/>
          </a:p>
        </p:txBody>
      </p:sp>
      <p:sp>
        <p:nvSpPr>
          <p:cNvPr id="14" name="Text 12"/>
          <p:cNvSpPr/>
          <p:nvPr/>
        </p:nvSpPr>
        <p:spPr>
          <a:xfrm>
            <a:off x="9272016" y="1691640"/>
            <a:ext cx="2651760" cy="777240"/>
          </a:xfrm>
          <a:prstGeom prst="rect">
            <a:avLst/>
          </a:prstGeom>
          <a:noFill/>
          <a:ln/>
        </p:spPr>
        <p:txBody>
          <a:bodyPr wrap="square" rtlCol="0" anchor="ctr"/>
          <a:lstStyle/>
          <a:p>
            <a:pPr marL="0" indent="0" algn="ctr">
              <a:buNone/>
            </a:pPr>
            <a:r>
              <a:rPr lang="en-US" sz="3000" b="1" dirty="0">
                <a:solidFill>
                  <a:srgbClr val="D9A441"/>
                </a:solidFill>
                <a:latin typeface="Cambria" pitchFamily="34" charset="0"/>
                <a:ea typeface="Cambria" pitchFamily="34" charset="-122"/>
                <a:cs typeface="Cambria" pitchFamily="34" charset="-120"/>
              </a:rPr>
              <a:t>3</a:t>
            </a:r>
            <a:endParaRPr lang="en-US" sz="3000" dirty="0"/>
          </a:p>
        </p:txBody>
      </p:sp>
      <p:sp>
        <p:nvSpPr>
          <p:cNvPr id="15" name="Text 13"/>
          <p:cNvSpPr/>
          <p:nvPr/>
        </p:nvSpPr>
        <p:spPr>
          <a:xfrm>
            <a:off x="9272016" y="2423160"/>
            <a:ext cx="2651760" cy="54864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Columns with missing values</a:t>
            </a:r>
            <a:endParaRPr lang="en-US" sz="1200" dirty="0"/>
          </a:p>
        </p:txBody>
      </p:sp>
      <p:pic>
        <p:nvPicPr>
          <p:cNvPr id="16" name="Image 0" descr="income_dist.png"/>
          <p:cNvPicPr>
            <a:picLocks noChangeAspect="1"/>
          </p:cNvPicPr>
          <p:nvPr/>
        </p:nvPicPr>
        <p:blipFill>
          <a:blip r:embed="rId3"/>
          <a:stretch>
            <a:fillRect/>
          </a:stretch>
        </p:blipFill>
        <p:spPr>
          <a:xfrm>
            <a:off x="548640" y="3520440"/>
            <a:ext cx="3291840" cy="2651760"/>
          </a:xfrm>
          <a:prstGeom prst="rect">
            <a:avLst/>
          </a:prstGeom>
        </p:spPr>
      </p:pic>
      <p:sp>
        <p:nvSpPr>
          <p:cNvPr id="17" name="Text 14"/>
          <p:cNvSpPr/>
          <p:nvPr/>
        </p:nvSpPr>
        <p:spPr>
          <a:xfrm>
            <a:off x="548640" y="6126480"/>
            <a:ext cx="3291840" cy="320040"/>
          </a:xfrm>
          <a:prstGeom prst="rect">
            <a:avLst/>
          </a:prstGeom>
          <a:noFill/>
          <a:ln/>
        </p:spPr>
        <p:txBody>
          <a:bodyPr wrap="square" rtlCol="0" anchor="ctr"/>
          <a:lstStyle/>
          <a:p>
            <a:pPr marL="0" indent="0" algn="ctr">
              <a:buNone/>
            </a:pPr>
            <a:r>
              <a:rPr lang="en-US" sz="1100" i="1" dirty="0">
                <a:solidFill>
                  <a:srgbClr val="9AA9D0"/>
                </a:solidFill>
                <a:latin typeface="Calibri" pitchFamily="34" charset="0"/>
                <a:ea typeface="Calibri" pitchFamily="34" charset="-122"/>
                <a:cs typeface="Calibri" pitchFamily="34" charset="-120"/>
              </a:rPr>
              <a:t>Income class split (target)</a:t>
            </a:r>
            <a:endParaRPr lang="en-US" sz="1100" dirty="0"/>
          </a:p>
        </p:txBody>
      </p:sp>
      <p:sp>
        <p:nvSpPr>
          <p:cNvPr id="18" name="Shape 15"/>
          <p:cNvSpPr/>
          <p:nvPr/>
        </p:nvSpPr>
        <p:spPr>
          <a:xfrm>
            <a:off x="4160520" y="3520440"/>
            <a:ext cx="7452360" cy="2606040"/>
          </a:xfrm>
          <a:prstGeom prst="roundRect">
            <a:avLst>
              <a:gd name="adj" fmla="val 2807"/>
            </a:avLst>
          </a:prstGeom>
          <a:solidFill>
            <a:srgbClr val="FFFFFF"/>
          </a:solidFill>
          <a:ln/>
        </p:spPr>
        <p:txBody>
          <a:bodyPr/>
          <a:lstStyle/>
          <a:p>
            <a:endParaRPr lang="en-US"/>
          </a:p>
        </p:txBody>
      </p:sp>
      <p:sp>
        <p:nvSpPr>
          <p:cNvPr id="19" name="Text 16"/>
          <p:cNvSpPr/>
          <p:nvPr/>
        </p:nvSpPr>
        <p:spPr>
          <a:xfrm>
            <a:off x="4480560" y="3675888"/>
            <a:ext cx="5486400" cy="32004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KEY FEATURES</a:t>
            </a:r>
            <a:endParaRPr lang="en-US" sz="1200" dirty="0"/>
          </a:p>
        </p:txBody>
      </p:sp>
      <p:sp>
        <p:nvSpPr>
          <p:cNvPr id="20" name="Text 17"/>
          <p:cNvSpPr/>
          <p:nvPr/>
        </p:nvSpPr>
        <p:spPr>
          <a:xfrm>
            <a:off x="4480560" y="4069080"/>
            <a:ext cx="6858000" cy="292608"/>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age, hours.per.week  —  </a:t>
            </a:r>
            <a:r>
              <a:rPr lang="en-US" sz="1150" dirty="0">
                <a:solidFill>
                  <a:srgbClr val="6B7280"/>
                </a:solidFill>
                <a:latin typeface="Calibri" pitchFamily="34" charset="0"/>
                <a:ea typeface="Calibri" pitchFamily="34" charset="-122"/>
                <a:cs typeface="Calibri" pitchFamily="34" charset="-120"/>
              </a:rPr>
              <a:t>Numerical — demographic &amp; work intensity</a:t>
            </a:r>
            <a:endParaRPr lang="en-US" sz="1150" dirty="0"/>
          </a:p>
        </p:txBody>
      </p:sp>
      <p:sp>
        <p:nvSpPr>
          <p:cNvPr id="21" name="Text 18"/>
          <p:cNvSpPr/>
          <p:nvPr/>
        </p:nvSpPr>
        <p:spPr>
          <a:xfrm>
            <a:off x="4480560" y="4343400"/>
            <a:ext cx="6858000" cy="292608"/>
          </a:xfrm>
          <a:prstGeom prst="rect">
            <a:avLst/>
          </a:prstGeom>
          <a:noFill/>
          <a:ln/>
        </p:spPr>
        <p:txBody>
          <a:bodyPr wrap="square" rtlCol="0" anchor="t"/>
          <a:lstStyle/>
          <a:p>
            <a:r>
              <a:rPr lang="en-US" sz="1200" b="1" dirty="0"/>
              <a:t>education</a:t>
            </a:r>
            <a:r>
              <a:rPr lang="en-US" sz="1200" dirty="0"/>
              <a:t> — categorical education level</a:t>
            </a:r>
            <a:br>
              <a:rPr lang="en-US" sz="1200" dirty="0"/>
            </a:br>
            <a:r>
              <a:rPr lang="en-US" sz="1200" b="1" dirty="0" err="1"/>
              <a:t>education.num</a:t>
            </a:r>
            <a:r>
              <a:rPr lang="en-US" sz="1200" b="1" dirty="0"/>
              <a:t> </a:t>
            </a:r>
            <a:r>
              <a:rPr lang="en-US" sz="1200" dirty="0"/>
              <a:t>— numerical representation of education level</a:t>
            </a:r>
          </a:p>
        </p:txBody>
      </p:sp>
      <p:sp>
        <p:nvSpPr>
          <p:cNvPr id="22" name="Text 19"/>
          <p:cNvSpPr/>
          <p:nvPr/>
        </p:nvSpPr>
        <p:spPr>
          <a:xfrm>
            <a:off x="4480560" y="4764024"/>
            <a:ext cx="6858000" cy="292608"/>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occupation, workclass  —  </a:t>
            </a:r>
            <a:r>
              <a:rPr lang="en-US" sz="1150" dirty="0">
                <a:solidFill>
                  <a:srgbClr val="6B7280"/>
                </a:solidFill>
                <a:latin typeface="Calibri" pitchFamily="34" charset="0"/>
                <a:ea typeface="Calibri" pitchFamily="34" charset="-122"/>
                <a:cs typeface="Calibri" pitchFamily="34" charset="-120"/>
              </a:rPr>
              <a:t>Job type &amp; employment sector</a:t>
            </a:r>
            <a:endParaRPr lang="en-US" sz="1150" dirty="0"/>
          </a:p>
        </p:txBody>
      </p:sp>
      <p:sp>
        <p:nvSpPr>
          <p:cNvPr id="23" name="Text 20"/>
          <p:cNvSpPr/>
          <p:nvPr/>
        </p:nvSpPr>
        <p:spPr>
          <a:xfrm>
            <a:off x="4480560" y="5111496"/>
            <a:ext cx="6858000" cy="292608"/>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marital.status, relationship, race, sex  —  </a:t>
            </a:r>
            <a:r>
              <a:rPr lang="en-US" sz="1150" dirty="0">
                <a:solidFill>
                  <a:srgbClr val="6B7280"/>
                </a:solidFill>
                <a:latin typeface="Calibri" pitchFamily="34" charset="0"/>
                <a:ea typeface="Calibri" pitchFamily="34" charset="-122"/>
                <a:cs typeface="Calibri" pitchFamily="34" charset="-120"/>
              </a:rPr>
              <a:t>Demographic / household context</a:t>
            </a:r>
            <a:endParaRPr lang="en-US" sz="1150" dirty="0"/>
          </a:p>
        </p:txBody>
      </p:sp>
      <p:sp>
        <p:nvSpPr>
          <p:cNvPr id="24" name="Text 21"/>
          <p:cNvSpPr/>
          <p:nvPr/>
        </p:nvSpPr>
        <p:spPr>
          <a:xfrm>
            <a:off x="4480560" y="5458968"/>
            <a:ext cx="6858000" cy="292608"/>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capital.gain, capital.loss  —  </a:t>
            </a:r>
            <a:r>
              <a:rPr lang="en-US" sz="1150" dirty="0">
                <a:solidFill>
                  <a:srgbClr val="6B7280"/>
                </a:solidFill>
                <a:latin typeface="Calibri" pitchFamily="34" charset="0"/>
                <a:ea typeface="Calibri" pitchFamily="34" charset="-122"/>
                <a:cs typeface="Calibri" pitchFamily="34" charset="-120"/>
              </a:rPr>
              <a:t>Investment income indicators</a:t>
            </a:r>
            <a:endParaRPr lang="en-US" sz="1150" dirty="0"/>
          </a:p>
        </p:txBody>
      </p:sp>
      <p:sp>
        <p:nvSpPr>
          <p:cNvPr id="25" name="Text 22"/>
          <p:cNvSpPr/>
          <p:nvPr/>
        </p:nvSpPr>
        <p:spPr>
          <a:xfrm>
            <a:off x="4480560" y="5806440"/>
            <a:ext cx="6858000" cy="292608"/>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income  —  </a:t>
            </a:r>
            <a:r>
              <a:rPr lang="en-US" sz="1150" dirty="0">
                <a:solidFill>
                  <a:srgbClr val="6B7280"/>
                </a:solidFill>
                <a:latin typeface="Calibri" pitchFamily="34" charset="0"/>
                <a:ea typeface="Calibri" pitchFamily="34" charset="-122"/>
                <a:cs typeface="Calibri" pitchFamily="34" charset="-120"/>
              </a:rPr>
              <a:t>Target: ≤$50K or &gt;$50K</a:t>
            </a:r>
            <a:endParaRPr lang="en-US" sz="1150" dirty="0"/>
          </a:p>
        </p:txBody>
      </p:sp>
      <p:sp>
        <p:nvSpPr>
          <p:cNvPr id="26" name="Text 23"/>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891B5"/>
                </a:solidFill>
                <a:latin typeface="Calibri" pitchFamily="34" charset="0"/>
                <a:ea typeface="Calibri" pitchFamily="34" charset="-122"/>
                <a:cs typeface="Calibri" pitchFamily="34" charset="-120"/>
              </a:rPr>
              <a:t>Adult Income Prediction • Lightning Talk #2</a:t>
            </a:r>
            <a:endParaRPr lang="en-US" sz="1000" dirty="0"/>
          </a:p>
        </p:txBody>
      </p:sp>
      <p:sp>
        <p:nvSpPr>
          <p:cNvPr id="30" name="Text 3">
            <a:extLst>
              <a:ext uri="{FF2B5EF4-FFF2-40B4-BE49-F238E27FC236}">
                <a16:creationId xmlns:a16="http://schemas.microsoft.com/office/drawing/2014/main" id="{73054CAC-EA31-8107-0A93-D8C26D94C1F3}"/>
              </a:ext>
            </a:extLst>
          </p:cNvPr>
          <p:cNvSpPr/>
          <p:nvPr/>
        </p:nvSpPr>
        <p:spPr>
          <a:xfrm>
            <a:off x="592307" y="1020629"/>
            <a:ext cx="4190005" cy="592214"/>
          </a:xfrm>
          <a:prstGeom prst="rect">
            <a:avLst/>
          </a:prstGeom>
          <a:noFill/>
          <a:ln/>
        </p:spPr>
        <p:txBody>
          <a:bodyPr wrap="square" lIns="0" tIns="0" rIns="0" bIns="0" rtlCol="0" anchor="ctr"/>
          <a:lstStyle/>
          <a:p>
            <a:r>
              <a:rPr lang="en-US" sz="1400" b="1" kern="0" spc="100" dirty="0">
                <a:solidFill>
                  <a:schemeClr val="bg1"/>
                </a:solidFill>
                <a:latin typeface="Calibri" pitchFamily="34" charset="0"/>
                <a:ea typeface="Calibri" pitchFamily="34" charset="-122"/>
                <a:cs typeface="Calibri" pitchFamily="34" charset="-120"/>
              </a:rPr>
              <a:t>PROBLEM TYPE : </a:t>
            </a:r>
            <a:r>
              <a:rPr lang="en-US" sz="1400" b="1" dirty="0">
                <a:solidFill>
                  <a:schemeClr val="bg1"/>
                </a:solidFill>
                <a:latin typeface="Cambria" pitchFamily="34" charset="0"/>
                <a:ea typeface="Cambria" pitchFamily="34" charset="-122"/>
                <a:cs typeface="Cambria" pitchFamily="34" charset="-120"/>
              </a:rPr>
              <a:t>Binary Classification</a:t>
            </a:r>
            <a:endParaRPr lang="en-US" sz="1400" dirty="0">
              <a:solidFill>
                <a:schemeClr val="bg1"/>
              </a:solidFill>
            </a:endParaRPr>
          </a:p>
        </p:txBody>
      </p:sp>
      <p:sp>
        <p:nvSpPr>
          <p:cNvPr id="32" name="Text 4">
            <a:extLst>
              <a:ext uri="{FF2B5EF4-FFF2-40B4-BE49-F238E27FC236}">
                <a16:creationId xmlns:a16="http://schemas.microsoft.com/office/drawing/2014/main" id="{FBCF65D3-832D-1338-E503-0E71449095DD}"/>
              </a:ext>
            </a:extLst>
          </p:cNvPr>
          <p:cNvSpPr/>
          <p:nvPr/>
        </p:nvSpPr>
        <p:spPr>
          <a:xfrm>
            <a:off x="4782312" y="1008266"/>
            <a:ext cx="3017520" cy="548640"/>
          </a:xfrm>
          <a:prstGeom prst="rect">
            <a:avLst/>
          </a:prstGeom>
          <a:noFill/>
          <a:ln/>
        </p:spPr>
        <p:txBody>
          <a:bodyPr wrap="square" lIns="0" tIns="0" rIns="0" bIns="0" rtlCol="0" anchor="ctr"/>
          <a:lstStyle/>
          <a:p>
            <a:pPr marL="0" indent="0">
              <a:buNone/>
            </a:pP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Cleaning Findings</a:t>
            </a:r>
            <a:endParaRPr lang="en-US" sz="3000" dirty="0"/>
          </a:p>
        </p:txBody>
      </p:sp>
      <p:sp>
        <p:nvSpPr>
          <p:cNvPr id="3" name="Shape 1"/>
          <p:cNvSpPr/>
          <p:nvPr/>
        </p:nvSpPr>
        <p:spPr>
          <a:xfrm>
            <a:off x="548640" y="1463040"/>
            <a:ext cx="3566160" cy="3063240"/>
          </a:xfrm>
          <a:prstGeom prst="roundRect">
            <a:avLst>
              <a:gd name="adj" fmla="val 2388"/>
            </a:avLst>
          </a:prstGeom>
          <a:solidFill>
            <a:srgbClr val="F4F6FB"/>
          </a:solidFill>
          <a:ln/>
        </p:spPr>
        <p:txBody>
          <a:bodyPr/>
          <a:lstStyle/>
          <a:p>
            <a:endParaRPr lang="en-US"/>
          </a:p>
        </p:txBody>
      </p:sp>
      <p:sp>
        <p:nvSpPr>
          <p:cNvPr id="4" name="Text 2"/>
          <p:cNvSpPr/>
          <p:nvPr/>
        </p:nvSpPr>
        <p:spPr>
          <a:xfrm>
            <a:off x="804672" y="1691640"/>
            <a:ext cx="3054096"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Missing Values</a:t>
            </a:r>
            <a:endParaRPr lang="en-US" sz="1600" dirty="0"/>
          </a:p>
        </p:txBody>
      </p:sp>
      <p:sp>
        <p:nvSpPr>
          <p:cNvPr id="5" name="Text 3"/>
          <p:cNvSpPr/>
          <p:nvPr/>
        </p:nvSpPr>
        <p:spPr>
          <a:xfrm>
            <a:off x="804672" y="2194560"/>
            <a:ext cx="3054096" cy="2194560"/>
          </a:xfrm>
          <a:prstGeom prst="rect">
            <a:avLst/>
          </a:prstGeom>
          <a:noFill/>
          <a:ln/>
        </p:spPr>
        <p:txBody>
          <a:bodyPr wrap="square" rtlCol="0" anchor="t"/>
          <a:lstStyle/>
          <a:p>
            <a:r>
              <a:rPr lang="en-US" sz="1400" dirty="0"/>
              <a:t>placeholders found in’?’:</a:t>
            </a:r>
          </a:p>
          <a:p>
            <a:pPr lvl="0"/>
            <a:r>
              <a:rPr lang="en-US" sz="1400" dirty="0" err="1"/>
              <a:t>workclass</a:t>
            </a:r>
            <a:r>
              <a:rPr lang="en-US" sz="1400" dirty="0"/>
              <a:t> </a:t>
            </a:r>
          </a:p>
          <a:p>
            <a:pPr lvl="0"/>
            <a:r>
              <a:rPr lang="en-US" sz="1400" dirty="0"/>
              <a:t>occupation </a:t>
            </a:r>
          </a:p>
          <a:p>
            <a:pPr lvl="0"/>
            <a:r>
              <a:rPr lang="en-US" sz="1400" dirty="0" err="1"/>
              <a:t>native.country</a:t>
            </a:r>
            <a:r>
              <a:rPr lang="en-US" sz="1400" dirty="0"/>
              <a:t> </a:t>
            </a:r>
          </a:p>
          <a:p>
            <a:r>
              <a:rPr lang="en-US" sz="1400" dirty="0"/>
              <a:t>Treatment:</a:t>
            </a:r>
          </a:p>
          <a:p>
            <a:r>
              <a:rPr lang="en-US" sz="1400" dirty="0"/>
              <a:t>Converted '?' to missing values and applied mode imputation for categorical columns.</a:t>
            </a:r>
          </a:p>
        </p:txBody>
      </p:sp>
      <p:sp>
        <p:nvSpPr>
          <p:cNvPr id="6" name="Shape 4"/>
          <p:cNvSpPr/>
          <p:nvPr/>
        </p:nvSpPr>
        <p:spPr>
          <a:xfrm>
            <a:off x="4343400" y="1463040"/>
            <a:ext cx="3566160" cy="3063240"/>
          </a:xfrm>
          <a:prstGeom prst="roundRect">
            <a:avLst>
              <a:gd name="adj" fmla="val 2388"/>
            </a:avLst>
          </a:prstGeom>
          <a:solidFill>
            <a:srgbClr val="1E2761"/>
          </a:solidFill>
          <a:ln/>
        </p:spPr>
        <p:txBody>
          <a:bodyPr/>
          <a:lstStyle/>
          <a:p>
            <a:endParaRPr lang="en-US"/>
          </a:p>
        </p:txBody>
      </p:sp>
      <p:sp>
        <p:nvSpPr>
          <p:cNvPr id="7" name="Text 5"/>
          <p:cNvSpPr/>
          <p:nvPr/>
        </p:nvSpPr>
        <p:spPr>
          <a:xfrm>
            <a:off x="4599432" y="1691640"/>
            <a:ext cx="3054096" cy="457200"/>
          </a:xfrm>
          <a:prstGeom prst="rect">
            <a:avLst/>
          </a:prstGeom>
          <a:noFill/>
          <a:ln/>
        </p:spPr>
        <p:txBody>
          <a:bodyPr wrap="square" rtlCol="0" anchor="ctr"/>
          <a:lstStyle/>
          <a:p>
            <a:pPr marL="0" indent="0">
              <a:buNone/>
            </a:pPr>
            <a:r>
              <a:rPr lang="en-US" sz="1600" b="1" dirty="0">
                <a:solidFill>
                  <a:srgbClr val="D9A441"/>
                </a:solidFill>
                <a:latin typeface="Calibri" pitchFamily="34" charset="0"/>
                <a:ea typeface="Calibri" pitchFamily="34" charset="-122"/>
                <a:cs typeface="Calibri" pitchFamily="34" charset="-120"/>
              </a:rPr>
              <a:t>Outliers</a:t>
            </a:r>
            <a:endParaRPr lang="en-US" sz="1600" dirty="0"/>
          </a:p>
        </p:txBody>
      </p:sp>
      <p:sp>
        <p:nvSpPr>
          <p:cNvPr id="8" name="Text 6"/>
          <p:cNvSpPr/>
          <p:nvPr/>
        </p:nvSpPr>
        <p:spPr>
          <a:xfrm>
            <a:off x="4599432" y="2194560"/>
            <a:ext cx="3054096" cy="2194560"/>
          </a:xfrm>
          <a:prstGeom prst="rect">
            <a:avLst/>
          </a:prstGeom>
          <a:noFill/>
          <a:ln/>
        </p:spPr>
        <p:txBody>
          <a:bodyPr wrap="square" rtlCol="0" anchor="t"/>
          <a:lstStyle/>
          <a:p>
            <a:r>
              <a:rPr lang="en-US" sz="1400" dirty="0">
                <a:solidFill>
                  <a:schemeClr val="bg1"/>
                </a:solidFill>
              </a:rPr>
              <a:t>Heavy-tailed features:</a:t>
            </a:r>
          </a:p>
          <a:p>
            <a:pPr lvl="0"/>
            <a:r>
              <a:rPr lang="en-US" sz="1400" dirty="0" err="1">
                <a:solidFill>
                  <a:schemeClr val="bg1"/>
                </a:solidFill>
              </a:rPr>
              <a:t>fnlwgt</a:t>
            </a:r>
            <a:r>
              <a:rPr lang="en-US" sz="1400" dirty="0">
                <a:solidFill>
                  <a:schemeClr val="bg1"/>
                </a:solidFill>
              </a:rPr>
              <a:t> </a:t>
            </a:r>
          </a:p>
          <a:p>
            <a:pPr lvl="0"/>
            <a:r>
              <a:rPr lang="en-US" sz="1400" dirty="0" err="1">
                <a:solidFill>
                  <a:schemeClr val="bg1"/>
                </a:solidFill>
              </a:rPr>
              <a:t>capital.gain</a:t>
            </a:r>
            <a:r>
              <a:rPr lang="en-US" sz="1400" dirty="0">
                <a:solidFill>
                  <a:schemeClr val="bg1"/>
                </a:solidFill>
              </a:rPr>
              <a:t> </a:t>
            </a:r>
          </a:p>
          <a:p>
            <a:pPr lvl="0"/>
            <a:r>
              <a:rPr lang="en-US" sz="1400" dirty="0" err="1">
                <a:solidFill>
                  <a:schemeClr val="bg1"/>
                </a:solidFill>
              </a:rPr>
              <a:t>capital.loss</a:t>
            </a:r>
            <a:r>
              <a:rPr lang="en-US" sz="1400" dirty="0">
                <a:solidFill>
                  <a:schemeClr val="bg1"/>
                </a:solidFill>
              </a:rPr>
              <a:t> </a:t>
            </a:r>
          </a:p>
          <a:p>
            <a:r>
              <a:rPr lang="en-US" sz="1400" dirty="0">
                <a:solidFill>
                  <a:schemeClr val="bg1"/>
                </a:solidFill>
              </a:rPr>
              <a:t>Decision:</a:t>
            </a:r>
          </a:p>
          <a:p>
            <a:r>
              <a:rPr lang="en-US" sz="1400" dirty="0">
                <a:solidFill>
                  <a:schemeClr val="bg1"/>
                </a:solidFill>
              </a:rPr>
              <a:t>Retained because they represent valid variation rather than data errors.</a:t>
            </a:r>
          </a:p>
        </p:txBody>
      </p:sp>
      <p:sp>
        <p:nvSpPr>
          <p:cNvPr id="9" name="Shape 7"/>
          <p:cNvSpPr/>
          <p:nvPr/>
        </p:nvSpPr>
        <p:spPr>
          <a:xfrm>
            <a:off x="8138160" y="1463040"/>
            <a:ext cx="3566160" cy="3063240"/>
          </a:xfrm>
          <a:prstGeom prst="roundRect">
            <a:avLst>
              <a:gd name="adj" fmla="val 2388"/>
            </a:avLst>
          </a:prstGeom>
          <a:solidFill>
            <a:srgbClr val="F4F6FB"/>
          </a:solidFill>
          <a:ln/>
        </p:spPr>
        <p:txBody>
          <a:bodyPr/>
          <a:lstStyle/>
          <a:p>
            <a:endParaRPr lang="en-US"/>
          </a:p>
        </p:txBody>
      </p:sp>
      <p:sp>
        <p:nvSpPr>
          <p:cNvPr id="10" name="Text 8"/>
          <p:cNvSpPr/>
          <p:nvPr/>
        </p:nvSpPr>
        <p:spPr>
          <a:xfrm>
            <a:off x="8394192" y="1691640"/>
            <a:ext cx="3054096"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Class Imbalance</a:t>
            </a:r>
            <a:endParaRPr lang="en-US" sz="1600" dirty="0"/>
          </a:p>
        </p:txBody>
      </p:sp>
      <p:sp>
        <p:nvSpPr>
          <p:cNvPr id="11" name="Text 9"/>
          <p:cNvSpPr/>
          <p:nvPr/>
        </p:nvSpPr>
        <p:spPr>
          <a:xfrm>
            <a:off x="8394192" y="2194560"/>
            <a:ext cx="3054096" cy="2194560"/>
          </a:xfrm>
          <a:prstGeom prst="rect">
            <a:avLst/>
          </a:prstGeom>
          <a:noFill/>
          <a:ln/>
        </p:spPr>
        <p:txBody>
          <a:bodyPr wrap="square" rtlCol="0" anchor="t"/>
          <a:lstStyle/>
          <a:p>
            <a:pPr marL="0" indent="0">
              <a:lnSpc>
                <a:spcPct val="125000"/>
              </a:lnSpc>
              <a:buNone/>
            </a:pPr>
            <a:r>
              <a:rPr lang="en-US" sz="1300" dirty="0">
                <a:latin typeface="Calibri" pitchFamily="34" charset="0"/>
                <a:ea typeface="Calibri" pitchFamily="34" charset="-122"/>
                <a:cs typeface="Calibri" pitchFamily="34" charset="-120"/>
              </a:rPr>
              <a:t>Target is imbalanced: 75.9% earn ≤$50K vs 24.1% earn &gt;$50K. Addressed by </a:t>
            </a:r>
            <a:r>
              <a:rPr lang="en-US" sz="1400" dirty="0">
                <a:latin typeface="Calibri" pitchFamily="34" charset="0"/>
                <a:ea typeface="Calibri" pitchFamily="34" charset="-122"/>
                <a:cs typeface="Calibri" pitchFamily="34" charset="-120"/>
              </a:rPr>
              <a:t>evaluating</a:t>
            </a:r>
            <a:r>
              <a:rPr lang="en-US" sz="1300" dirty="0">
                <a:latin typeface="Calibri" pitchFamily="34" charset="0"/>
                <a:ea typeface="Calibri" pitchFamily="34" charset="-122"/>
                <a:cs typeface="Calibri" pitchFamily="34" charset="-120"/>
              </a:rPr>
              <a:t> with F1-score and ROC-AUC rather than accuracy alone.</a:t>
            </a:r>
            <a:endParaRPr lang="en-US" sz="1300" dirty="0"/>
          </a:p>
        </p:txBody>
      </p:sp>
      <p:sp>
        <p:nvSpPr>
          <p:cNvPr id="12" name="Shape 10"/>
          <p:cNvSpPr/>
          <p:nvPr/>
        </p:nvSpPr>
        <p:spPr>
          <a:xfrm>
            <a:off x="563880" y="5422392"/>
            <a:ext cx="11064240" cy="777240"/>
          </a:xfrm>
          <a:prstGeom prst="roundRect">
            <a:avLst>
              <a:gd name="adj" fmla="val 9412"/>
            </a:avLst>
          </a:prstGeom>
          <a:solidFill>
            <a:srgbClr val="1E2761"/>
          </a:solidFill>
          <a:ln/>
        </p:spPr>
        <p:txBody>
          <a:bodyPr/>
          <a:lstStyle/>
          <a:p>
            <a:endParaRPr lang="en-US"/>
          </a:p>
        </p:txBody>
      </p:sp>
      <p:sp>
        <p:nvSpPr>
          <p:cNvPr id="13" name="Text 11"/>
          <p:cNvSpPr/>
          <p:nvPr/>
        </p:nvSpPr>
        <p:spPr>
          <a:xfrm>
            <a:off x="838200" y="5577840"/>
            <a:ext cx="10515600" cy="502920"/>
          </a:xfrm>
          <a:prstGeom prst="rect">
            <a:avLst/>
          </a:prstGeom>
          <a:noFill/>
          <a:ln/>
        </p:spPr>
        <p:txBody>
          <a:bodyPr wrap="square" rtlCol="0" anchor="ctr"/>
          <a:lstStyle/>
          <a:p>
            <a:r>
              <a:rPr lang="en-US" dirty="0">
                <a:solidFill>
                  <a:schemeClr val="bg1"/>
                </a:solidFill>
              </a:rPr>
              <a:t>Net takeaway: the data is clean enough to model after removing duplicate records and resolving missing values through imputation.</a:t>
            </a:r>
            <a:endParaRPr lang="en-US" sz="1300" dirty="0">
              <a:solidFill>
                <a:schemeClr val="bg1"/>
              </a:solidFill>
            </a:endParaRPr>
          </a:p>
        </p:txBody>
      </p:sp>
      <p:sp>
        <p:nvSpPr>
          <p:cNvPr id="14" name="Text 1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sp>
        <p:nvSpPr>
          <p:cNvPr id="16" name="Shape 10">
            <a:extLst>
              <a:ext uri="{FF2B5EF4-FFF2-40B4-BE49-F238E27FC236}">
                <a16:creationId xmlns:a16="http://schemas.microsoft.com/office/drawing/2014/main" id="{10F602B3-D0B1-6954-1211-4E77A5CD2FFC}"/>
              </a:ext>
            </a:extLst>
          </p:cNvPr>
          <p:cNvSpPr/>
          <p:nvPr/>
        </p:nvSpPr>
        <p:spPr>
          <a:xfrm>
            <a:off x="563880" y="4613148"/>
            <a:ext cx="11064240" cy="777240"/>
          </a:xfrm>
          <a:prstGeom prst="roundRect">
            <a:avLst>
              <a:gd name="adj" fmla="val 9412"/>
            </a:avLst>
          </a:prstGeom>
          <a:solidFill>
            <a:srgbClr val="1E2761"/>
          </a:solidFill>
          <a:ln/>
        </p:spPr>
        <p:txBody>
          <a:bodyPr/>
          <a:lstStyle/>
          <a:p>
            <a:endParaRPr lang="en-US"/>
          </a:p>
        </p:txBody>
      </p:sp>
      <p:sp>
        <p:nvSpPr>
          <p:cNvPr id="18" name="Text 11">
            <a:extLst>
              <a:ext uri="{FF2B5EF4-FFF2-40B4-BE49-F238E27FC236}">
                <a16:creationId xmlns:a16="http://schemas.microsoft.com/office/drawing/2014/main" id="{A7053290-8043-A828-61D2-A616BC6BCF0D}"/>
              </a:ext>
            </a:extLst>
          </p:cNvPr>
          <p:cNvSpPr/>
          <p:nvPr/>
        </p:nvSpPr>
        <p:spPr>
          <a:xfrm>
            <a:off x="804672" y="4777740"/>
            <a:ext cx="10515600" cy="502920"/>
          </a:xfrm>
          <a:prstGeom prst="rect">
            <a:avLst/>
          </a:prstGeom>
          <a:noFill/>
          <a:ln/>
        </p:spPr>
        <p:txBody>
          <a:bodyPr wrap="square" rtlCol="0" anchor="ctr"/>
          <a:lstStyle/>
          <a:p>
            <a:pPr lvl="0"/>
            <a:r>
              <a:rPr lang="en-US" b="1" dirty="0">
                <a:solidFill>
                  <a:srgbClr val="D9A441"/>
                </a:solidFill>
              </a:rPr>
              <a:t>Duplicate Records</a:t>
            </a:r>
            <a:r>
              <a:rPr lang="en-US" b="1" dirty="0">
                <a:solidFill>
                  <a:srgbClr val="D9A441"/>
                </a:solidFill>
                <a:latin typeface="Calibri" pitchFamily="34" charset="0"/>
                <a:ea typeface="Calibri" pitchFamily="34" charset="-122"/>
                <a:cs typeface="Calibri" pitchFamily="34" charset="-120"/>
              </a:rPr>
              <a:t>:  </a:t>
            </a:r>
          </a:p>
          <a:p>
            <a:pPr lvl="0"/>
            <a:r>
              <a:rPr lang="en-US" sz="1400" dirty="0">
                <a:solidFill>
                  <a:schemeClr val="bg1"/>
                </a:solidFill>
              </a:rPr>
              <a:t>24 duplicate rows identified. Removed duplicates before analysis.</a:t>
            </a:r>
          </a:p>
          <a:p>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Numeric Features vs. Income</a:t>
            </a:r>
            <a:endParaRPr lang="en-US" sz="2800" dirty="0"/>
          </a:p>
        </p:txBody>
      </p:sp>
      <p:sp>
        <p:nvSpPr>
          <p:cNvPr id="4" name="Shape 1"/>
          <p:cNvSpPr/>
          <p:nvPr/>
        </p:nvSpPr>
        <p:spPr>
          <a:xfrm>
            <a:off x="7223760" y="1234440"/>
            <a:ext cx="4389120" cy="4663440"/>
          </a:xfrm>
          <a:prstGeom prst="roundRect">
            <a:avLst>
              <a:gd name="adj" fmla="val 1667"/>
            </a:avLst>
          </a:prstGeom>
          <a:solidFill>
            <a:srgbClr val="F4F6FB"/>
          </a:solidFill>
          <a:ln/>
        </p:spPr>
        <p:txBody>
          <a:bodyPr/>
          <a:lstStyle/>
          <a:p>
            <a:endParaRPr lang="en-US"/>
          </a:p>
        </p:txBody>
      </p:sp>
      <p:sp>
        <p:nvSpPr>
          <p:cNvPr id="5" name="Text 2"/>
          <p:cNvSpPr/>
          <p:nvPr/>
        </p:nvSpPr>
        <p:spPr>
          <a:xfrm>
            <a:off x="7498080" y="1463040"/>
            <a:ext cx="3840480" cy="32004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FINDINGS</a:t>
            </a:r>
            <a:endParaRPr lang="en-US" sz="1200" dirty="0"/>
          </a:p>
        </p:txBody>
      </p:sp>
      <p:sp>
        <p:nvSpPr>
          <p:cNvPr id="6" name="Text 3"/>
          <p:cNvSpPr/>
          <p:nvPr/>
        </p:nvSpPr>
        <p:spPr>
          <a:xfrm>
            <a:off x="7498080" y="1874520"/>
            <a:ext cx="3977640" cy="3840480"/>
          </a:xfrm>
          <a:prstGeom prst="rect">
            <a:avLst/>
          </a:prstGeom>
          <a:noFill/>
          <a:ln/>
        </p:spPr>
        <p:txBody>
          <a:bodyPr wrap="square" rtlCol="0" anchor="t"/>
          <a:lstStyle/>
          <a:p>
            <a:r>
              <a:rPr lang="en-US" sz="1400" b="1" dirty="0"/>
              <a:t>Key Findings:</a:t>
            </a:r>
          </a:p>
          <a:p>
            <a:endParaRPr lang="en-US" sz="1400" b="1" dirty="0"/>
          </a:p>
          <a:p>
            <a:r>
              <a:rPr lang="en-US" sz="1400" b="1" dirty="0"/>
              <a:t>Education Number</a:t>
            </a:r>
            <a:endParaRPr lang="en-US" sz="1400" dirty="0"/>
          </a:p>
          <a:p>
            <a:pPr lvl="0"/>
            <a:r>
              <a:rPr lang="en-US" sz="1400" dirty="0"/>
              <a:t>Strongest positive linear association with income. </a:t>
            </a:r>
          </a:p>
          <a:p>
            <a:pPr lvl="0"/>
            <a:r>
              <a:rPr lang="en-US" sz="1400" dirty="0"/>
              <a:t>Correlation ≈ 0.34 </a:t>
            </a:r>
          </a:p>
          <a:p>
            <a:pPr lvl="0"/>
            <a:endParaRPr lang="en-US" sz="1400" dirty="0"/>
          </a:p>
          <a:p>
            <a:r>
              <a:rPr lang="en-US" sz="1400" b="1" dirty="0"/>
              <a:t>Age</a:t>
            </a:r>
            <a:endParaRPr lang="en-US" sz="1400" dirty="0"/>
          </a:p>
          <a:p>
            <a:pPr lvl="0"/>
            <a:r>
              <a:rPr lang="en-US" sz="1400" dirty="0"/>
              <a:t>Moderate positive relationship. </a:t>
            </a:r>
          </a:p>
          <a:p>
            <a:pPr lvl="0"/>
            <a:r>
              <a:rPr lang="en-US" sz="1400" dirty="0"/>
              <a:t>Higher-income individuals are concentrated around 35–55 years. </a:t>
            </a:r>
          </a:p>
          <a:p>
            <a:pPr lvl="0"/>
            <a:endParaRPr lang="en-US" sz="1400" dirty="0"/>
          </a:p>
          <a:p>
            <a:r>
              <a:rPr lang="en-US" sz="1400" b="1" dirty="0"/>
              <a:t>Hours Worked</a:t>
            </a:r>
            <a:endParaRPr lang="en-US" sz="1400" dirty="0"/>
          </a:p>
          <a:p>
            <a:pPr lvl="0"/>
            <a:r>
              <a:rPr lang="en-US" sz="1400" dirty="0"/>
              <a:t>Higher-income group tends to work more hours. </a:t>
            </a:r>
          </a:p>
          <a:p>
            <a:pPr lvl="0"/>
            <a:endParaRPr lang="en-US" sz="1400" dirty="0"/>
          </a:p>
          <a:p>
            <a:r>
              <a:rPr lang="en-US" sz="1400" b="1" dirty="0"/>
              <a:t>Capital Gain</a:t>
            </a:r>
            <a:endParaRPr lang="en-US" sz="1400" dirty="0"/>
          </a:p>
          <a:p>
            <a:pPr lvl="0"/>
            <a:r>
              <a:rPr lang="en-US" sz="1400" dirty="0"/>
              <a:t>Higher values are associated with &gt;50K income.</a:t>
            </a:r>
          </a:p>
        </p:txBody>
      </p:sp>
      <p:sp>
        <p:nvSpPr>
          <p:cNvPr id="7" name="Text 4"/>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pic>
        <p:nvPicPr>
          <p:cNvPr id="9" name="Picture 8">
            <a:extLst>
              <a:ext uri="{FF2B5EF4-FFF2-40B4-BE49-F238E27FC236}">
                <a16:creationId xmlns:a16="http://schemas.microsoft.com/office/drawing/2014/main" id="{A774D3E4-FEAF-35F0-A9F5-24F74528726E}"/>
              </a:ext>
            </a:extLst>
          </p:cNvPr>
          <p:cNvPicPr>
            <a:picLocks noChangeAspect="1"/>
          </p:cNvPicPr>
          <p:nvPr/>
        </p:nvPicPr>
        <p:blipFill>
          <a:blip r:embed="rId3"/>
          <a:stretch>
            <a:fillRect/>
          </a:stretch>
        </p:blipFill>
        <p:spPr>
          <a:xfrm>
            <a:off x="-459067" y="1535819"/>
            <a:ext cx="7339777" cy="45178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Age &amp; Hours</a:t>
            </a:r>
            <a:endParaRPr lang="en-US" sz="2600" dirty="0"/>
          </a:p>
        </p:txBody>
      </p:sp>
      <p:pic>
        <p:nvPicPr>
          <p:cNvPr id="3" name="Image 0" descr="age_dist.png"/>
          <p:cNvPicPr>
            <a:picLocks noChangeAspect="1"/>
          </p:cNvPicPr>
          <p:nvPr/>
        </p:nvPicPr>
        <p:blipFill>
          <a:blip r:embed="rId3"/>
          <a:stretch>
            <a:fillRect/>
          </a:stretch>
        </p:blipFill>
        <p:spPr>
          <a:xfrm>
            <a:off x="548640" y="1234440"/>
            <a:ext cx="5486400" cy="3931920"/>
          </a:xfrm>
          <a:prstGeom prst="rect">
            <a:avLst/>
          </a:prstGeom>
        </p:spPr>
      </p:pic>
      <p:pic>
        <p:nvPicPr>
          <p:cNvPr id="4" name="Image 1" descr="hours_income.png"/>
          <p:cNvPicPr>
            <a:picLocks noChangeAspect="1"/>
          </p:cNvPicPr>
          <p:nvPr/>
        </p:nvPicPr>
        <p:blipFill>
          <a:blip r:embed="rId4"/>
          <a:stretch>
            <a:fillRect/>
          </a:stretch>
        </p:blipFill>
        <p:spPr>
          <a:xfrm>
            <a:off x="6309360" y="1234440"/>
            <a:ext cx="5303520" cy="3931920"/>
          </a:xfrm>
          <a:prstGeom prst="rect">
            <a:avLst/>
          </a:prstGeom>
        </p:spPr>
      </p:pic>
      <p:sp>
        <p:nvSpPr>
          <p:cNvPr id="5" name="Shape 1"/>
          <p:cNvSpPr/>
          <p:nvPr/>
        </p:nvSpPr>
        <p:spPr>
          <a:xfrm>
            <a:off x="548640" y="5257800"/>
            <a:ext cx="11064240" cy="868680"/>
          </a:xfrm>
          <a:prstGeom prst="roundRect">
            <a:avLst>
              <a:gd name="adj" fmla="val 8421"/>
            </a:avLst>
          </a:prstGeom>
          <a:solidFill>
            <a:srgbClr val="1E2761"/>
          </a:solidFill>
          <a:ln/>
        </p:spPr>
        <p:txBody>
          <a:bodyPr/>
          <a:lstStyle/>
          <a:p>
            <a:endParaRPr lang="en-US"/>
          </a:p>
        </p:txBody>
      </p:sp>
      <p:sp>
        <p:nvSpPr>
          <p:cNvPr id="6" name="Text 2"/>
          <p:cNvSpPr/>
          <p:nvPr/>
        </p:nvSpPr>
        <p:spPr>
          <a:xfrm>
            <a:off x="822960" y="5440680"/>
            <a:ext cx="10515600" cy="548640"/>
          </a:xfrm>
          <a:prstGeom prst="rect">
            <a:avLst/>
          </a:prstGeom>
          <a:noFill/>
          <a:ln/>
        </p:spPr>
        <p:txBody>
          <a:bodyPr wrap="square" rtlCol="0" anchor="ctr"/>
          <a:lstStyle/>
          <a:p>
            <a:pPr marL="0" indent="0">
              <a:buNone/>
            </a:pPr>
            <a:r>
              <a:rPr lang="en-US" sz="1350" b="1" dirty="0">
                <a:solidFill>
                  <a:srgbClr val="D9A441"/>
                </a:solidFill>
                <a:latin typeface="Calibri" pitchFamily="34" charset="0"/>
                <a:ea typeface="Calibri" pitchFamily="34" charset="-122"/>
                <a:cs typeface="Calibri" pitchFamily="34" charset="-120"/>
              </a:rPr>
              <a:t>Age:  </a:t>
            </a:r>
            <a:r>
              <a:rPr lang="en-US" sz="1350" dirty="0">
                <a:solidFill>
                  <a:srgbClr val="FFFFFF"/>
                </a:solidFill>
                <a:latin typeface="Calibri" pitchFamily="34" charset="0"/>
                <a:ea typeface="Calibri" pitchFamily="34" charset="-122"/>
                <a:cs typeface="Calibri" pitchFamily="34" charset="-120"/>
              </a:rPr>
              <a:t>high-income earners skew toward the 35–55 range.   </a:t>
            </a:r>
            <a:r>
              <a:rPr lang="en-US" sz="1350" b="1" dirty="0">
                <a:solidFill>
                  <a:srgbClr val="D9A441"/>
                </a:solidFill>
                <a:latin typeface="Calibri" pitchFamily="34" charset="0"/>
                <a:ea typeface="Calibri" pitchFamily="34" charset="-122"/>
                <a:cs typeface="Calibri" pitchFamily="34" charset="-120"/>
              </a:rPr>
              <a:t>Hours worked:  </a:t>
            </a:r>
            <a:r>
              <a:rPr lang="en-US" sz="1350" dirty="0">
                <a:solidFill>
                  <a:srgbClr val="FFFFFF"/>
                </a:solidFill>
                <a:latin typeface="Calibri" pitchFamily="34" charset="0"/>
                <a:ea typeface="Calibri" pitchFamily="34" charset="-122"/>
                <a:cs typeface="Calibri" pitchFamily="34" charset="-120"/>
              </a:rPr>
              <a:t>the &gt;$50K group works noticeably longer weeks on average.</a:t>
            </a:r>
            <a:endParaRPr lang="en-US" sz="1350" dirty="0"/>
          </a:p>
        </p:txBody>
      </p:sp>
      <p:sp>
        <p:nvSpPr>
          <p:cNvPr id="7" name="Text 3"/>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5DB605-4597-2D2E-998A-85208D5F1773}"/>
              </a:ext>
            </a:extLst>
          </p:cNvPr>
          <p:cNvSpPr txBox="1"/>
          <p:nvPr/>
        </p:nvSpPr>
        <p:spPr>
          <a:xfrm>
            <a:off x="7116924" y="1319568"/>
            <a:ext cx="4704961" cy="5355312"/>
          </a:xfrm>
          <a:prstGeom prst="rect">
            <a:avLst/>
          </a:prstGeom>
          <a:noFill/>
        </p:spPr>
        <p:txBody>
          <a:bodyPr wrap="square">
            <a:spAutoFit/>
          </a:bodyPr>
          <a:lstStyle/>
          <a:p>
            <a:pPr>
              <a:buNone/>
            </a:pPr>
            <a:r>
              <a:rPr lang="en-US" b="1" dirty="0"/>
              <a:t>Education</a:t>
            </a:r>
          </a:p>
          <a:p>
            <a:pPr>
              <a:buNone/>
            </a:pPr>
            <a:r>
              <a:rPr lang="en-US" dirty="0"/>
              <a:t>(Percentage earning &gt;50K)</a:t>
            </a:r>
          </a:p>
          <a:p>
            <a:pPr>
              <a:buNone/>
            </a:pPr>
            <a:r>
              <a:rPr lang="en-US" dirty="0"/>
              <a:t>Advanced education levels such as Masters and Doctorate show higher proportions of &gt;50K earners.</a:t>
            </a:r>
          </a:p>
          <a:p>
            <a:pPr>
              <a:buNone/>
            </a:pPr>
            <a:br>
              <a:rPr lang="en-US" dirty="0"/>
            </a:br>
            <a:endParaRPr lang="en-US" dirty="0"/>
          </a:p>
          <a:p>
            <a:pPr>
              <a:buNone/>
            </a:pPr>
            <a:r>
              <a:rPr lang="en-US" b="1" dirty="0"/>
              <a:t>Occupation</a:t>
            </a:r>
          </a:p>
          <a:p>
            <a:pPr>
              <a:buNone/>
            </a:pPr>
            <a:r>
              <a:rPr lang="en-US" dirty="0"/>
              <a:t>Exec-managerial and Prof-specialty occupations have higher proportions of high-income individuals.</a:t>
            </a:r>
          </a:p>
          <a:p>
            <a:pPr>
              <a:buNone/>
            </a:pPr>
            <a:br>
              <a:rPr lang="en-US" dirty="0"/>
            </a:br>
            <a:endParaRPr lang="en-US" dirty="0"/>
          </a:p>
          <a:p>
            <a:pPr>
              <a:buNone/>
            </a:pPr>
            <a:r>
              <a:rPr lang="en-US" b="1" dirty="0"/>
              <a:t>Chi-Square Test</a:t>
            </a:r>
          </a:p>
          <a:p>
            <a:pPr>
              <a:buNone/>
            </a:pPr>
            <a:r>
              <a:rPr lang="en-US" dirty="0"/>
              <a:t>Chi-square tests showed significant associations between categorical features and income class (p &lt; 0.05). Chi-square tests confirmed significant associations between categorical features and income class.</a:t>
            </a:r>
          </a:p>
        </p:txBody>
      </p:sp>
      <p:pic>
        <p:nvPicPr>
          <p:cNvPr id="7" name="Picture 6">
            <a:extLst>
              <a:ext uri="{FF2B5EF4-FFF2-40B4-BE49-F238E27FC236}">
                <a16:creationId xmlns:a16="http://schemas.microsoft.com/office/drawing/2014/main" id="{FD2F2A3B-5D5E-0FCE-26C8-0D61FCF45169}"/>
              </a:ext>
            </a:extLst>
          </p:cNvPr>
          <p:cNvPicPr>
            <a:picLocks noChangeAspect="1"/>
          </p:cNvPicPr>
          <p:nvPr/>
        </p:nvPicPr>
        <p:blipFill>
          <a:blip r:embed="rId2"/>
          <a:stretch>
            <a:fillRect/>
          </a:stretch>
        </p:blipFill>
        <p:spPr>
          <a:xfrm>
            <a:off x="513223" y="889409"/>
            <a:ext cx="5743015" cy="3120582"/>
          </a:xfrm>
          <a:prstGeom prst="rect">
            <a:avLst/>
          </a:prstGeom>
        </p:spPr>
      </p:pic>
      <p:pic>
        <p:nvPicPr>
          <p:cNvPr id="9" name="Picture 8">
            <a:extLst>
              <a:ext uri="{FF2B5EF4-FFF2-40B4-BE49-F238E27FC236}">
                <a16:creationId xmlns:a16="http://schemas.microsoft.com/office/drawing/2014/main" id="{35A5B0BF-A0BF-6F00-ADFB-F2612295E112}"/>
              </a:ext>
            </a:extLst>
          </p:cNvPr>
          <p:cNvPicPr>
            <a:picLocks noChangeAspect="1"/>
          </p:cNvPicPr>
          <p:nvPr/>
        </p:nvPicPr>
        <p:blipFill>
          <a:blip r:embed="rId3"/>
          <a:stretch>
            <a:fillRect/>
          </a:stretch>
        </p:blipFill>
        <p:spPr>
          <a:xfrm>
            <a:off x="597200" y="3926015"/>
            <a:ext cx="5747260" cy="3120582"/>
          </a:xfrm>
          <a:prstGeom prst="rect">
            <a:avLst/>
          </a:prstGeom>
        </p:spPr>
      </p:pic>
      <p:sp>
        <p:nvSpPr>
          <p:cNvPr id="11" name="TextBox 10">
            <a:extLst>
              <a:ext uri="{FF2B5EF4-FFF2-40B4-BE49-F238E27FC236}">
                <a16:creationId xmlns:a16="http://schemas.microsoft.com/office/drawing/2014/main" id="{373A7B90-E665-8234-9925-445D472EFFFF}"/>
              </a:ext>
            </a:extLst>
          </p:cNvPr>
          <p:cNvSpPr txBox="1"/>
          <p:nvPr/>
        </p:nvSpPr>
        <p:spPr>
          <a:xfrm>
            <a:off x="417545" y="288964"/>
            <a:ext cx="7345524" cy="461665"/>
          </a:xfrm>
          <a:prstGeom prst="rect">
            <a:avLst/>
          </a:prstGeom>
          <a:noFill/>
        </p:spPr>
        <p:txBody>
          <a:bodyPr wrap="square">
            <a:spAutoFit/>
          </a:bodyPr>
          <a:lstStyle/>
          <a:p>
            <a:r>
              <a:rPr lang="en-US" sz="2400" dirty="0"/>
              <a:t>Categorical Features vs Income</a:t>
            </a:r>
          </a:p>
        </p:txBody>
      </p:sp>
    </p:spTree>
    <p:extLst>
      <p:ext uri="{BB962C8B-B14F-4D97-AF65-F5344CB8AC3E}">
        <p14:creationId xmlns:p14="http://schemas.microsoft.com/office/powerpoint/2010/main" val="316251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Preprocessing &amp; Modelling Plan</a:t>
            </a:r>
            <a:endParaRPr lang="en-US" sz="2800" dirty="0"/>
          </a:p>
        </p:txBody>
      </p:sp>
      <p:sp>
        <p:nvSpPr>
          <p:cNvPr id="3" name="Shape 1"/>
          <p:cNvSpPr/>
          <p:nvPr/>
        </p:nvSpPr>
        <p:spPr>
          <a:xfrm>
            <a:off x="548640" y="1417319"/>
            <a:ext cx="3566160" cy="4321007"/>
          </a:xfrm>
          <a:prstGeom prst="roundRect">
            <a:avLst>
              <a:gd name="adj" fmla="val 2078"/>
            </a:avLst>
          </a:prstGeom>
          <a:solidFill>
            <a:srgbClr val="F4F6FB"/>
          </a:solidFill>
          <a:ln/>
        </p:spPr>
        <p:txBody>
          <a:bodyPr/>
          <a:lstStyle/>
          <a:p>
            <a:endParaRPr lang="en-US"/>
          </a:p>
        </p:txBody>
      </p:sp>
      <p:sp>
        <p:nvSpPr>
          <p:cNvPr id="4" name="Text 2"/>
          <p:cNvSpPr/>
          <p:nvPr/>
        </p:nvSpPr>
        <p:spPr>
          <a:xfrm>
            <a:off x="804672" y="1645920"/>
            <a:ext cx="3054096" cy="365760"/>
          </a:xfrm>
          <a:prstGeom prst="rect">
            <a:avLst/>
          </a:prstGeom>
          <a:noFill/>
          <a:ln/>
        </p:spPr>
        <p:txBody>
          <a:bodyPr wrap="square" rtlCol="0" anchor="ctr"/>
          <a:lstStyle/>
          <a:p>
            <a:pPr marL="0" indent="0">
              <a:buNone/>
            </a:pPr>
            <a:r>
              <a:rPr lang="en-US" sz="1300" b="1" kern="0" spc="100" dirty="0">
                <a:solidFill>
                  <a:srgbClr val="1E2761"/>
                </a:solidFill>
                <a:latin typeface="Calibri" pitchFamily="34" charset="0"/>
                <a:ea typeface="Calibri" pitchFamily="34" charset="-122"/>
                <a:cs typeface="Calibri" pitchFamily="34" charset="-120"/>
              </a:rPr>
              <a:t>PREPROCESSING</a:t>
            </a:r>
            <a:endParaRPr lang="en-US" sz="1300" dirty="0"/>
          </a:p>
        </p:txBody>
      </p:sp>
      <p:sp>
        <p:nvSpPr>
          <p:cNvPr id="5" name="Text 3"/>
          <p:cNvSpPr/>
          <p:nvPr/>
        </p:nvSpPr>
        <p:spPr>
          <a:xfrm>
            <a:off x="822960" y="2059266"/>
            <a:ext cx="3054096" cy="2830908"/>
          </a:xfrm>
          <a:prstGeom prst="rect">
            <a:avLst/>
          </a:prstGeom>
          <a:noFill/>
          <a:ln/>
        </p:spPr>
        <p:txBody>
          <a:bodyPr wrap="square" rtlCol="0" anchor="t"/>
          <a:lstStyle/>
          <a:p>
            <a:pPr marL="171450" indent="-171450">
              <a:spcAft>
                <a:spcPts val="1000"/>
              </a:spcAft>
              <a:buSzPct val="100000"/>
              <a:buFont typeface="Arial" panose="020B0604020202020204" pitchFamily="34" charset="0"/>
              <a:buChar char="•"/>
            </a:pPr>
            <a:r>
              <a:rPr lang="en-US" sz="1200" dirty="0">
                <a:solidFill>
                  <a:srgbClr val="3C4A6B"/>
                </a:solidFill>
                <a:latin typeface="Calibri" pitchFamily="34" charset="0"/>
                <a:ea typeface="Calibri" pitchFamily="34" charset="-122"/>
                <a:cs typeface="Calibri" pitchFamily="34" charset="-120"/>
              </a:rPr>
              <a:t>80/20 train-test split, stratified on income</a:t>
            </a:r>
            <a:endParaRPr lang="en-US" sz="1200" dirty="0"/>
          </a:p>
          <a:p>
            <a:pPr marL="171450" indent="-171450">
              <a:spcAft>
                <a:spcPts val="1000"/>
              </a:spcAft>
              <a:buSzPct val="100000"/>
              <a:buFont typeface="Arial" panose="020B0604020202020204" pitchFamily="34" charset="0"/>
              <a:buChar char="•"/>
            </a:pPr>
            <a:r>
              <a:rPr lang="en-US" sz="1200" dirty="0">
                <a:solidFill>
                  <a:srgbClr val="3C4A6B"/>
                </a:solidFill>
                <a:latin typeface="Calibri" pitchFamily="34" charset="0"/>
                <a:ea typeface="Calibri" pitchFamily="34" charset="-122"/>
                <a:cs typeface="Calibri" pitchFamily="34" charset="-120"/>
              </a:rPr>
              <a:t>StandardScaler on numerical features</a:t>
            </a:r>
          </a:p>
          <a:p>
            <a:pPr marL="171450" indent="-171450">
              <a:spcAft>
                <a:spcPts val="1000"/>
              </a:spcAft>
              <a:buSzPct val="100000"/>
              <a:buFont typeface="Arial" panose="020B0604020202020204" pitchFamily="34" charset="0"/>
              <a:buChar char="•"/>
            </a:pPr>
            <a:r>
              <a:rPr lang="en-US" sz="1200" dirty="0"/>
              <a:t>To make numerical features comparable for scale-sensitive models</a:t>
            </a:r>
          </a:p>
          <a:p>
            <a:pPr marL="171450" indent="-171450">
              <a:spcAft>
                <a:spcPts val="1000"/>
              </a:spcAft>
              <a:buSzPct val="100000"/>
              <a:buFont typeface="Arial" panose="020B0604020202020204" pitchFamily="34" charset="0"/>
              <a:buChar char="•"/>
            </a:pPr>
            <a:r>
              <a:rPr lang="en-US" sz="1200" dirty="0">
                <a:solidFill>
                  <a:srgbClr val="3C4A6B"/>
                </a:solidFill>
                <a:latin typeface="Calibri" pitchFamily="34" charset="0"/>
                <a:ea typeface="Calibri" pitchFamily="34" charset="-122"/>
                <a:cs typeface="Calibri" pitchFamily="34" charset="-120"/>
              </a:rPr>
              <a:t>OneHotEncoder on categorical features(</a:t>
            </a:r>
            <a:r>
              <a:rPr lang="en-US" sz="1200" dirty="0"/>
              <a:t>Convert categorical variables into numerical representations.)</a:t>
            </a:r>
          </a:p>
          <a:p>
            <a:pPr marL="171450" indent="-171450">
              <a:spcAft>
                <a:spcPts val="1000"/>
              </a:spcAft>
              <a:buSzPct val="100000"/>
              <a:buFont typeface="Arial" panose="020B0604020202020204" pitchFamily="34" charset="0"/>
              <a:buChar char="•"/>
            </a:pPr>
            <a:r>
              <a:rPr lang="en-US" sz="1200" dirty="0"/>
              <a:t>Evaluate </a:t>
            </a:r>
            <a:r>
              <a:rPr lang="en-US" sz="1200" dirty="0" err="1"/>
              <a:t>fnlwgt</a:t>
            </a:r>
            <a:r>
              <a:rPr lang="en-US" sz="1200" dirty="0"/>
              <a:t> contribution and decide whether to retain or remove it.</a:t>
            </a:r>
            <a:endParaRPr lang="ar-BH" sz="1200" dirty="0"/>
          </a:p>
          <a:p>
            <a:pPr marL="171450" indent="-171450">
              <a:spcAft>
                <a:spcPts val="1000"/>
              </a:spcAft>
              <a:buSzPct val="100000"/>
              <a:buFont typeface="Arial" panose="020B0604020202020204" pitchFamily="34" charset="0"/>
              <a:buChar char="•"/>
            </a:pPr>
            <a:r>
              <a:rPr lang="en-US" sz="1200" b="1" dirty="0"/>
              <a:t>Feature Evaluation</a:t>
            </a:r>
          </a:p>
          <a:p>
            <a:pPr lvl="0"/>
            <a:r>
              <a:rPr lang="en-US" sz="1200" dirty="0"/>
              <a:t>Evaluate </a:t>
            </a:r>
            <a:r>
              <a:rPr lang="en-US" sz="1200" dirty="0" err="1"/>
              <a:t>fnlwgt</a:t>
            </a:r>
            <a:r>
              <a:rPr lang="en-US" sz="1200" dirty="0"/>
              <a:t> contribution. </a:t>
            </a:r>
          </a:p>
          <a:p>
            <a:pPr lvl="0"/>
            <a:r>
              <a:rPr lang="en-US" sz="1200" dirty="0"/>
              <a:t>Review redundancy </a:t>
            </a:r>
            <a:r>
              <a:rPr lang="en-US" sz="1200" dirty="0" err="1"/>
              <a:t>between:education</a:t>
            </a:r>
            <a:r>
              <a:rPr lang="en-US" sz="1200" dirty="0"/>
              <a:t> ,</a:t>
            </a:r>
            <a:r>
              <a:rPr lang="en-US" sz="1200" dirty="0" err="1"/>
              <a:t>education.num</a:t>
            </a:r>
            <a:endParaRPr lang="en-US" sz="1200" dirty="0"/>
          </a:p>
          <a:p>
            <a:pPr marL="171450" indent="-171450">
              <a:spcAft>
                <a:spcPts val="1000"/>
              </a:spcAft>
              <a:buSzPct val="100000"/>
              <a:buFont typeface="Arial" panose="020B0604020202020204" pitchFamily="34" charset="0"/>
              <a:buChar char="•"/>
            </a:pPr>
            <a:endParaRPr lang="en-US" sz="1200" dirty="0"/>
          </a:p>
        </p:txBody>
      </p:sp>
      <p:sp>
        <p:nvSpPr>
          <p:cNvPr id="6" name="Shape 4"/>
          <p:cNvSpPr/>
          <p:nvPr/>
        </p:nvSpPr>
        <p:spPr>
          <a:xfrm>
            <a:off x="4343400" y="1417320"/>
            <a:ext cx="3566160" cy="4321006"/>
          </a:xfrm>
          <a:prstGeom prst="roundRect">
            <a:avLst>
              <a:gd name="adj" fmla="val 2078"/>
            </a:avLst>
          </a:prstGeom>
          <a:solidFill>
            <a:srgbClr val="1E2761"/>
          </a:solidFill>
          <a:ln/>
        </p:spPr>
        <p:txBody>
          <a:bodyPr/>
          <a:lstStyle/>
          <a:p>
            <a:endParaRPr lang="en-US"/>
          </a:p>
        </p:txBody>
      </p:sp>
      <p:sp>
        <p:nvSpPr>
          <p:cNvPr id="7" name="Text 5"/>
          <p:cNvSpPr/>
          <p:nvPr/>
        </p:nvSpPr>
        <p:spPr>
          <a:xfrm>
            <a:off x="4599432" y="1645920"/>
            <a:ext cx="3054096" cy="365760"/>
          </a:xfrm>
          <a:prstGeom prst="rect">
            <a:avLst/>
          </a:prstGeom>
          <a:noFill/>
          <a:ln/>
        </p:spPr>
        <p:txBody>
          <a:bodyPr wrap="square"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MODEL CANDIDATES</a:t>
            </a:r>
            <a:endParaRPr lang="en-US" sz="1300" dirty="0"/>
          </a:p>
        </p:txBody>
      </p:sp>
      <p:sp>
        <p:nvSpPr>
          <p:cNvPr id="8" name="Text 6"/>
          <p:cNvSpPr/>
          <p:nvPr/>
        </p:nvSpPr>
        <p:spPr>
          <a:xfrm>
            <a:off x="4599432" y="2103120"/>
            <a:ext cx="3054096" cy="2743200"/>
          </a:xfrm>
          <a:prstGeom prst="rect">
            <a:avLst/>
          </a:prstGeom>
          <a:noFill/>
          <a:ln/>
        </p:spPr>
        <p:txBody>
          <a:bodyPr wrap="square" rtlCol="0" anchor="t"/>
          <a:lstStyle/>
          <a:p>
            <a:pPr marL="342900" indent="-342900">
              <a:lnSpc>
                <a:spcPct val="115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Logistic Regression — interpretable baseline</a:t>
            </a:r>
            <a:endParaRPr lang="en-US" sz="1250" dirty="0"/>
          </a:p>
          <a:p>
            <a:pPr marL="342900" indent="-342900">
              <a:lnSpc>
                <a:spcPct val="115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Decision Tree — non-linear splits</a:t>
            </a:r>
            <a:endParaRPr lang="en-US" sz="1250" dirty="0"/>
          </a:p>
          <a:p>
            <a:pPr marL="342900" indent="-342900">
              <a:lnSpc>
                <a:spcPct val="1150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Random Forest — reduces overfitting</a:t>
            </a:r>
            <a:endParaRPr lang="en-US" sz="1250" dirty="0"/>
          </a:p>
          <a:p>
            <a:pPr marL="342900" indent="-342900">
              <a:lnSpc>
                <a:spcPct val="115000"/>
              </a:lnSpc>
              <a:spcAft>
                <a:spcPts val="1000"/>
              </a:spcAft>
              <a:buSzPct val="100000"/>
              <a:buChar char="•"/>
            </a:pPr>
            <a:r>
              <a:rPr lang="en-US" sz="1400" dirty="0">
                <a:solidFill>
                  <a:schemeClr val="bg1"/>
                </a:solidFill>
              </a:rPr>
              <a:t>Gradient Boosting — strong candidate for tabular classification</a:t>
            </a:r>
            <a:endParaRPr lang="en-US" sz="1250" dirty="0">
              <a:solidFill>
                <a:schemeClr val="bg1"/>
              </a:solidFill>
            </a:endParaRPr>
          </a:p>
        </p:txBody>
      </p:sp>
      <p:sp>
        <p:nvSpPr>
          <p:cNvPr id="9" name="Shape 7"/>
          <p:cNvSpPr/>
          <p:nvPr/>
        </p:nvSpPr>
        <p:spPr>
          <a:xfrm>
            <a:off x="8138160" y="1417320"/>
            <a:ext cx="3566160" cy="4321006"/>
          </a:xfrm>
          <a:prstGeom prst="roundRect">
            <a:avLst>
              <a:gd name="adj" fmla="val 2078"/>
            </a:avLst>
          </a:prstGeom>
          <a:solidFill>
            <a:srgbClr val="F4F6FB"/>
          </a:solidFill>
          <a:ln/>
        </p:spPr>
        <p:txBody>
          <a:bodyPr/>
          <a:lstStyle/>
          <a:p>
            <a:endParaRPr lang="en-US"/>
          </a:p>
        </p:txBody>
      </p:sp>
      <p:sp>
        <p:nvSpPr>
          <p:cNvPr id="10" name="Text 8"/>
          <p:cNvSpPr/>
          <p:nvPr/>
        </p:nvSpPr>
        <p:spPr>
          <a:xfrm>
            <a:off x="8394192" y="1645920"/>
            <a:ext cx="3054096" cy="365760"/>
          </a:xfrm>
          <a:prstGeom prst="rect">
            <a:avLst/>
          </a:prstGeom>
          <a:noFill/>
          <a:ln/>
        </p:spPr>
        <p:txBody>
          <a:bodyPr wrap="square" rtlCol="0" anchor="ctr"/>
          <a:lstStyle/>
          <a:p>
            <a:pPr marL="0" indent="0">
              <a:buNone/>
            </a:pPr>
            <a:r>
              <a:rPr lang="en-US" sz="1300" b="1" kern="0" spc="100" dirty="0">
                <a:solidFill>
                  <a:srgbClr val="1E2761"/>
                </a:solidFill>
                <a:latin typeface="Calibri" pitchFamily="34" charset="0"/>
                <a:ea typeface="Calibri" pitchFamily="34" charset="-122"/>
                <a:cs typeface="Calibri" pitchFamily="34" charset="-120"/>
              </a:rPr>
              <a:t>EVALUATION</a:t>
            </a:r>
            <a:endParaRPr lang="en-US" sz="1300" dirty="0"/>
          </a:p>
        </p:txBody>
      </p:sp>
      <p:sp>
        <p:nvSpPr>
          <p:cNvPr id="11" name="Text 9"/>
          <p:cNvSpPr/>
          <p:nvPr/>
        </p:nvSpPr>
        <p:spPr>
          <a:xfrm>
            <a:off x="8394192" y="2103120"/>
            <a:ext cx="3054096" cy="2743200"/>
          </a:xfrm>
          <a:prstGeom prst="rect">
            <a:avLst/>
          </a:prstGeom>
          <a:noFill/>
          <a:ln/>
        </p:spPr>
        <p:txBody>
          <a:bodyPr wrap="square" rtlCol="0" anchor="t"/>
          <a:lstStyle/>
          <a:p>
            <a:pPr marL="342900" indent="-342900">
              <a:lnSpc>
                <a:spcPct val="115000"/>
              </a:lnSpc>
              <a:spcAft>
                <a:spcPts val="1000"/>
              </a:spcAft>
              <a:buSzPct val="100000"/>
              <a:buChar char="•"/>
            </a:pPr>
            <a:r>
              <a:rPr lang="en-US" sz="1250" dirty="0">
                <a:solidFill>
                  <a:srgbClr val="3C4A6B"/>
                </a:solidFill>
                <a:latin typeface="Calibri" pitchFamily="34" charset="0"/>
                <a:ea typeface="Calibri" pitchFamily="34" charset="-122"/>
                <a:cs typeface="Calibri" pitchFamily="34" charset="-120"/>
              </a:rPr>
              <a:t>Accuracy, Precision, Recall</a:t>
            </a:r>
            <a:endParaRPr lang="en-US" sz="1250" dirty="0"/>
          </a:p>
          <a:p>
            <a:pPr marL="342900" indent="-342900">
              <a:lnSpc>
                <a:spcPct val="115000"/>
              </a:lnSpc>
              <a:spcAft>
                <a:spcPts val="1000"/>
              </a:spcAft>
              <a:buSzPct val="100000"/>
              <a:buChar char="•"/>
            </a:pPr>
            <a:r>
              <a:rPr lang="en-US" sz="1250" dirty="0">
                <a:solidFill>
                  <a:srgbClr val="3C4A6B"/>
                </a:solidFill>
                <a:latin typeface="Calibri" pitchFamily="34" charset="0"/>
                <a:ea typeface="Calibri" pitchFamily="34" charset="-122"/>
                <a:cs typeface="Calibri" pitchFamily="34" charset="-120"/>
              </a:rPr>
              <a:t>F1-score (primary, imbalance-aware)</a:t>
            </a:r>
            <a:endParaRPr lang="en-US" sz="1250" dirty="0"/>
          </a:p>
          <a:p>
            <a:pPr marL="342900" indent="-342900">
              <a:lnSpc>
                <a:spcPct val="115000"/>
              </a:lnSpc>
              <a:spcAft>
                <a:spcPts val="1000"/>
              </a:spcAft>
              <a:buSzPct val="100000"/>
              <a:buChar char="•"/>
            </a:pPr>
            <a:r>
              <a:rPr lang="en-US" sz="1250" dirty="0">
                <a:solidFill>
                  <a:srgbClr val="3C4A6B"/>
                </a:solidFill>
                <a:latin typeface="Calibri" pitchFamily="34" charset="0"/>
                <a:ea typeface="Calibri" pitchFamily="34" charset="-122"/>
                <a:cs typeface="Calibri" pitchFamily="34" charset="-120"/>
              </a:rPr>
              <a:t>ROC-AUC</a:t>
            </a:r>
            <a:endParaRPr lang="en-US" sz="1250" dirty="0"/>
          </a:p>
          <a:p>
            <a:pPr marL="342900" indent="-342900">
              <a:lnSpc>
                <a:spcPct val="115000"/>
              </a:lnSpc>
              <a:spcAft>
                <a:spcPts val="1000"/>
              </a:spcAft>
              <a:buSzPct val="100000"/>
              <a:buChar char="•"/>
            </a:pPr>
            <a:r>
              <a:rPr lang="en-US" sz="1250" dirty="0">
                <a:solidFill>
                  <a:srgbClr val="3C4A6B"/>
                </a:solidFill>
                <a:latin typeface="Calibri" pitchFamily="34" charset="0"/>
                <a:ea typeface="Calibri" pitchFamily="34" charset="-122"/>
                <a:cs typeface="Calibri" pitchFamily="34" charset="-120"/>
              </a:rPr>
              <a:t>Best model chosen on F1 / ROC-AUC</a:t>
            </a:r>
            <a:endParaRPr lang="en-US" sz="1250" dirty="0"/>
          </a:p>
        </p:txBody>
      </p:sp>
      <p:sp>
        <p:nvSpPr>
          <p:cNvPr id="14" name="Text 1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Model Strengths &amp; Limitations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617720"/>
        </p:xfrm>
        <a:graphic>
          <a:graphicData uri="http://schemas.openxmlformats.org/drawingml/2006/table">
            <a:tbl>
              <a:tblPr/>
              <a:tblGrid>
                <a:gridCol w="24688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943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005840">
                <a:tc>
                  <a:txBody>
                    <a:bodyPr/>
                    <a:lstStyle/>
                    <a:p>
                      <a:pPr marL="0" indent="0">
                        <a:buNone/>
                      </a:pPr>
                      <a:r>
                        <a:rPr lang="en-US" sz="1400" b="1" dirty="0">
                          <a:solidFill>
                            <a:srgbClr val="1E2761"/>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Fast, interpretable, solid baseline for a linear relationship</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May underfit non-linear interactions between features</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extLst>
                  <a:ext uri="{0D108BD9-81ED-4DB2-BD59-A6C34878D82A}">
                    <a16:rowId xmlns:a16="http://schemas.microsoft.com/office/drawing/2014/main" val="10001"/>
                  </a:ext>
                </a:extLst>
              </a:tr>
              <a:tr h="1005840">
                <a:tc>
                  <a:txBody>
                    <a:bodyPr/>
                    <a:lstStyle/>
                    <a:p>
                      <a:pPr marL="0" indent="0">
                        <a:buNone/>
                      </a:pPr>
                      <a:r>
                        <a:rPr lang="en-US" sz="1400" b="1" dirty="0">
                          <a:solidFill>
                            <a:srgbClr val="1E2761"/>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Captures non-linear rules (e.g. education + hours thresholds)</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Prone to overfitting; can memorize training data</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extLst>
                  <a:ext uri="{0D108BD9-81ED-4DB2-BD59-A6C34878D82A}">
                    <a16:rowId xmlns:a16="http://schemas.microsoft.com/office/drawing/2014/main" val="10002"/>
                  </a:ext>
                </a:extLst>
              </a:tr>
              <a:tr h="1005840">
                <a:tc>
                  <a:txBody>
                    <a:bodyPr/>
                    <a:lstStyle/>
                    <a:p>
                      <a:pPr marL="0" indent="0">
                        <a:buNone/>
                      </a:pPr>
                      <a:r>
                        <a:rPr lang="en-US" sz="1400" b="1" dirty="0">
                          <a:solidFill>
                            <a:srgbClr val="1E2761"/>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Combines many trees; reduces overfitting &amp; variance</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Less interpretable; heavier to compute than a single tree</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extLst>
                  <a:ext uri="{0D108BD9-81ED-4DB2-BD59-A6C34878D82A}">
                    <a16:rowId xmlns:a16="http://schemas.microsoft.com/office/drawing/2014/main" val="10003"/>
                  </a:ext>
                </a:extLst>
              </a:tr>
              <a:tr h="1005840">
                <a:tc>
                  <a:txBody>
                    <a:bodyPr/>
                    <a:lstStyle/>
                    <a:p>
                      <a:pPr marL="0" indent="0">
                        <a:buNone/>
                      </a:pPr>
                      <a:r>
                        <a:rPr lang="en-US" sz="1400" b="1" dirty="0">
                          <a:solidFill>
                            <a:srgbClr val="1E2761"/>
                          </a:solidFill>
                          <a:latin typeface="Calibri" pitchFamily="34" charset="0"/>
                          <a:ea typeface="Calibri" pitchFamily="34" charset="-122"/>
                          <a:cs typeface="Calibri" pitchFamily="34" charset="-120"/>
                        </a:rPr>
                        <a:t>Gradient Boosting</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Sequentially corrects errors; typically best raw performance</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marL="0" indent="0">
                        <a:buNone/>
                      </a:pPr>
                      <a:r>
                        <a:rPr lang="en-US" sz="1400" dirty="0">
                          <a:solidFill>
                            <a:srgbClr val="3C4A6B"/>
                          </a:solidFill>
                          <a:latin typeface="Calibri" pitchFamily="34" charset="0"/>
                          <a:ea typeface="Calibri" pitchFamily="34" charset="-122"/>
                          <a:cs typeface="Calibri" pitchFamily="34" charset="-120"/>
                        </a:rPr>
                        <a:t>Needs careful tuning; slower to train, easier to overfit</a:t>
                      </a:r>
                      <a:endParaRPr lang="en-US" sz="1400" dirty="0">
                        <a:latin typeface="Calibri" charset="0"/>
                        <a:ea typeface="Calibri" charset="0"/>
                        <a:cs typeface="Calibri" charset="0"/>
                      </a:endParaRPr>
                    </a:p>
                  </a:txBody>
                  <a:tcPr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2"/>
                </a:solidFill>
                <a:latin typeface="Calibri" pitchFamily="34" charset="0"/>
                <a:ea typeface="Calibri" pitchFamily="34" charset="-122"/>
                <a:cs typeface="Calibri" pitchFamily="34" charset="-120"/>
              </a:rPr>
              <a:t>Adult Income Prediction • Lightning Talk #2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Progress Report</a:t>
            </a:r>
            <a:endParaRPr lang="en-US" sz="3000" dirty="0"/>
          </a:p>
        </p:txBody>
      </p:sp>
      <p:sp>
        <p:nvSpPr>
          <p:cNvPr id="3" name="Shape 1"/>
          <p:cNvSpPr/>
          <p:nvPr/>
        </p:nvSpPr>
        <p:spPr>
          <a:xfrm>
            <a:off x="548640" y="1280158"/>
            <a:ext cx="5394960" cy="5129971"/>
          </a:xfrm>
          <a:prstGeom prst="roundRect">
            <a:avLst>
              <a:gd name="adj" fmla="val 1702"/>
            </a:avLst>
          </a:prstGeom>
          <a:solidFill>
            <a:srgbClr val="3C4A6B"/>
          </a:solidFill>
          <a:ln/>
        </p:spPr>
        <p:txBody>
          <a:bodyPr/>
          <a:lstStyle/>
          <a:p>
            <a:endParaRPr lang="en-US"/>
          </a:p>
        </p:txBody>
      </p:sp>
      <p:sp>
        <p:nvSpPr>
          <p:cNvPr id="4" name="Text 2"/>
          <p:cNvSpPr/>
          <p:nvPr/>
        </p:nvSpPr>
        <p:spPr>
          <a:xfrm>
            <a:off x="868680" y="1508760"/>
            <a:ext cx="4572000" cy="320040"/>
          </a:xfrm>
          <a:prstGeom prst="rect">
            <a:avLst/>
          </a:prstGeom>
          <a:noFill/>
          <a:ln/>
        </p:spPr>
        <p:txBody>
          <a:bodyPr wrap="square" rtlCol="0" anchor="ctr"/>
          <a:lstStyle/>
          <a:p>
            <a:pPr marL="0" indent="0">
              <a:buNone/>
            </a:pPr>
            <a:r>
              <a:rPr lang="en-US" b="1" kern="0" spc="100" dirty="0">
                <a:solidFill>
                  <a:srgbClr val="6FE3A6"/>
                </a:solidFill>
                <a:latin typeface="Calibri" pitchFamily="34" charset="0"/>
                <a:ea typeface="Calibri" pitchFamily="34" charset="-122"/>
                <a:cs typeface="Calibri" pitchFamily="34" charset="-120"/>
              </a:rPr>
              <a:t>DONE</a:t>
            </a:r>
            <a:endParaRPr lang="en-US" sz="1300" dirty="0"/>
          </a:p>
        </p:txBody>
      </p:sp>
      <p:sp>
        <p:nvSpPr>
          <p:cNvPr id="5" name="Text 3"/>
          <p:cNvSpPr/>
          <p:nvPr/>
        </p:nvSpPr>
        <p:spPr>
          <a:xfrm>
            <a:off x="868680" y="1874520"/>
            <a:ext cx="4846320" cy="3566160"/>
          </a:xfrm>
          <a:prstGeom prst="rect">
            <a:avLst/>
          </a:prstGeom>
          <a:noFill/>
          <a:ln/>
        </p:spPr>
        <p:txBody>
          <a:bodyPr wrap="square" rtlCol="0" anchor="t"/>
          <a:lstStyle/>
          <a:p>
            <a:pPr marL="285750" lvl="0" indent="-285750">
              <a:buFont typeface="Arial" panose="020B0604020202020204" pitchFamily="34" charset="0"/>
              <a:buChar char="•"/>
            </a:pPr>
            <a:r>
              <a:rPr lang="en-US" sz="1400" dirty="0">
                <a:solidFill>
                  <a:schemeClr val="bg1"/>
                </a:solidFill>
              </a:rPr>
              <a:t>Data cleaning completed. </a:t>
            </a:r>
          </a:p>
          <a:p>
            <a:pPr lvl="0"/>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Missing values handled.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Duplicate records removed.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EDA completed.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Modeling plan defined.</a:t>
            </a:r>
          </a:p>
          <a:p>
            <a:endParaRPr lang="en-US" sz="1400" dirty="0"/>
          </a:p>
          <a:p>
            <a:r>
              <a:rPr lang="en-US" b="1" dirty="0">
                <a:solidFill>
                  <a:srgbClr val="FFFF00"/>
                </a:solidFill>
              </a:rPr>
              <a:t>Challenges</a:t>
            </a:r>
          </a:p>
          <a:p>
            <a:endParaRPr lang="en-US" sz="2000" b="1" dirty="0">
              <a:solidFill>
                <a:srgbClr val="FFFF00"/>
              </a:solidFill>
            </a:endParaRPr>
          </a:p>
          <a:p>
            <a:pPr marL="285750" lvl="0" indent="-285750">
              <a:buFont typeface="Arial" panose="020B0604020202020204" pitchFamily="34" charset="0"/>
              <a:buChar char="•"/>
            </a:pPr>
            <a:r>
              <a:rPr lang="en-US" sz="1400" dirty="0">
                <a:solidFill>
                  <a:schemeClr val="bg1"/>
                </a:solidFill>
              </a:rPr>
              <a:t>Class imbalance. </a:t>
            </a:r>
          </a:p>
          <a:p>
            <a:pPr marL="285750" lvl="0" indent="-285750">
              <a:buFont typeface="Arial" panose="020B0604020202020204" pitchFamily="34" charset="0"/>
              <a:buChar char="•"/>
            </a:pPr>
            <a:r>
              <a:rPr lang="en-US" sz="1400" dirty="0">
                <a:solidFill>
                  <a:schemeClr val="bg1"/>
                </a:solidFill>
              </a:rPr>
              <a:t>Sensitive demographic variables. </a:t>
            </a:r>
          </a:p>
          <a:p>
            <a:pPr marL="285750" lvl="0" indent="-285750">
              <a:buFont typeface="Arial" panose="020B0604020202020204" pitchFamily="34" charset="0"/>
              <a:buChar char="•"/>
            </a:pPr>
            <a:r>
              <a:rPr lang="en-US" sz="1400" dirty="0">
                <a:solidFill>
                  <a:schemeClr val="bg1"/>
                </a:solidFill>
              </a:rPr>
              <a:t>Dataset represents a specific population/time period.</a:t>
            </a:r>
          </a:p>
          <a:p>
            <a:pPr marL="285750" lvl="0" indent="-285750">
              <a:buFont typeface="Arial" panose="020B0604020202020204" pitchFamily="34" charset="0"/>
              <a:buChar char="•"/>
            </a:pPr>
            <a:r>
              <a:rPr lang="en-US" sz="1400" dirty="0">
                <a:solidFill>
                  <a:schemeClr val="bg1"/>
                </a:solidFill>
              </a:rPr>
              <a:t>Feature redundancy: education vs </a:t>
            </a:r>
            <a:r>
              <a:rPr lang="en-US" sz="1400" dirty="0" err="1">
                <a:solidFill>
                  <a:schemeClr val="bg1"/>
                </a:solidFill>
              </a:rPr>
              <a:t>education.num</a:t>
            </a:r>
            <a:endParaRPr lang="ar-BH" sz="1400" dirty="0">
              <a:solidFill>
                <a:schemeClr val="bg1"/>
              </a:solidFill>
            </a:endParaRPr>
          </a:p>
          <a:p>
            <a:pPr lvl="0"/>
            <a:r>
              <a:rPr lang="en-US" sz="1400" dirty="0">
                <a:solidFill>
                  <a:schemeClr val="bg1"/>
                </a:solidFill>
              </a:rPr>
              <a:t>•</a:t>
            </a:r>
            <a:r>
              <a:rPr lang="ar-BH" sz="1400" dirty="0">
                <a:solidFill>
                  <a:schemeClr val="bg1"/>
                </a:solidFill>
              </a:rPr>
              <a:t>   </a:t>
            </a:r>
            <a:r>
              <a:rPr lang="en-US" sz="1400" dirty="0">
                <a:solidFill>
                  <a:schemeClr val="bg1"/>
                </a:solidFill>
              </a:rPr>
              <a:t> Potential bias from demographic variables.</a:t>
            </a:r>
          </a:p>
          <a:p>
            <a:pPr lvl="0"/>
            <a:r>
              <a:rPr lang="en-US" sz="1400" dirty="0">
                <a:solidFill>
                  <a:schemeClr val="bg1"/>
                </a:solidFill>
              </a:rPr>
              <a:t>• </a:t>
            </a:r>
            <a:r>
              <a:rPr lang="ar-BH" sz="1400" dirty="0">
                <a:solidFill>
                  <a:schemeClr val="bg1"/>
                </a:solidFill>
              </a:rPr>
              <a:t>   </a:t>
            </a:r>
            <a:r>
              <a:rPr lang="en-US" sz="1400" dirty="0">
                <a:solidFill>
                  <a:schemeClr val="bg1"/>
                </a:solidFill>
              </a:rPr>
              <a:t>Dataset may not generalize to different populations.</a:t>
            </a:r>
          </a:p>
          <a:p>
            <a:pPr lvl="0"/>
            <a:endParaRPr lang="en-US" sz="1400" dirty="0"/>
          </a:p>
        </p:txBody>
      </p:sp>
      <p:sp>
        <p:nvSpPr>
          <p:cNvPr id="6" name="Shape 4"/>
          <p:cNvSpPr/>
          <p:nvPr/>
        </p:nvSpPr>
        <p:spPr>
          <a:xfrm>
            <a:off x="6217920" y="1280160"/>
            <a:ext cx="5394960" cy="5129970"/>
          </a:xfrm>
          <a:prstGeom prst="roundRect">
            <a:avLst>
              <a:gd name="adj" fmla="val 1702"/>
            </a:avLst>
          </a:prstGeom>
          <a:solidFill>
            <a:srgbClr val="D9A441"/>
          </a:solidFill>
          <a:ln/>
        </p:spPr>
        <p:txBody>
          <a:bodyPr/>
          <a:lstStyle/>
          <a:p>
            <a:endParaRPr lang="en-US"/>
          </a:p>
        </p:txBody>
      </p:sp>
      <p:sp>
        <p:nvSpPr>
          <p:cNvPr id="7" name="Text 5"/>
          <p:cNvSpPr/>
          <p:nvPr/>
        </p:nvSpPr>
        <p:spPr>
          <a:xfrm>
            <a:off x="6537960" y="1508760"/>
            <a:ext cx="4572000" cy="320040"/>
          </a:xfrm>
          <a:prstGeom prst="rect">
            <a:avLst/>
          </a:prstGeom>
          <a:noFill/>
          <a:ln/>
        </p:spPr>
        <p:txBody>
          <a:bodyPr wrap="square" rtlCol="0" anchor="ctr"/>
          <a:lstStyle/>
          <a:p>
            <a:pPr marL="0" indent="0">
              <a:buNone/>
            </a:pPr>
            <a:r>
              <a:rPr lang="en-US" b="1" kern="0" spc="100" dirty="0">
                <a:solidFill>
                  <a:srgbClr val="1E2761"/>
                </a:solidFill>
                <a:latin typeface="Calibri" pitchFamily="34" charset="0"/>
                <a:ea typeface="Calibri" pitchFamily="34" charset="-122"/>
                <a:cs typeface="Calibri" pitchFamily="34" charset="-120"/>
              </a:rPr>
              <a:t>NEXT STEPS</a:t>
            </a:r>
            <a:endParaRPr lang="en-US" dirty="0"/>
          </a:p>
        </p:txBody>
      </p:sp>
      <p:sp>
        <p:nvSpPr>
          <p:cNvPr id="8" name="Text 6"/>
          <p:cNvSpPr/>
          <p:nvPr/>
        </p:nvSpPr>
        <p:spPr>
          <a:xfrm>
            <a:off x="6537960" y="1874520"/>
            <a:ext cx="4846320" cy="3566160"/>
          </a:xfrm>
          <a:prstGeom prst="rect">
            <a:avLst/>
          </a:prstGeom>
          <a:noFill/>
          <a:ln/>
        </p:spPr>
        <p:txBody>
          <a:bodyPr wrap="square" rtlCol="0" anchor="t"/>
          <a:lstStyle/>
          <a:p>
            <a:pPr marL="285750" lvl="0" indent="-285750">
              <a:buFont typeface="Arial" panose="020B0604020202020204" pitchFamily="34" charset="0"/>
              <a:buChar char="•"/>
            </a:pPr>
            <a:r>
              <a:rPr lang="en-US" sz="1400" dirty="0">
                <a:solidFill>
                  <a:schemeClr val="bg1"/>
                </a:solidFill>
              </a:rPr>
              <a:t>Build preprocessing pipeline.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Train 4 candidate models.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Apply cross-validation.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Tune hyperparameters. </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Compare F1-score and ROC-AUC.</a:t>
            </a: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dirty="0">
                <a:solidFill>
                  <a:schemeClr val="bg1"/>
                </a:solidFill>
              </a:rPr>
              <a:t>Select final model. </a:t>
            </a:r>
          </a:p>
        </p:txBody>
      </p:sp>
      <p:sp>
        <p:nvSpPr>
          <p:cNvPr id="9" name="Text 7"/>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891B5"/>
                </a:solidFill>
                <a:latin typeface="Calibri" pitchFamily="34" charset="0"/>
                <a:ea typeface="Calibri" pitchFamily="34" charset="-122"/>
                <a:cs typeface="Calibri" pitchFamily="34" charset="-120"/>
              </a:rPr>
              <a:t>Adult Income Prediction • Lightning Talk #2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TotalTime>
  <Words>1035</Words>
  <Application>Microsoft Office PowerPoint</Application>
  <PresentationFormat>Widescreen</PresentationFormat>
  <Paragraphs>178</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Hussain</cp:lastModifiedBy>
  <cp:revision>3</cp:revision>
  <dcterms:created xsi:type="dcterms:W3CDTF">2026-08-18T11:43:13Z</dcterms:created>
  <dcterms:modified xsi:type="dcterms:W3CDTF">2026-08-18T23:04:16Z</dcterms:modified>
</cp:coreProperties>
</file>